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exora" id="{ae518130-2cfa-2949-6441-93c38191a902}">
          <p14:sldIdLst>
            <p14:sldId id="256"/>
          </p14:sldIdLst>
        </p14:section>
        <p14:section name="Le constat" id="{9657c638-de35-12f5-b5fe-104774161fb0}">
          <p14:sldIdLst>
            <p14:sldId id="257"/>
          </p14:sldIdLst>
        </p14:section>
        <p14:section name="L'agence" id="{eac0c72c-8707-c28f-bd24-a255c216d58f}">
          <p14:sldIdLst>
            <p14:sldId id="258"/>
          </p14:sldIdLst>
        </p14:section>
        <p14:section name="Les offres" id="{488518f9-36fd-be49-b6df-058242ae2b95}">
          <p14:sldIdLst>
            <p14:sldId id="259"/>
          </p14:sldIdLst>
        </p14:section>
        <p14:section name="Pourquoi Nexora" id="{fa33dc26-0b26-e2b7-614d-836b22b21d51}">
          <p14:sldIdLst>
            <p14:sldId id="260"/>
          </p14:sldIdLst>
        </p14:section>
        <p14:section name="La méthode" id="{a3ce00a3-3577-5508-ba66-6effc720a22a}">
          <p14:sldIdLst>
            <p14:sldId id="261"/>
          </p14:sldIdLst>
        </p14:section>
        <p14:section name="En chiffres" id="{6aa2271d-01f0-9844-ad1d-970be41a2017}">
          <p14:sldIdLst>
            <p14:sldId id="262"/>
          </p14:sldIdLst>
        </p14:section>
        <p14:section name="Visibilité" id="{c6a5cec7-4b83-7424-681e-f29099482ca9}">
          <p14:sldIdLst>
            <p14:sldId id="263"/>
          </p14:sldIdLst>
        </p14:section>
        <p14:section name="Suivi" id="{93cda542-135f-2f55-10f3-6830eb03402d}">
          <p14:sldIdLst>
            <p14:sldId id="264"/>
          </p14:sldIdLst>
        </p14:section>
        <p14:section name="Démos" id="{e3fff7c0-b702-5b9e-0cb9-74ebc993a2d5}">
          <p14:sldIdLst>
            <p14:sldId id="265"/>
          </p14:sldIdLst>
        </p14:section>
        <p14:section name="Contact" id="{f78741cc-d740-6fe1-1257-a53e2353d3f9}">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Nexora Web : un studio de création de sites web basé à Chambéry, pour les artisans et commerces de Savoie. Le N doré à droite est notre logo : un seul trait, un N et une crête de montagne.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qu'on règle : beaucoup de commerces de Savoie font un travail remarquable, mais leur site est daté, illisible sur mobile ou introuvable. À droite, ce vieux site explose en morceaux.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 on est : un studio local, à Chambéry. Un seul interlocuteur, pas de sous-traitance cachée, et un vocabulaire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formules. Essentiel dès 400 euros pour un site vitrine. Boutique pour vendre en ligne. Signature pour un site sur mesure avec du motion design, comme les animations de cette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six raisons de nous choisir : la rapidité, la transparence sur les prix, la proximité, le mobile d'abord, le motion design et le suivi.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en quatre étapes : un appel, une maquette au troisième jour, la création, puis la mise en ligne au bout de deux semaines maximum. Le cadre de la slide précédente s'est transformé en ligne du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chiffres à retenir : en ligne en 14 jours maximum, à partir de 400 euros, et un seul interlocuteur.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visibilité : un site bien fait est relié à la fiche Google, utilise les mots que les clients tapent vraiment, et met le bouton d'appel en évidence.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Pack Suivi : un abonnement mensuel. Le client envoie un message pour changer un texte, une photo ou ses horaires, et c'est fait.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démos : une boulangerie, un restaurant à Aix-les-Bains et un salon de coiffure avec prise de rendez-vous. Ce sont des commerces fictifs créés pour montrer le savoir-faire.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on propose un devis gratuit, par message sur Instagram ou via le site nexora-web.fr.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NX_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NX_COV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X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32688" y="6263640"/>
            <a:ext cx="2286000" cy="274320"/>
          </a:xfrm>
          <a:prstGeom prst="rect">
            <a:avLst/>
          </a:prstGeom>
          <a:noFill/>
          <a:ln/>
        </p:spPr>
        <p:txBody>
          <a:bodyPr wrap="square" lIns="0" tIns="0" rIns="0" bIns="0" rtlCol="0" anchor="ctr"/>
          <a:lstStyle/>
          <a:p>
            <a:pPr indent="0" marL="0">
              <a:buNone/>
            </a:pPr>
            <a:r>
              <a:rPr lang="en-US" sz="1000" spc="400" kern="0" dirty="0">
                <a:solidFill>
                  <a:schemeClr val="accent1"/>
                </a:solidFill>
                <a:latin typeface="Arial Black" pitchFamily="34" charset="0"/>
                <a:ea typeface="Arial Black" pitchFamily="34" charset="-122"/>
                <a:cs typeface="Arial Black" pitchFamily="34" charset="-120"/>
              </a:rPr>
              <a:t>NEXORA</a:t>
            </a:r>
            <a:endParaRPr lang="en-US" sz="1000" dirty="0"/>
          </a:p>
        </p:txBody>
      </p:sp>
      <p:sp>
        <p:nvSpPr>
          <p:cNvPr id="3" name="Text 1"/>
          <p:cNvSpPr/>
          <p:nvPr/>
        </p:nvSpPr>
        <p:spPr>
          <a:xfrm>
            <a:off x="2926080" y="6263640"/>
            <a:ext cx="274320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nexora-web.fr</a:t>
            </a:r>
            <a:endParaRPr lang="en-US" sz="1000" dirty="0"/>
          </a:p>
        </p:txBody>
      </p:sp>
      <p:sp>
        <p:nvSpPr>
          <p:cNvPr id="4" name="Text 2"/>
          <p:cNvSpPr/>
          <p:nvPr>
            <p:ph idx="102" type="title" hasCustomPrompt="1"/>
          </p:nvPr>
        </p:nvSpPr>
        <p:spPr>
          <a:xfrm>
            <a:off x="548640" y="685800"/>
            <a:ext cx="6949440" cy="1463040"/>
          </a:xfrm>
          <a:prstGeom prst="rect">
            <a:avLst/>
          </a:prstGeom>
          <a:noFill/>
          <a:ln/>
        </p:spPr>
        <p:txBody>
          <a:bodyPr wrap="square" rtlCol="0"/>
          <a:lstStyle>
            <a:lvl1pPr algn="l" indent="0" marL="0">
              <a:buNone/>
              <a:defRPr lang="en-US" sz="3400" b="1" dirty="0">
                <a:solidFill>
                  <a:schemeClr val="bg1"/>
                </a:solidFill>
                <a:latin typeface="Arial Black" pitchFamily="34" charset="0"/>
                <a:ea typeface="Arial Black" pitchFamily="34" charset="-122"/>
                <a:cs typeface="Arial Black"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X_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1.mp4"/><Relationship Id="rId2" Type="http://schemas.microsoft.com/office/2007/relationships/media" Target="../media/media-11-1.mp4"/><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1"/>
          <p:cNvSpPr/>
          <p:nvPr/>
        </p:nvSpPr>
        <p:spPr>
          <a:xfrm>
            <a:off x="6583680" y="-1097280"/>
            <a:ext cx="6400800" cy="6400800"/>
          </a:xfrm>
          <a:prstGeom prst="ellipse">
            <a:avLst/>
          </a:prstGeom>
          <a:solidFill>
            <a:schemeClr val="accent1">
              <a:alpha val="6000"/>
            </a:schemeClr>
          </a:solidFill>
          <a:ln/>
        </p:spPr>
      </p:sp>
      <p:sp>
        <p:nvSpPr>
          <p:cNvPr id="3" name="!!glow2"/>
          <p:cNvSpPr/>
          <p:nvPr/>
        </p:nvSpPr>
        <p:spPr>
          <a:xfrm>
            <a:off x="-1828800" y="4114800"/>
            <a:ext cx="5486400" cy="54864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40080"/>
            <a:ext cx="822960" cy="822960"/>
          </a:xfrm>
          <a:prstGeom prst="rect">
            <a:avLst/>
          </a:prstGeom>
        </p:spPr>
      </p:pic>
      <p:sp>
        <p:nvSpPr>
          <p:cNvPr id="7" name="Kicker"/>
          <p:cNvSpPr txBox="1"/>
          <p:nvPr/>
        </p:nvSpPr>
        <p:spPr>
          <a:xfrm>
            <a:off x="548640" y="187452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CRÉATION DE SITES WEB · CHAMBÉRY · SAVOIE</a:t>
            </a:r>
            <a:endParaRPr lang="en-US" sz="1200" dirty="0"/>
          </a:p>
        </p:txBody>
      </p:sp>
      <p:sp>
        <p:nvSpPr>
          <p:cNvPr id="8" name="Titre"/>
          <p:cNvSpPr txBox="1"/>
          <p:nvPr/>
        </p:nvSpPr>
        <p:spPr>
          <a:xfrm>
            <a:off x="548640" y="2240280"/>
            <a:ext cx="7132320" cy="1371600"/>
          </a:xfrm>
          <a:prstGeom prst="rect">
            <a:avLst/>
          </a:prstGeom>
          <a:noFill/>
          <a:ln/>
        </p:spPr>
        <p:txBody>
          <a:bodyPr wrap="square" lIns="0" tIns="0" rIns="0" bIns="0" rtlCol="0" anchor="ctr"/>
          <a:lstStyle/>
          <a:p>
            <a:pPr indent="0" marL="0">
              <a:buNone/>
            </a:pPr>
            <a:r>
              <a:rPr lang="en-US" sz="6600" dirty="0">
                <a:solidFill>
                  <a:schemeClr val="bg1"/>
                </a:solidFill>
                <a:latin typeface="Arial Black" pitchFamily="34" charset="0"/>
                <a:ea typeface="Arial Black" pitchFamily="34" charset="-122"/>
                <a:cs typeface="Arial Black" pitchFamily="34" charset="-120"/>
              </a:rPr>
              <a:t>Nexora Web</a:t>
            </a:r>
            <a:endParaRPr lang="en-US" sz="6600" dirty="0"/>
          </a:p>
        </p:txBody>
      </p:sp>
      <p:sp>
        <p:nvSpPr>
          <p:cNvPr id="9" name="Accroche"/>
          <p:cNvSpPr txBox="1"/>
          <p:nvPr/>
        </p:nvSpPr>
        <p:spPr>
          <a:xfrm>
            <a:off x="548640" y="3703320"/>
            <a:ext cx="6766560" cy="914400"/>
          </a:xfrm>
          <a:prstGeom prst="rect">
            <a:avLst/>
          </a:prstGeom>
          <a:noFill/>
          <a:ln/>
        </p:spPr>
        <p:txBody>
          <a:bodyPr wrap="square" lIns="0" tIns="0" rIns="0" bIns="0" rtlCol="0" anchor="t"/>
          <a:lstStyle/>
          <a:p>
            <a:pPr indent="0" marL="0">
              <a:buNone/>
            </a:pPr>
            <a:r>
              <a:rPr lang="en-US" sz="2400" b="1" dirty="0">
                <a:solidFill>
                  <a:schemeClr val="bg1"/>
                </a:solidFill>
                <a:latin typeface="Arial" pitchFamily="34" charset="0"/>
                <a:ea typeface="Arial" pitchFamily="34" charset="-122"/>
                <a:cs typeface="Arial" pitchFamily="34" charset="-120"/>
              </a:rPr>
              <a:t>Des sites qui font venir des clients. </a:t>
            </a:r>
            <a:pPr indent="0" marL="0">
              <a:buNone/>
            </a:pPr>
            <a:r>
              <a:rPr lang="en-US" sz="2400" b="1" dirty="0">
                <a:solidFill>
                  <a:schemeClr val="accent1"/>
                </a:solidFill>
                <a:latin typeface="Arial" pitchFamily="34" charset="0"/>
                <a:ea typeface="Arial" pitchFamily="34" charset="-122"/>
                <a:cs typeface="Arial" pitchFamily="34" charset="-120"/>
              </a:rPr>
              <a:t>Pour les pros de Savoie.</a:t>
            </a:r>
            <a:endParaRPr lang="en-US" sz="2400" dirty="0"/>
          </a:p>
        </p:txBody>
      </p:sp>
      <p:sp>
        <p:nvSpPr>
          <p:cNvPr id="10" name="Date"/>
          <p:cNvSpPr txBox="1"/>
          <p:nvPr/>
        </p:nvSpPr>
        <p:spPr>
          <a:xfrm>
            <a:off x="548640" y="6035040"/>
            <a:ext cx="5486400" cy="320040"/>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Présentation de l'agence · 2026</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9" fill="hold">
                            <p:stCondLst>
                              <p:cond delay="0"/>
                            </p:stCondLst>
                            <p:childTnLst>
                              <p:par>
                                <p:cTn id="3" presetID="1" presetClass="mediacall" presetSubtype="0" fill="hold" nodeType="withEffect">
                                  <p:stCondLst>
                                    <p:cond delay="0"/>
                                  </p:stCondLst>
                                  <p:childTnLst>
                                    <p:cmd type="call" cmd="playFrom(0.0)">
                                      <p:cBhvr>
                                        <p:cTn id="4" dur="4000" fill="hold"/>
                                        <p:tgtEl>
                                          <p:spTgt spid="3"/>
                                        </p:tgtEl>
                                      </p:cBhvr>
                                    </p:cmd>
                                  </p:childTnLst>
                                </p:cTn>
                              </p:par>
                              <p:par>
                                <p:cTn id="5" presetID="42" presetClass="entr" presetSubtype="0" fill="hold" grpId="0" nodeType="after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fill="hold" decel="100000"/>
                                        <p:tgtEl>
                                          <p:spTgt spid="7"/>
                                        </p:tgtEl>
                                        <p:attrNameLst>
                                          <p:attrName>ppt_y</p:attrName>
                                        </p:attrNameLst>
                                      </p:cBhvr>
                                      <p:tavLst>
                                        <p:tav tm="0">
                                          <p:val>
                                            <p:strVal val="#ppt_y+0.05"/>
                                          </p:val>
                                        </p:tav>
                                        <p:tav tm="100000">
                                          <p:val>
                                            <p:strVal val="#ppt_y"/>
                                          </p:val>
                                        </p:tav>
                                      </p:tavLst>
                                    </p:anim>
                                  </p:childTnLst>
                                </p:cTn>
                              </p:par>
                            </p:childTnLst>
                          </p:cTn>
                        </p:par>
                        <p:par>
                          <p:cTn id="15" fill="hold">
                            <p:stCondLst>
                              <p:cond delay="850"/>
                            </p:stCondLst>
                            <p:childTnLst>
                              <p:par>
                                <p:cTn id="10" presetID="53" presetClass="entr" presetSubtype="0" fill="hold" grpId="0" nodeType="afterEffect">
                                  <p:stCondLst>
                                    <p:cond delay="3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650"/>
                                        <p:tgtEl>
                                          <p:spTgt spid="8"/>
                                        </p:tgtEl>
                                      </p:cBhvr>
                                    </p:animEffect>
                                    <p:anim calcmode="lin" valueType="num">
                                      <p:cBhvr additive="base">
                                        <p:cTn id="13" dur="650" fill="hold" decel="100000"/>
                                        <p:tgtEl>
                                          <p:spTgt spid="8"/>
                                        </p:tgtEl>
                                        <p:attrNameLst>
                                          <p:attrName>ppt_w</p:attrName>
                                        </p:attrNameLst>
                                      </p:cBhvr>
                                      <p:tavLst>
                                        <p:tav tm="0">
                                          <p:val>
                                            <p:strVal val="#ppt_w*0.6"/>
                                          </p:val>
                                        </p:tav>
                                        <p:tav tm="100000">
                                          <p:val>
                                            <p:strVal val="#ppt_w"/>
                                          </p:val>
                                        </p:tav>
                                      </p:tavLst>
                                    </p:anim>
                                    <p:anim calcmode="lin" valueType="num">
                                      <p:cBhvr additive="base">
                                        <p:cTn id="14" dur="650" fill="hold" decel="100000"/>
                                        <p:tgtEl>
                                          <p:spTgt spid="8"/>
                                        </p:tgtEl>
                                        <p:attrNameLst>
                                          <p:attrName>ppt_h</p:attrName>
                                        </p:attrNameLst>
                                      </p:cBhvr>
                                      <p:tavLst>
                                        <p:tav tm="0">
                                          <p:val>
                                            <p:strVal val="#ppt_h*0.6"/>
                                          </p:val>
                                        </p:tav>
                                        <p:tav tm="100000">
                                          <p:val>
                                            <p:strVal val="#ppt_h"/>
                                          </p:val>
                                        </p:tav>
                                      </p:tavLst>
                                    </p:anim>
                                  </p:childTnLst>
                                </p:cTn>
                              </p:par>
                            </p:childTnLst>
                          </p:cTn>
                        </p:par>
                        <p:par>
                          <p:cTn id="20" fill="hold">
                            <p:stCondLst>
                              <p:cond delay="1800"/>
                            </p:stCondLst>
                            <p:childTnLst>
                              <p:par>
                                <p:cTn id="16" presetID="42" presetClass="entr" presetSubtype="0" fill="hold" grpId="0" nodeType="afterEffect">
                                  <p:stCondLst>
                                    <p:cond delay="30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50"/>
                                        <p:tgtEl>
                                          <p:spTgt spid="9"/>
                                        </p:tgtEl>
                                      </p:cBhvr>
                                    </p:animEffect>
                                    <p:anim calcmode="lin" valueType="num">
                                      <p:cBhvr additive="base">
                                        <p:cTn id="19" dur="650" fill="hold" decel="100000"/>
                                        <p:tgtEl>
                                          <p:spTgt spid="9"/>
                                        </p:tgtEl>
                                        <p:attrNameLst>
                                          <p:attrName>ppt_y</p:attrName>
                                        </p:attrNameLst>
                                      </p:cBhvr>
                                      <p:tavLst>
                                        <p:tav tm="0">
                                          <p:val>
                                            <p:strVal val="#ppt_y+0.05"/>
                                          </p:val>
                                        </p:tav>
                                        <p:tav tm="100000">
                                          <p:val>
                                            <p:strVal val="#ppt_y"/>
                                          </p:val>
                                        </p:tav>
                                      </p:tavLst>
                                    </p:anim>
                                  </p:childTnLst>
                                </p:cTn>
                              </p:par>
                            </p:childTnLst>
                          </p:cTn>
                        </p:par>
                        <p:par>
                          <p:cTn id="24" fill="hold">
                            <p:stCondLst>
                              <p:cond delay="2750"/>
                            </p:stCondLst>
                            <p:childTnLst>
                              <p:par>
                                <p:cTn id="21" presetID="10" presetClass="entr" presetSubtype="0" fill="hold" grpId="0" nodeType="afterEffect">
                                  <p:stCondLst>
                                    <p:cond delay="2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6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6" repeatCount="indefinite" fill="hold" display="0">
                  <p:stCondLst>
                    <p:cond delay="indefinite"/>
                  </p:stCondLst>
                </p:cTn>
                <p:tgtEl>
                  <p:spTgt spid="3"/>
                </p:tgtEl>
              </p:cMediaNode>
            </p:video>
          </p:childTnLst>
        </p:cTn>
      </p:par>
    </p:tnLst>
    <p:bldLst>
      <p:bldP spid="7" grpId="0" animBg="1"/>
      <p:bldP spid="8" grpId="0" animBg="1"/>
      <p:bldP spid="9" grpId="0" animBg="1"/>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glow1"/>
          <p:cNvSpPr/>
          <p:nvPr/>
        </p:nvSpPr>
        <p:spPr>
          <a:xfrm>
            <a:off x="7772400" y="3200400"/>
            <a:ext cx="5486400" cy="5486400"/>
          </a:xfrm>
          <a:prstGeom prst="ellipse">
            <a:avLst/>
          </a:prstGeom>
          <a:solidFill>
            <a:schemeClr val="accent1">
              <a:alpha val="6000"/>
            </a:schemeClr>
          </a:solidFill>
          <a:ln/>
        </p:spPr>
      </p:sp>
      <p:sp>
        <p:nvSpPr>
          <p:cNvPr id="3" name="!!glow2"/>
          <p:cNvSpPr/>
          <p:nvPr/>
        </p:nvSpPr>
        <p:spPr>
          <a:xfrm>
            <a:off x="-1371600" y="-1828800"/>
            <a:ext cx="4572000" cy="45720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LE CONSTAT</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Ton commerce est excellent. </a:t>
            </a:r>
            <a:pPr algn="l" indent="0" marL="0">
              <a:buNone/>
            </a:pPr>
            <a:r>
              <a:rPr lang="en-US" sz="3400" b="1" dirty="0">
                <a:solidFill>
                  <a:schemeClr val="accent1"/>
                </a:solidFill>
                <a:latin typeface="Arial Black" pitchFamily="34" charset="0"/>
                <a:ea typeface="Arial Black" pitchFamily="34" charset="-122"/>
                <a:cs typeface="Arial Black" pitchFamily="34" charset="-120"/>
              </a:rPr>
              <a:t>Ton site, pas toujours</a:t>
            </a:r>
            <a:endParaRPr lang="en-US" sz="3400" dirty="0"/>
          </a:p>
        </p:txBody>
      </p:sp>
      <p:sp>
        <p:nvSpPr>
          <p:cNvPr id="9" name="Pastille 1"/>
          <p:cNvSpPr/>
          <p:nvPr/>
        </p:nvSpPr>
        <p:spPr>
          <a:xfrm>
            <a:off x="548640" y="2514600"/>
            <a:ext cx="640080" cy="640080"/>
          </a:xfrm>
          <a:prstGeom prst="ellipse">
            <a:avLst/>
          </a:prstGeom>
          <a:solidFill>
            <a:schemeClr val="tx2"/>
          </a:solidFill>
          <a:ln w="12700">
            <a:solidFill>
              <a:schemeClr val="accent1"/>
            </a:solidFill>
            <a:prstDash val="solid"/>
          </a:ln>
        </p:spPr>
      </p:sp>
      <p:pic>
        <p:nvPicPr>
          <p:cNvPr id="10" name="Icône 1" descr="Illisible sur téléphone">    </p:cNvPr>
          <p:cNvPicPr>
            <a:picLocks noChangeAspect="1"/>
          </p:cNvPicPr>
          <p:nvPr/>
        </p:nvPicPr>
        <p:blipFill>
          <a:blip r:embed="rId5"/>
          <a:stretch>
            <a:fillRect/>
          </a:stretch>
        </p:blipFill>
        <p:spPr>
          <a:xfrm>
            <a:off x="713232" y="2679192"/>
            <a:ext cx="310896" cy="310896"/>
          </a:xfrm>
          <a:prstGeom prst="rect">
            <a:avLst/>
          </a:prstGeom>
        </p:spPr>
      </p:pic>
      <p:sp>
        <p:nvSpPr>
          <p:cNvPr id="11" name="Point 1"/>
          <p:cNvSpPr txBox="1"/>
          <p:nvPr/>
        </p:nvSpPr>
        <p:spPr>
          <a:xfrm>
            <a:off x="1417320" y="2496312"/>
            <a:ext cx="585216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Illisible sur téléphone</a:t>
            </a:r>
            <a:endParaRPr lang="en-US" sz="1800" dirty="0"/>
          </a:p>
        </p:txBody>
      </p:sp>
      <p:sp>
        <p:nvSpPr>
          <p:cNvPr id="12" name="Détail 1"/>
          <p:cNvSpPr txBox="1"/>
          <p:nvPr/>
        </p:nvSpPr>
        <p:spPr>
          <a:xfrm>
            <a:off x="1417320" y="2880360"/>
            <a:ext cx="5852160" cy="54864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Texte minuscule, boutons trop petits : le client zoome, puis abandonne.</a:t>
            </a:r>
            <a:endParaRPr lang="en-US" sz="1400" dirty="0"/>
          </a:p>
        </p:txBody>
      </p:sp>
      <p:sp>
        <p:nvSpPr>
          <p:cNvPr id="13" name="Pastille 2"/>
          <p:cNvSpPr/>
          <p:nvPr/>
        </p:nvSpPr>
        <p:spPr>
          <a:xfrm>
            <a:off x="548640" y="3703320"/>
            <a:ext cx="640080" cy="640080"/>
          </a:xfrm>
          <a:prstGeom prst="ellipse">
            <a:avLst/>
          </a:prstGeom>
          <a:solidFill>
            <a:schemeClr val="tx2"/>
          </a:solidFill>
          <a:ln w="12700">
            <a:solidFill>
              <a:schemeClr val="accent1"/>
            </a:solidFill>
            <a:prstDash val="solid"/>
          </a:ln>
        </p:spPr>
      </p:sp>
      <p:pic>
        <p:nvPicPr>
          <p:cNvPr id="14" name="Icône 2" descr="Introuvable sur Google">    </p:cNvPr>
          <p:cNvPicPr>
            <a:picLocks noChangeAspect="1"/>
          </p:cNvPicPr>
          <p:nvPr/>
        </p:nvPicPr>
        <p:blipFill>
          <a:blip r:embed="rId6"/>
          <a:stretch>
            <a:fillRect/>
          </a:stretch>
        </p:blipFill>
        <p:spPr>
          <a:xfrm>
            <a:off x="713232" y="3867912"/>
            <a:ext cx="310896" cy="310896"/>
          </a:xfrm>
          <a:prstGeom prst="rect">
            <a:avLst/>
          </a:prstGeom>
        </p:spPr>
      </p:pic>
      <p:sp>
        <p:nvSpPr>
          <p:cNvPr id="15" name="Point 2"/>
          <p:cNvSpPr txBox="1"/>
          <p:nvPr/>
        </p:nvSpPr>
        <p:spPr>
          <a:xfrm>
            <a:off x="1417320" y="3685032"/>
            <a:ext cx="585216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Introuvable sur Google</a:t>
            </a:r>
            <a:endParaRPr lang="en-US" sz="1800" dirty="0"/>
          </a:p>
        </p:txBody>
      </p:sp>
      <p:sp>
        <p:nvSpPr>
          <p:cNvPr id="16" name="Détail 2"/>
          <p:cNvSpPr txBox="1"/>
          <p:nvPr/>
        </p:nvSpPr>
        <p:spPr>
          <a:xfrm>
            <a:off x="1417320" y="4069080"/>
            <a:ext cx="5852160" cy="54864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Pas de fiche reliée, pas de mots-clés locaux : c'est le concurrent qui sort.</a:t>
            </a:r>
            <a:endParaRPr lang="en-US" sz="1400" dirty="0"/>
          </a:p>
        </p:txBody>
      </p:sp>
      <p:sp>
        <p:nvSpPr>
          <p:cNvPr id="17" name="Pastille 3"/>
          <p:cNvSpPr/>
          <p:nvPr/>
        </p:nvSpPr>
        <p:spPr>
          <a:xfrm>
            <a:off x="548640" y="4892040"/>
            <a:ext cx="640080" cy="640080"/>
          </a:xfrm>
          <a:prstGeom prst="ellipse">
            <a:avLst/>
          </a:prstGeom>
          <a:solidFill>
            <a:schemeClr val="tx2"/>
          </a:solidFill>
          <a:ln w="12700">
            <a:solidFill>
              <a:schemeClr val="accent1"/>
            </a:solidFill>
            <a:prstDash val="solid"/>
          </a:ln>
        </p:spPr>
      </p:sp>
      <p:pic>
        <p:nvPicPr>
          <p:cNvPr id="18" name="Icône 3" descr="Aucune action possible">    </p:cNvPr>
          <p:cNvPicPr>
            <a:picLocks noChangeAspect="1"/>
          </p:cNvPicPr>
          <p:nvPr/>
        </p:nvPicPr>
        <p:blipFill>
          <a:blip r:embed="rId7"/>
          <a:stretch>
            <a:fillRect/>
          </a:stretch>
        </p:blipFill>
        <p:spPr>
          <a:xfrm>
            <a:off x="713232" y="5056632"/>
            <a:ext cx="310896" cy="310896"/>
          </a:xfrm>
          <a:prstGeom prst="rect">
            <a:avLst/>
          </a:prstGeom>
        </p:spPr>
      </p:pic>
      <p:sp>
        <p:nvSpPr>
          <p:cNvPr id="19" name="Point 3"/>
          <p:cNvSpPr txBox="1"/>
          <p:nvPr/>
        </p:nvSpPr>
        <p:spPr>
          <a:xfrm>
            <a:off x="1417320" y="4873752"/>
            <a:ext cx="585216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Aucune action possible</a:t>
            </a:r>
            <a:endParaRPr lang="en-US" sz="1800" dirty="0"/>
          </a:p>
        </p:txBody>
      </p:sp>
      <p:sp>
        <p:nvSpPr>
          <p:cNvPr id="20" name="Détail 3"/>
          <p:cNvSpPr txBox="1"/>
          <p:nvPr/>
        </p:nvSpPr>
        <p:spPr>
          <a:xfrm>
            <a:off x="1417320" y="5257800"/>
            <a:ext cx="5852160" cy="54864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Pas de bouton d'appel, pas de réservation, pas de commande en ligne.</a:t>
            </a:r>
            <a:endParaRPr lang="en-US" sz="14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1" fill="hold">
                      <p:stCondLst>
                        <p:cond delay="indefinite"/>
                        <p:cond evt="onBegin" delay="0">
                          <p:tn val="2"/>
                        </p:cond>
                      </p:stCondLst>
                      <p:childTnLst>
                        <p:par>
                          <p:cTn id="8" fill="hold">
                            <p:stCondLst>
                              <p:cond delay="0"/>
                            </p:stCondLst>
                            <p:childTnLst>
                              <p:par>
                                <p:cTn id="3" presetID="1" presetClass="mediacall" presetSubtype="0" fill="hold" nodeType="withEffect">
                                  <p:stCondLst>
                                    <p:cond delay="0"/>
                                  </p:stCondLst>
                                  <p:childTnLst>
                                    <p:cmd type="call" cmd="playFrom(0.0)">
                                      <p:cBhvr>
                                        <p:cTn id="4" dur="4000" fill="hold"/>
                                        <p:tgtEl>
                                          <p:spTgt spid="3"/>
                                        </p:tgtEl>
                                      </p:cBhvr>
                                    </p:cmd>
                                  </p:childTnLst>
                                </p:cTn>
                              </p:par>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childTnLst>
                                </p:cTn>
                              </p:par>
                            </p:childTnLst>
                          </p:cTn>
                        </p:par>
                        <p:par>
                          <p:cTn id="13" fill="hold">
                            <p:stCondLst>
                              <p:cond delay="650"/>
                            </p:stCondLst>
                            <p:childTnLst>
                              <p:par>
                                <p:cTn id="9" presetID="42" presetClass="entr" presetSubtype="0" fill="hold" grpId="0" nodeType="after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50"/>
                                        <p:tgtEl>
                                          <p:spTgt spid="8"/>
                                        </p:tgtEl>
                                      </p:cBhvr>
                                    </p:animEffect>
                                    <p:anim calcmode="lin" valueType="num">
                                      <p:cBhvr additive="base">
                                        <p:cTn id="12" dur="650" fill="hold" decel="100000"/>
                                        <p:tgtEl>
                                          <p:spTgt spid="8"/>
                                        </p:tgtEl>
                                        <p:attrNameLst>
                                          <p:attrName>ppt_y</p:attrName>
                                        </p:attrNameLst>
                                      </p:cBhvr>
                                      <p:tavLst>
                                        <p:tav tm="0">
                                          <p:val>
                                            <p:strVal val="#ppt_y+0.05"/>
                                          </p:val>
                                        </p:tav>
                                        <p:tav tm="100000">
                                          <p:val>
                                            <p:strVal val="#ppt_y"/>
                                          </p:val>
                                        </p:tav>
                                      </p:tavLst>
                                    </p:anim>
                                  </p:childTnLst>
                                </p:cTn>
                              </p:par>
                            </p:childTnLst>
                          </p:cTn>
                        </p:par>
                        <p:par>
                          <p:cTn id="32" fill="hold">
                            <p:stCondLst>
                              <p:cond delay="1400"/>
                            </p:stCondLst>
                            <p:childTnLst>
                              <p:par>
                                <p:cTn id="14" presetID="53" presetClass="entr" presetSubtype="0" fill="hold" grpId="0" nodeType="afterEffect">
                                  <p:stCondLst>
                                    <p:cond delay="25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50"/>
                                        <p:tgtEl>
                                          <p:spTgt spid="9"/>
                                        </p:tgtEl>
                                      </p:cBhvr>
                                    </p:animEffect>
                                    <p:anim calcmode="lin" valueType="num">
                                      <p:cBhvr additive="base">
                                        <p:cTn id="17" dur="650" fill="hold" decel="100000"/>
                                        <p:tgtEl>
                                          <p:spTgt spid="9"/>
                                        </p:tgtEl>
                                        <p:attrNameLst>
                                          <p:attrName>ppt_w</p:attrName>
                                        </p:attrNameLst>
                                      </p:cBhvr>
                                      <p:tavLst>
                                        <p:tav tm="0">
                                          <p:val>
                                            <p:strVal val="#ppt_w*0.6"/>
                                          </p:val>
                                        </p:tav>
                                        <p:tav tm="100000">
                                          <p:val>
                                            <p:strVal val="#ppt_w"/>
                                          </p:val>
                                        </p:tav>
                                      </p:tavLst>
                                    </p:anim>
                                    <p:anim calcmode="lin" valueType="num">
                                      <p:cBhvr additive="base">
                                        <p:cTn id="18" dur="650" fill="hold" decel="100000"/>
                                        <p:tgtEl>
                                          <p:spTgt spid="9"/>
                                        </p:tgtEl>
                                        <p:attrNameLst>
                                          <p:attrName>ppt_h</p:attrName>
                                        </p:attrNameLst>
                                      </p:cBhvr>
                                      <p:tavLst>
                                        <p:tav tm="0">
                                          <p:val>
                                            <p:strVal val="#ppt_h*0.6"/>
                                          </p:val>
                                        </p:tav>
                                        <p:tav tm="100000">
                                          <p:val>
                                            <p:strVal val="#ppt_h"/>
                                          </p:val>
                                        </p:tav>
                                      </p:tavLst>
                                    </p:anim>
                                  </p:childTnLst>
                                </p:cTn>
                              </p:par>
                              <p:par>
                                <p:cTn id="19" presetID="53"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50"/>
                                        <p:tgtEl>
                                          <p:spTgt spid="10"/>
                                        </p:tgtEl>
                                      </p:cBhvr>
                                    </p:animEffect>
                                    <p:anim calcmode="lin" valueType="num">
                                      <p:cBhvr additive="base">
                                        <p:cTn id="22" dur="650" fill="hold" decel="100000"/>
                                        <p:tgtEl>
                                          <p:spTgt spid="10"/>
                                        </p:tgtEl>
                                        <p:attrNameLst>
                                          <p:attrName>ppt_w</p:attrName>
                                        </p:attrNameLst>
                                      </p:cBhvr>
                                      <p:tavLst>
                                        <p:tav tm="0">
                                          <p:val>
                                            <p:strVal val="#ppt_w*0.6"/>
                                          </p:val>
                                        </p:tav>
                                        <p:tav tm="100000">
                                          <p:val>
                                            <p:strVal val="#ppt_w"/>
                                          </p:val>
                                        </p:tav>
                                      </p:tavLst>
                                    </p:anim>
                                    <p:anim calcmode="lin" valueType="num">
                                      <p:cBhvr additive="base">
                                        <p:cTn id="23" dur="650" fill="hold" decel="100000"/>
                                        <p:tgtEl>
                                          <p:spTgt spid="10"/>
                                        </p:tgtEl>
                                        <p:attrNameLst>
                                          <p:attrName>ppt_h</p:attrName>
                                        </p:attrNameLst>
                                      </p:cBhvr>
                                      <p:tavLst>
                                        <p:tav tm="0">
                                          <p:val>
                                            <p:strVal val="#ppt_h*0.6"/>
                                          </p:val>
                                        </p:tav>
                                        <p:tav tm="100000">
                                          <p:val>
                                            <p:strVal val="#ppt_h"/>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50"/>
                                        <p:tgtEl>
                                          <p:spTgt spid="11"/>
                                        </p:tgtEl>
                                      </p:cBhvr>
                                    </p:animEffect>
                                    <p:anim calcmode="lin" valueType="num">
                                      <p:cBhvr additive="base">
                                        <p:cTn id="27" dur="650" fill="hold" decel="100000"/>
                                        <p:tgtEl>
                                          <p:spTgt spid="11"/>
                                        </p:tgtEl>
                                        <p:attrNameLst>
                                          <p:attrName>ppt_y</p:attrName>
                                        </p:attrNameLst>
                                      </p:cBhvr>
                                      <p:tavLst>
                                        <p:tav tm="0">
                                          <p:val>
                                            <p:strVal val="#ppt_y+0.05"/>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50"/>
                                        <p:tgtEl>
                                          <p:spTgt spid="12"/>
                                        </p:tgtEl>
                                      </p:cBhvr>
                                    </p:animEffect>
                                    <p:anim calcmode="lin" valueType="num">
                                      <p:cBhvr additive="base">
                                        <p:cTn id="31" dur="650" fill="hold" decel="100000"/>
                                        <p:tgtEl>
                                          <p:spTgt spid="12"/>
                                        </p:tgtEl>
                                        <p:attrNameLst>
                                          <p:attrName>ppt_y</p:attrName>
                                        </p:attrNameLst>
                                      </p:cBhvr>
                                      <p:tavLst>
                                        <p:tav tm="0">
                                          <p:val>
                                            <p:strVal val="#ppt_y+0.05"/>
                                          </p:val>
                                        </p:tav>
                                        <p:tav tm="100000">
                                          <p:val>
                                            <p:strVal val="#ppt_y"/>
                                          </p:val>
                                        </p:tav>
                                      </p:tavLst>
                                    </p:anim>
                                  </p:childTnLst>
                                </p:cTn>
                              </p:par>
                            </p:childTnLst>
                          </p:cTn>
                        </p:par>
                        <p:par>
                          <p:cTn id="51" fill="hold">
                            <p:stCondLst>
                              <p:cond delay="2300"/>
                            </p:stCondLst>
                            <p:childTnLst>
                              <p:par>
                                <p:cTn id="33" presetID="53" presetClass="entr" presetSubtype="0" fill="hold" grpId="0" nodeType="afterEffect">
                                  <p:stCondLst>
                                    <p:cond delay="2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650"/>
                                        <p:tgtEl>
                                          <p:spTgt spid="13"/>
                                        </p:tgtEl>
                                      </p:cBhvr>
                                    </p:animEffect>
                                    <p:anim calcmode="lin" valueType="num">
                                      <p:cBhvr additive="base">
                                        <p:cTn id="36" dur="650" fill="hold" decel="100000"/>
                                        <p:tgtEl>
                                          <p:spTgt spid="13"/>
                                        </p:tgtEl>
                                        <p:attrNameLst>
                                          <p:attrName>ppt_w</p:attrName>
                                        </p:attrNameLst>
                                      </p:cBhvr>
                                      <p:tavLst>
                                        <p:tav tm="0">
                                          <p:val>
                                            <p:strVal val="#ppt_w*0.6"/>
                                          </p:val>
                                        </p:tav>
                                        <p:tav tm="100000">
                                          <p:val>
                                            <p:strVal val="#ppt_w"/>
                                          </p:val>
                                        </p:tav>
                                      </p:tavLst>
                                    </p:anim>
                                    <p:anim calcmode="lin" valueType="num">
                                      <p:cBhvr additive="base">
                                        <p:cTn id="37" dur="650" fill="hold" decel="100000"/>
                                        <p:tgtEl>
                                          <p:spTgt spid="13"/>
                                        </p:tgtEl>
                                        <p:attrNameLst>
                                          <p:attrName>ppt_h</p:attrName>
                                        </p:attrNameLst>
                                      </p:cBhvr>
                                      <p:tavLst>
                                        <p:tav tm="0">
                                          <p:val>
                                            <p:strVal val="#ppt_h*0.6"/>
                                          </p:val>
                                        </p:tav>
                                        <p:tav tm="100000">
                                          <p:val>
                                            <p:strVal val="#ppt_h"/>
                                          </p:val>
                                        </p:tav>
                                      </p:tavLst>
                                    </p:anim>
                                  </p:childTnLst>
                                </p:cTn>
                              </p:par>
                              <p:par>
                                <p:cTn id="38" presetID="53"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650"/>
                                        <p:tgtEl>
                                          <p:spTgt spid="14"/>
                                        </p:tgtEl>
                                      </p:cBhvr>
                                    </p:animEffect>
                                    <p:anim calcmode="lin" valueType="num">
                                      <p:cBhvr additive="base">
                                        <p:cTn id="41" dur="650" fill="hold" decel="100000"/>
                                        <p:tgtEl>
                                          <p:spTgt spid="14"/>
                                        </p:tgtEl>
                                        <p:attrNameLst>
                                          <p:attrName>ppt_w</p:attrName>
                                        </p:attrNameLst>
                                      </p:cBhvr>
                                      <p:tavLst>
                                        <p:tav tm="0">
                                          <p:val>
                                            <p:strVal val="#ppt_w*0.6"/>
                                          </p:val>
                                        </p:tav>
                                        <p:tav tm="100000">
                                          <p:val>
                                            <p:strVal val="#ppt_w"/>
                                          </p:val>
                                        </p:tav>
                                      </p:tavLst>
                                    </p:anim>
                                    <p:anim calcmode="lin" valueType="num">
                                      <p:cBhvr additive="base">
                                        <p:cTn id="42" dur="650" fill="hold" decel="100000"/>
                                        <p:tgtEl>
                                          <p:spTgt spid="14"/>
                                        </p:tgtEl>
                                        <p:attrNameLst>
                                          <p:attrName>ppt_h</p:attrName>
                                        </p:attrNameLst>
                                      </p:cBhvr>
                                      <p:tavLst>
                                        <p:tav tm="0">
                                          <p:val>
                                            <p:strVal val="#ppt_h*0.6"/>
                                          </p:val>
                                        </p:tav>
                                        <p:tav tm="100000">
                                          <p:val>
                                            <p:strVal val="#ppt_h"/>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650"/>
                                        <p:tgtEl>
                                          <p:spTgt spid="15"/>
                                        </p:tgtEl>
                                      </p:cBhvr>
                                    </p:animEffect>
                                    <p:anim calcmode="lin" valueType="num">
                                      <p:cBhvr additive="base">
                                        <p:cTn id="46" dur="650" fill="hold" decel="100000"/>
                                        <p:tgtEl>
                                          <p:spTgt spid="15"/>
                                        </p:tgtEl>
                                        <p:attrNameLst>
                                          <p:attrName>ppt_y</p:attrName>
                                        </p:attrNameLst>
                                      </p:cBhvr>
                                      <p:tavLst>
                                        <p:tav tm="0">
                                          <p:val>
                                            <p:strVal val="#ppt_y+0.05"/>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650"/>
                                        <p:tgtEl>
                                          <p:spTgt spid="16"/>
                                        </p:tgtEl>
                                      </p:cBhvr>
                                    </p:animEffect>
                                    <p:anim calcmode="lin" valueType="num">
                                      <p:cBhvr additive="base">
                                        <p:cTn id="50" dur="650" fill="hold" decel="100000"/>
                                        <p:tgtEl>
                                          <p:spTgt spid="16"/>
                                        </p:tgtEl>
                                        <p:attrNameLst>
                                          <p:attrName>ppt_y</p:attrName>
                                        </p:attrNameLst>
                                      </p:cBhvr>
                                      <p:tavLst>
                                        <p:tav tm="0">
                                          <p:val>
                                            <p:strVal val="#ppt_y+0.05"/>
                                          </p:val>
                                        </p:tav>
                                        <p:tav tm="100000">
                                          <p:val>
                                            <p:strVal val="#ppt_y"/>
                                          </p:val>
                                        </p:tav>
                                      </p:tavLst>
                                    </p:anim>
                                  </p:childTnLst>
                                </p:cTn>
                              </p:par>
                            </p:childTnLst>
                          </p:cTn>
                        </p:par>
                        <p:par>
                          <p:cTn id="70" fill="hold">
                            <p:stCondLst>
                              <p:cond delay="3200"/>
                            </p:stCondLst>
                            <p:childTnLst>
                              <p:par>
                                <p:cTn id="52" presetID="53" presetClass="entr" presetSubtype="0" fill="hold" grpId="0" nodeType="afterEffect">
                                  <p:stCondLst>
                                    <p:cond delay="25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650"/>
                                        <p:tgtEl>
                                          <p:spTgt spid="17"/>
                                        </p:tgtEl>
                                      </p:cBhvr>
                                    </p:animEffect>
                                    <p:anim calcmode="lin" valueType="num">
                                      <p:cBhvr additive="base">
                                        <p:cTn id="55" dur="650" fill="hold" decel="100000"/>
                                        <p:tgtEl>
                                          <p:spTgt spid="17"/>
                                        </p:tgtEl>
                                        <p:attrNameLst>
                                          <p:attrName>ppt_w</p:attrName>
                                        </p:attrNameLst>
                                      </p:cBhvr>
                                      <p:tavLst>
                                        <p:tav tm="0">
                                          <p:val>
                                            <p:strVal val="#ppt_w*0.6"/>
                                          </p:val>
                                        </p:tav>
                                        <p:tav tm="100000">
                                          <p:val>
                                            <p:strVal val="#ppt_w"/>
                                          </p:val>
                                        </p:tav>
                                      </p:tavLst>
                                    </p:anim>
                                    <p:anim calcmode="lin" valueType="num">
                                      <p:cBhvr additive="base">
                                        <p:cTn id="56" dur="650" fill="hold" decel="100000"/>
                                        <p:tgtEl>
                                          <p:spTgt spid="17"/>
                                        </p:tgtEl>
                                        <p:attrNameLst>
                                          <p:attrName>ppt_h</p:attrName>
                                        </p:attrNameLst>
                                      </p:cBhvr>
                                      <p:tavLst>
                                        <p:tav tm="0">
                                          <p:val>
                                            <p:strVal val="#ppt_h*0.6"/>
                                          </p:val>
                                        </p:tav>
                                        <p:tav tm="100000">
                                          <p:val>
                                            <p:strVal val="#ppt_h"/>
                                          </p:val>
                                        </p:tav>
                                      </p:tavLst>
                                    </p:anim>
                                  </p:childTnLst>
                                </p:cTn>
                              </p:par>
                              <p:par>
                                <p:cTn id="57" presetID="53"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650"/>
                                        <p:tgtEl>
                                          <p:spTgt spid="18"/>
                                        </p:tgtEl>
                                      </p:cBhvr>
                                    </p:animEffect>
                                    <p:anim calcmode="lin" valueType="num">
                                      <p:cBhvr additive="base">
                                        <p:cTn id="60" dur="650" fill="hold" decel="100000"/>
                                        <p:tgtEl>
                                          <p:spTgt spid="18"/>
                                        </p:tgtEl>
                                        <p:attrNameLst>
                                          <p:attrName>ppt_w</p:attrName>
                                        </p:attrNameLst>
                                      </p:cBhvr>
                                      <p:tavLst>
                                        <p:tav tm="0">
                                          <p:val>
                                            <p:strVal val="#ppt_w*0.6"/>
                                          </p:val>
                                        </p:tav>
                                        <p:tav tm="100000">
                                          <p:val>
                                            <p:strVal val="#ppt_w"/>
                                          </p:val>
                                        </p:tav>
                                      </p:tavLst>
                                    </p:anim>
                                    <p:anim calcmode="lin" valueType="num">
                                      <p:cBhvr additive="base">
                                        <p:cTn id="61" dur="650" fill="hold" decel="100000"/>
                                        <p:tgtEl>
                                          <p:spTgt spid="18"/>
                                        </p:tgtEl>
                                        <p:attrNameLst>
                                          <p:attrName>ppt_h</p:attrName>
                                        </p:attrNameLst>
                                      </p:cBhvr>
                                      <p:tavLst>
                                        <p:tav tm="0">
                                          <p:val>
                                            <p:strVal val="#ppt_h*0.6"/>
                                          </p:val>
                                        </p:tav>
                                        <p:tav tm="100000">
                                          <p:val>
                                            <p:strVal val="#ppt_h"/>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650"/>
                                        <p:tgtEl>
                                          <p:spTgt spid="19"/>
                                        </p:tgtEl>
                                      </p:cBhvr>
                                    </p:animEffect>
                                    <p:anim calcmode="lin" valueType="num">
                                      <p:cBhvr additive="base">
                                        <p:cTn id="65" dur="650" fill="hold" decel="100000"/>
                                        <p:tgtEl>
                                          <p:spTgt spid="19"/>
                                        </p:tgtEl>
                                        <p:attrNameLst>
                                          <p:attrName>ppt_y</p:attrName>
                                        </p:attrNameLst>
                                      </p:cBhvr>
                                      <p:tavLst>
                                        <p:tav tm="0">
                                          <p:val>
                                            <p:strVal val="#ppt_y+0.05"/>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650"/>
                                        <p:tgtEl>
                                          <p:spTgt spid="20"/>
                                        </p:tgtEl>
                                      </p:cBhvr>
                                    </p:animEffect>
                                    <p:anim calcmode="lin" valueType="num">
                                      <p:cBhvr additive="base">
                                        <p:cTn id="69" dur="650" fill="hold" decel="100000"/>
                                        <p:tgtEl>
                                          <p:spTgt spid="20"/>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2" repeatCount="indefinite" fill="hold" display="0">
                  <p:stCondLst>
                    <p:cond delay="indefinite"/>
                  </p:stCondLst>
                </p:cTn>
                <p:tgtEl>
                  <p:spTgt spid="3"/>
                </p:tgtEl>
              </p:cMediaNode>
            </p:video>
          </p:childTnLst>
        </p:cTn>
      </p:par>
    </p:tnLst>
    <p:bldLst>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glow1"/>
          <p:cNvSpPr/>
          <p:nvPr/>
        </p:nvSpPr>
        <p:spPr>
          <a:xfrm>
            <a:off x="5943600" y="-2286000"/>
            <a:ext cx="6400800" cy="6400800"/>
          </a:xfrm>
          <a:prstGeom prst="ellipse">
            <a:avLst/>
          </a:prstGeom>
          <a:solidFill>
            <a:schemeClr val="accent1">
              <a:alpha val="6000"/>
            </a:schemeClr>
          </a:solidFill>
          <a:ln/>
        </p:spPr>
      </p:sp>
      <p:sp>
        <p:nvSpPr>
          <p:cNvPr id="3" name="!!glow2"/>
          <p:cNvSpPr/>
          <p:nvPr/>
        </p:nvSpPr>
        <p:spPr>
          <a:xfrm>
            <a:off x="0" y="3657600"/>
            <a:ext cx="4572000" cy="45720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L'AGENCE</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Le studio web des </a:t>
            </a:r>
            <a:pPr algn="l" indent="0" marL="0">
              <a:buNone/>
            </a:pPr>
            <a:r>
              <a:rPr lang="en-US" sz="3400" b="1" dirty="0">
                <a:solidFill>
                  <a:schemeClr val="accent1"/>
                </a:solidFill>
                <a:latin typeface="Arial Black" pitchFamily="34" charset="0"/>
                <a:ea typeface="Arial Black" pitchFamily="34" charset="-122"/>
                <a:cs typeface="Arial Black" pitchFamily="34" charset="-120"/>
              </a:rPr>
              <a:t>pros de Savoie</a:t>
            </a:r>
            <a:endParaRPr lang="en-US" sz="3400" dirty="0"/>
          </a:p>
        </p:txBody>
      </p:sp>
      <p:sp>
        <p:nvSpPr>
          <p:cNvPr id="9" name="Intro"/>
          <p:cNvSpPr txBox="1"/>
          <p:nvPr/>
        </p:nvSpPr>
        <p:spPr>
          <a:xfrm>
            <a:off x="548640" y="2377440"/>
            <a:ext cx="6766560" cy="1005840"/>
          </a:xfrm>
          <a:prstGeom prst="rect">
            <a:avLst/>
          </a:prstGeom>
          <a:noFill/>
          <a:ln/>
        </p:spPr>
        <p:txBody>
          <a:bodyPr wrap="square" lIns="0" tIns="0" rIns="0" bIns="0" rtlCol="0" anchor="t"/>
          <a:lstStyle/>
          <a:p>
            <a:pPr indent="0" marL="0">
              <a:buNone/>
            </a:pPr>
            <a:r>
              <a:rPr lang="en-US" sz="1800" dirty="0">
                <a:solidFill>
                  <a:schemeClr val="bg1"/>
                </a:solidFill>
                <a:latin typeface="Arial" pitchFamily="34" charset="0"/>
                <a:ea typeface="Arial" pitchFamily="34" charset="-122"/>
                <a:cs typeface="Arial" pitchFamily="34" charset="-120"/>
              </a:rPr>
              <a:t>Nexora conçoit des sites au niveau des grandes agences, pour les boulangers, restaurateurs, coiffeurs et artisans de Chambéry, d'Aix-les-Bains et des alentours.</a:t>
            </a:r>
            <a:endParaRPr lang="en-US" sz="1800" dirty="0"/>
          </a:p>
        </p:txBody>
      </p:sp>
      <p:sp>
        <p:nvSpPr>
          <p:cNvPr id="10" name="Carte 1"/>
          <p:cNvSpPr/>
          <p:nvPr/>
        </p:nvSpPr>
        <p:spPr>
          <a:xfrm>
            <a:off x="548640" y="3749040"/>
            <a:ext cx="2148840" cy="2148840"/>
          </a:xfrm>
          <a:prstGeom prst="roundRect">
            <a:avLst>
              <a:gd name="adj" fmla="val 5106"/>
            </a:avLst>
          </a:prstGeom>
          <a:solidFill>
            <a:schemeClr val="tx2"/>
          </a:solidFill>
          <a:ln w="12700">
            <a:solidFill>
              <a:schemeClr val="accent4"/>
            </a:solidFill>
            <a:prstDash val="solid"/>
          </a:ln>
        </p:spPr>
      </p:sp>
      <p:sp>
        <p:nvSpPr>
          <p:cNvPr id="11" name="Chiffre 1"/>
          <p:cNvSpPr txBox="1"/>
          <p:nvPr/>
        </p:nvSpPr>
        <p:spPr>
          <a:xfrm>
            <a:off x="749808" y="3931920"/>
            <a:ext cx="1828800" cy="731520"/>
          </a:xfrm>
          <a:prstGeom prst="rect">
            <a:avLst/>
          </a:prstGeom>
          <a:noFill/>
          <a:ln/>
        </p:spPr>
        <p:txBody>
          <a:bodyPr wrap="square" lIns="0" tIns="0" rIns="0" bIns="0" rtlCol="0" anchor="ctr"/>
          <a:lstStyle/>
          <a:p>
            <a:pPr indent="0" marL="0">
              <a:buNone/>
            </a:pPr>
            <a:r>
              <a:rPr lang="en-US" sz="2400" dirty="0">
                <a:solidFill>
                  <a:schemeClr val="accent1"/>
                </a:solidFill>
                <a:latin typeface="Arial Black" pitchFamily="34" charset="0"/>
                <a:ea typeface="Arial Black" pitchFamily="34" charset="-122"/>
                <a:cs typeface="Arial Black" pitchFamily="34" charset="-120"/>
              </a:rPr>
              <a:t>45.56° N</a:t>
            </a:r>
            <a:endParaRPr lang="en-US" sz="2400" dirty="0"/>
          </a:p>
        </p:txBody>
      </p:sp>
      <p:sp>
        <p:nvSpPr>
          <p:cNvPr id="12" name="Texte 1"/>
          <p:cNvSpPr txBox="1"/>
          <p:nvPr/>
        </p:nvSpPr>
        <p:spPr>
          <a:xfrm>
            <a:off x="749808" y="4754880"/>
            <a:ext cx="1783080" cy="100584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Basé à Chambéry, on se déplace dans tout le 73</a:t>
            </a:r>
            <a:endParaRPr lang="en-US" sz="1300" dirty="0"/>
          </a:p>
        </p:txBody>
      </p:sp>
      <p:sp>
        <p:nvSpPr>
          <p:cNvPr id="13" name="Carte 2"/>
          <p:cNvSpPr/>
          <p:nvPr/>
        </p:nvSpPr>
        <p:spPr>
          <a:xfrm>
            <a:off x="2880360" y="3749040"/>
            <a:ext cx="2148840" cy="2148840"/>
          </a:xfrm>
          <a:prstGeom prst="roundRect">
            <a:avLst>
              <a:gd name="adj" fmla="val 5106"/>
            </a:avLst>
          </a:prstGeom>
          <a:solidFill>
            <a:schemeClr val="tx2"/>
          </a:solidFill>
          <a:ln w="12700">
            <a:solidFill>
              <a:schemeClr val="accent4"/>
            </a:solidFill>
            <a:prstDash val="solid"/>
          </a:ln>
        </p:spPr>
      </p:sp>
      <p:sp>
        <p:nvSpPr>
          <p:cNvPr id="14" name="Chiffre 2"/>
          <p:cNvSpPr txBox="1"/>
          <p:nvPr/>
        </p:nvSpPr>
        <p:spPr>
          <a:xfrm>
            <a:off x="3081528" y="3931920"/>
            <a:ext cx="1828800" cy="731520"/>
          </a:xfrm>
          <a:prstGeom prst="rect">
            <a:avLst/>
          </a:prstGeom>
          <a:noFill/>
          <a:ln/>
        </p:spPr>
        <p:txBody>
          <a:bodyPr wrap="square" lIns="0" tIns="0" rIns="0" bIns="0" rtlCol="0" anchor="ctr"/>
          <a:lstStyle/>
          <a:p>
            <a:pPr indent="0" marL="0">
              <a:buNone/>
            </a:pPr>
            <a:r>
              <a:rPr lang="en-US" sz="4000" dirty="0">
                <a:solidFill>
                  <a:schemeClr val="accent1"/>
                </a:solidFill>
                <a:latin typeface="Arial Black" pitchFamily="34" charset="0"/>
                <a:ea typeface="Arial Black" pitchFamily="34" charset="-122"/>
                <a:cs typeface="Arial Black" pitchFamily="34" charset="-120"/>
              </a:rPr>
              <a:t>1</a:t>
            </a:r>
            <a:endParaRPr lang="en-US" sz="4000" dirty="0"/>
          </a:p>
        </p:txBody>
      </p:sp>
      <p:sp>
        <p:nvSpPr>
          <p:cNvPr id="15" name="Texte 2"/>
          <p:cNvSpPr txBox="1"/>
          <p:nvPr/>
        </p:nvSpPr>
        <p:spPr>
          <a:xfrm>
            <a:off x="3081528" y="4754880"/>
            <a:ext cx="1783080" cy="100584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Un seul interlocuteur, du premier appel à la mise en ligne</a:t>
            </a:r>
            <a:endParaRPr lang="en-US" sz="1300" dirty="0"/>
          </a:p>
        </p:txBody>
      </p:sp>
      <p:sp>
        <p:nvSpPr>
          <p:cNvPr id="16" name="Carte 3"/>
          <p:cNvSpPr/>
          <p:nvPr/>
        </p:nvSpPr>
        <p:spPr>
          <a:xfrm>
            <a:off x="5212080" y="3749040"/>
            <a:ext cx="2148840" cy="2148840"/>
          </a:xfrm>
          <a:prstGeom prst="roundRect">
            <a:avLst>
              <a:gd name="adj" fmla="val 5106"/>
            </a:avLst>
          </a:prstGeom>
          <a:solidFill>
            <a:schemeClr val="tx2"/>
          </a:solidFill>
          <a:ln w="12700">
            <a:solidFill>
              <a:schemeClr val="accent4"/>
            </a:solidFill>
            <a:prstDash val="solid"/>
          </a:ln>
        </p:spPr>
      </p:sp>
      <p:sp>
        <p:nvSpPr>
          <p:cNvPr id="17" name="Chiffre 3"/>
          <p:cNvSpPr txBox="1"/>
          <p:nvPr/>
        </p:nvSpPr>
        <p:spPr>
          <a:xfrm>
            <a:off x="5413248" y="3931920"/>
            <a:ext cx="1828800" cy="731520"/>
          </a:xfrm>
          <a:prstGeom prst="rect">
            <a:avLst/>
          </a:prstGeom>
          <a:noFill/>
          <a:ln/>
        </p:spPr>
        <p:txBody>
          <a:bodyPr wrap="square" lIns="0" tIns="0" rIns="0" bIns="0" rtlCol="0" anchor="ctr"/>
          <a:lstStyle/>
          <a:p>
            <a:pPr indent="0" marL="0">
              <a:buNone/>
            </a:pPr>
            <a:r>
              <a:rPr lang="en-US" sz="4000" dirty="0">
                <a:solidFill>
                  <a:schemeClr val="accent1"/>
                </a:solidFill>
                <a:latin typeface="Arial Black" pitchFamily="34" charset="0"/>
                <a:ea typeface="Arial Black" pitchFamily="34" charset="-122"/>
                <a:cs typeface="Arial Black" pitchFamily="34" charset="-120"/>
              </a:rPr>
              <a:t>0</a:t>
            </a:r>
            <a:endParaRPr lang="en-US" sz="4000" dirty="0"/>
          </a:p>
        </p:txBody>
      </p:sp>
      <p:sp>
        <p:nvSpPr>
          <p:cNvPr id="18" name="Texte 3"/>
          <p:cNvSpPr txBox="1"/>
          <p:nvPr/>
        </p:nvSpPr>
        <p:spPr>
          <a:xfrm>
            <a:off x="5413248" y="4754880"/>
            <a:ext cx="1783080" cy="100584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Jargon technique : on parle de tes clients, pas de code</a:t>
            </a:r>
            <a:endParaRPr lang="en-US" sz="13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58" fill="hold">
                      <p:stCondLst>
                        <p:cond delay="indefinite"/>
                        <p:cond evt="onBegin" delay="0">
                          <p:tn val="2"/>
                        </p:cond>
                      </p:stCondLst>
                      <p:childTnLst>
                        <p:par>
                          <p:cTn id="8" fill="hold">
                            <p:stCondLst>
                              <p:cond delay="0"/>
                            </p:stCondLst>
                            <p:childTnLst>
                              <p:par>
                                <p:cTn id="3" presetID="1" presetClass="mediacall" presetSubtype="0" fill="hold" nodeType="withEffect">
                                  <p:stCondLst>
                                    <p:cond delay="0"/>
                                  </p:stCondLst>
                                  <p:childTnLst>
                                    <p:cmd type="call" cmd="playFrom(0.0)">
                                      <p:cBhvr>
                                        <p:cTn id="4" dur="4000" fill="hold"/>
                                        <p:tgtEl>
                                          <p:spTgt spid="3"/>
                                        </p:tgtEl>
                                      </p:cBhvr>
                                    </p:cmd>
                                  </p:childTnLst>
                                </p:cTn>
                              </p:par>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childTnLst>
                                </p:cTn>
                              </p:par>
                            </p:childTnLst>
                          </p:cTn>
                        </p:par>
                        <p:par>
                          <p:cTn id="13" fill="hold">
                            <p:stCondLst>
                              <p:cond delay="650"/>
                            </p:stCondLst>
                            <p:childTnLst>
                              <p:par>
                                <p:cTn id="9" presetID="42" presetClass="entr" presetSubtype="0" fill="hold" grpId="0" nodeType="after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50"/>
                                        <p:tgtEl>
                                          <p:spTgt spid="8"/>
                                        </p:tgtEl>
                                      </p:cBhvr>
                                    </p:animEffect>
                                    <p:anim calcmode="lin" valueType="num">
                                      <p:cBhvr additive="base">
                                        <p:cTn id="12" dur="650" fill="hold" decel="100000"/>
                                        <p:tgtEl>
                                          <p:spTgt spid="8"/>
                                        </p:tgtEl>
                                        <p:attrNameLst>
                                          <p:attrName>ppt_y</p:attrName>
                                        </p:attrNameLst>
                                      </p:cBhvr>
                                      <p:tavLst>
                                        <p:tav tm="0">
                                          <p:val>
                                            <p:strVal val="#ppt_y+0.05"/>
                                          </p:val>
                                        </p:tav>
                                        <p:tav tm="100000">
                                          <p:val>
                                            <p:strVal val="#ppt_y"/>
                                          </p:val>
                                        </p:tav>
                                      </p:tavLst>
                                    </p:anim>
                                  </p:childTnLst>
                                </p:cTn>
                              </p:par>
                            </p:childTnLst>
                          </p:cTn>
                        </p:par>
                        <p:par>
                          <p:cTn id="18" fill="hold">
                            <p:stCondLst>
                              <p:cond delay="1400"/>
                            </p:stCondLst>
                            <p:childTnLst>
                              <p:par>
                                <p:cTn id="14" presetID="42" presetClass="entr" presetSubtype="0" fill="hold" grpId="0" nodeType="afterEffect">
                                  <p:stCondLst>
                                    <p:cond delay="2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50"/>
                                        <p:tgtEl>
                                          <p:spTgt spid="9"/>
                                        </p:tgtEl>
                                      </p:cBhvr>
                                    </p:animEffect>
                                    <p:anim calcmode="lin" valueType="num">
                                      <p:cBhvr additive="base">
                                        <p:cTn id="17" dur="650" fill="hold" decel="100000"/>
                                        <p:tgtEl>
                                          <p:spTgt spid="9"/>
                                        </p:tgtEl>
                                        <p:attrNameLst>
                                          <p:attrName>ppt_y</p:attrName>
                                        </p:attrNameLst>
                                      </p:cBhvr>
                                      <p:tavLst>
                                        <p:tav tm="0">
                                          <p:val>
                                            <p:strVal val="#ppt_y+0.05"/>
                                          </p:val>
                                        </p:tav>
                                        <p:tav tm="100000">
                                          <p:val>
                                            <p:strVal val="#ppt_y"/>
                                          </p:val>
                                        </p:tav>
                                      </p:tavLst>
                                    </p:anim>
                                  </p:childTnLst>
                                </p:cTn>
                              </p:par>
                            </p:childTnLst>
                          </p:cTn>
                        </p:par>
                        <p:par>
                          <p:cTn id="31" fill="hold">
                            <p:stCondLst>
                              <p:cond delay="2250"/>
                            </p:stCondLst>
                            <p:childTnLst>
                              <p:par>
                                <p:cTn id="19" presetID="42" presetClass="entr" presetSubtype="0" fill="hold" grpId="0" nodeType="afterEffect">
                                  <p:stCondLst>
                                    <p:cond delay="2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50"/>
                                        <p:tgtEl>
                                          <p:spTgt spid="10"/>
                                        </p:tgtEl>
                                      </p:cBhvr>
                                    </p:animEffect>
                                    <p:anim calcmode="lin" valueType="num">
                                      <p:cBhvr additive="base">
                                        <p:cTn id="22" dur="900" fill="hold" decel="100000"/>
                                        <p:tgtEl>
                                          <p:spTgt spid="10"/>
                                        </p:tgtEl>
                                        <p:attrNameLst>
                                          <p:attrName>ppt_y</p:attrName>
                                        </p:attrNameLst>
                                      </p:cBhvr>
                                      <p:tavLst>
                                        <p:tav tm="0">
                                          <p:val>
                                            <p:strVal val="#ppt_y+0.18"/>
                                          </p:val>
                                        </p:tav>
                                        <p:tav tm="100000">
                                          <p:val>
                                            <p:strVal val="#ppt_y"/>
                                          </p:val>
                                        </p:tav>
                                      </p:tavLst>
                                    </p:anim>
                                  </p:childTnLst>
                                </p:cTn>
                              </p:par>
                              <p:par>
                                <p:cTn id="23" presetID="53" presetClass="entr" presetSubtype="0" fill="hold" grpId="0" nodeType="withEffect">
                                  <p:stCondLst>
                                    <p:cond delay="1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650"/>
                                        <p:tgtEl>
                                          <p:spTgt spid="11"/>
                                        </p:tgtEl>
                                      </p:cBhvr>
                                    </p:animEffect>
                                    <p:anim calcmode="lin" valueType="num">
                                      <p:cBhvr additive="base">
                                        <p:cTn id="26" dur="650" fill="hold" decel="100000"/>
                                        <p:tgtEl>
                                          <p:spTgt spid="11"/>
                                        </p:tgtEl>
                                        <p:attrNameLst>
                                          <p:attrName>ppt_w</p:attrName>
                                        </p:attrNameLst>
                                      </p:cBhvr>
                                      <p:tavLst>
                                        <p:tav tm="0">
                                          <p:val>
                                            <p:strVal val="#ppt_w*0.6"/>
                                          </p:val>
                                        </p:tav>
                                        <p:tav tm="100000">
                                          <p:val>
                                            <p:strVal val="#ppt_w"/>
                                          </p:val>
                                        </p:tav>
                                      </p:tavLst>
                                    </p:anim>
                                    <p:anim calcmode="lin" valueType="num">
                                      <p:cBhvr additive="base">
                                        <p:cTn id="27" dur="650" fill="hold" decel="100000"/>
                                        <p:tgtEl>
                                          <p:spTgt spid="11"/>
                                        </p:tgtEl>
                                        <p:attrNameLst>
                                          <p:attrName>ppt_h</p:attrName>
                                        </p:attrNameLst>
                                      </p:cBhvr>
                                      <p:tavLst>
                                        <p:tav tm="0">
                                          <p:val>
                                            <p:strVal val="#ppt_h*0.6"/>
                                          </p:val>
                                        </p:tav>
                                        <p:tav tm="100000">
                                          <p:val>
                                            <p:strVal val="#ppt_h"/>
                                          </p:val>
                                        </p:tav>
                                      </p:tavLst>
                                    </p:anim>
                                  </p:childTnLst>
                                </p:cTn>
                              </p:par>
                              <p:par>
                                <p:cTn id="28" presetID="10" presetClass="entr" presetSubtype="0" fill="hold" grpId="0" nodeType="withEffect">
                                  <p:stCondLst>
                                    <p:cond delay="1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50"/>
                                        <p:tgtEl>
                                          <p:spTgt spid="12"/>
                                        </p:tgtEl>
                                      </p:cBhvr>
                                    </p:animEffect>
                                  </p:childTnLst>
                                </p:cTn>
                              </p:par>
                            </p:childTnLst>
                          </p:cTn>
                        </p:par>
                        <p:par>
                          <p:cTn id="44" fill="hold">
                            <p:stCondLst>
                              <p:cond delay="3350"/>
                            </p:stCondLst>
                            <p:childTnLst>
                              <p:par>
                                <p:cTn id="32" presetID="42" presetClass="entr" presetSubtype="0" fill="hold" grpId="0" nodeType="afterEffect">
                                  <p:stCondLst>
                                    <p:cond delay="2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50"/>
                                        <p:tgtEl>
                                          <p:spTgt spid="13"/>
                                        </p:tgtEl>
                                      </p:cBhvr>
                                    </p:animEffect>
                                    <p:anim calcmode="lin" valueType="num">
                                      <p:cBhvr additive="base">
                                        <p:cTn id="35" dur="900" fill="hold" decel="100000"/>
                                        <p:tgtEl>
                                          <p:spTgt spid="13"/>
                                        </p:tgtEl>
                                        <p:attrNameLst>
                                          <p:attrName>ppt_y</p:attrName>
                                        </p:attrNameLst>
                                      </p:cBhvr>
                                      <p:tavLst>
                                        <p:tav tm="0">
                                          <p:val>
                                            <p:strVal val="#ppt_y+0.18"/>
                                          </p:val>
                                        </p:tav>
                                        <p:tav tm="100000">
                                          <p:val>
                                            <p:strVal val="#ppt_y"/>
                                          </p:val>
                                        </p:tav>
                                      </p:tavLst>
                                    </p:anim>
                                  </p:childTnLst>
                                </p:cTn>
                              </p:par>
                              <p:par>
                                <p:cTn id="36" presetID="53" presetClass="entr" presetSubtype="0" fill="hold" grpId="0" nodeType="withEffect">
                                  <p:stCondLst>
                                    <p:cond delay="1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650"/>
                                        <p:tgtEl>
                                          <p:spTgt spid="14"/>
                                        </p:tgtEl>
                                      </p:cBhvr>
                                    </p:animEffect>
                                    <p:anim calcmode="lin" valueType="num">
                                      <p:cBhvr additive="base">
                                        <p:cTn id="39" dur="650" fill="hold" decel="100000"/>
                                        <p:tgtEl>
                                          <p:spTgt spid="14"/>
                                        </p:tgtEl>
                                        <p:attrNameLst>
                                          <p:attrName>ppt_w</p:attrName>
                                        </p:attrNameLst>
                                      </p:cBhvr>
                                      <p:tavLst>
                                        <p:tav tm="0">
                                          <p:val>
                                            <p:strVal val="#ppt_w*0.6"/>
                                          </p:val>
                                        </p:tav>
                                        <p:tav tm="100000">
                                          <p:val>
                                            <p:strVal val="#ppt_w"/>
                                          </p:val>
                                        </p:tav>
                                      </p:tavLst>
                                    </p:anim>
                                    <p:anim calcmode="lin" valueType="num">
                                      <p:cBhvr additive="base">
                                        <p:cTn id="40" dur="650" fill="hold" decel="100000"/>
                                        <p:tgtEl>
                                          <p:spTgt spid="14"/>
                                        </p:tgtEl>
                                        <p:attrNameLst>
                                          <p:attrName>ppt_h</p:attrName>
                                        </p:attrNameLst>
                                      </p:cBhvr>
                                      <p:tavLst>
                                        <p:tav tm="0">
                                          <p:val>
                                            <p:strVal val="#ppt_h*0.6"/>
                                          </p:val>
                                        </p:tav>
                                        <p:tav tm="100000">
                                          <p:val>
                                            <p:strVal val="#ppt_h"/>
                                          </p:val>
                                        </p:tav>
                                      </p:tavLst>
                                    </p:anim>
                                  </p:childTnLst>
                                </p:cTn>
                              </p:par>
                              <p:par>
                                <p:cTn id="41" presetID="10" presetClass="entr" presetSubtype="0" fill="hold" grpId="0" nodeType="withEffect">
                                  <p:stCondLst>
                                    <p:cond delay="15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50"/>
                                        <p:tgtEl>
                                          <p:spTgt spid="15"/>
                                        </p:tgtEl>
                                      </p:cBhvr>
                                    </p:animEffect>
                                  </p:childTnLst>
                                </p:cTn>
                              </p:par>
                            </p:childTnLst>
                          </p:cTn>
                        </p:par>
                        <p:par>
                          <p:cTn id="57" fill="hold">
                            <p:stCondLst>
                              <p:cond delay="4450"/>
                            </p:stCondLst>
                            <p:childTnLst>
                              <p:par>
                                <p:cTn id="45" presetID="42" presetClass="entr" presetSubtype="0" fill="hold" grpId="0" nodeType="afterEffect">
                                  <p:stCondLst>
                                    <p:cond delay="20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50"/>
                                        <p:tgtEl>
                                          <p:spTgt spid="16"/>
                                        </p:tgtEl>
                                      </p:cBhvr>
                                    </p:animEffect>
                                    <p:anim calcmode="lin" valueType="num">
                                      <p:cBhvr additive="base">
                                        <p:cTn id="48" dur="900" fill="hold" decel="100000"/>
                                        <p:tgtEl>
                                          <p:spTgt spid="16"/>
                                        </p:tgtEl>
                                        <p:attrNameLst>
                                          <p:attrName>ppt_y</p:attrName>
                                        </p:attrNameLst>
                                      </p:cBhvr>
                                      <p:tavLst>
                                        <p:tav tm="0">
                                          <p:val>
                                            <p:strVal val="#ppt_y+0.18"/>
                                          </p:val>
                                        </p:tav>
                                        <p:tav tm="100000">
                                          <p:val>
                                            <p:strVal val="#ppt_y"/>
                                          </p:val>
                                        </p:tav>
                                      </p:tavLst>
                                    </p:anim>
                                  </p:childTnLst>
                                </p:cTn>
                              </p:par>
                              <p:par>
                                <p:cTn id="49" presetID="53" presetClass="entr" presetSubtype="0" fill="hold" grpId="0" nodeType="withEffect">
                                  <p:stCondLst>
                                    <p:cond delay="10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650"/>
                                        <p:tgtEl>
                                          <p:spTgt spid="17"/>
                                        </p:tgtEl>
                                      </p:cBhvr>
                                    </p:animEffect>
                                    <p:anim calcmode="lin" valueType="num">
                                      <p:cBhvr additive="base">
                                        <p:cTn id="52" dur="650" fill="hold" decel="100000"/>
                                        <p:tgtEl>
                                          <p:spTgt spid="17"/>
                                        </p:tgtEl>
                                        <p:attrNameLst>
                                          <p:attrName>ppt_w</p:attrName>
                                        </p:attrNameLst>
                                      </p:cBhvr>
                                      <p:tavLst>
                                        <p:tav tm="0">
                                          <p:val>
                                            <p:strVal val="#ppt_w*0.6"/>
                                          </p:val>
                                        </p:tav>
                                        <p:tav tm="100000">
                                          <p:val>
                                            <p:strVal val="#ppt_w"/>
                                          </p:val>
                                        </p:tav>
                                      </p:tavLst>
                                    </p:anim>
                                    <p:anim calcmode="lin" valueType="num">
                                      <p:cBhvr additive="base">
                                        <p:cTn id="53" dur="650" fill="hold" decel="100000"/>
                                        <p:tgtEl>
                                          <p:spTgt spid="17"/>
                                        </p:tgtEl>
                                        <p:attrNameLst>
                                          <p:attrName>ppt_h</p:attrName>
                                        </p:attrNameLst>
                                      </p:cBhvr>
                                      <p:tavLst>
                                        <p:tav tm="0">
                                          <p:val>
                                            <p:strVal val="#ppt_h*0.6"/>
                                          </p:val>
                                        </p:tav>
                                        <p:tav tm="100000">
                                          <p:val>
                                            <p:strVal val="#ppt_h"/>
                                          </p:val>
                                        </p:tav>
                                      </p:tavLst>
                                    </p:anim>
                                  </p:childTnLst>
                                </p:cTn>
                              </p:par>
                              <p:par>
                                <p:cTn id="54" presetID="10" presetClass="entr" presetSubtype="0" fill="hold" grpId="0" nodeType="withEffect">
                                  <p:stCondLst>
                                    <p:cond delay="15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6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59" repeatCount="indefinite" fill="hold" display="0">
                  <p:stCondLst>
                    <p:cond delay="indefinite"/>
                  </p:stCondLst>
                </p:cTn>
                <p:tgtEl>
                  <p:spTgt spid="3"/>
                </p:tgtEl>
              </p:cMediaNode>
            </p:video>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glow1"/>
          <p:cNvSpPr/>
          <p:nvPr/>
        </p:nvSpPr>
        <p:spPr>
          <a:xfrm>
            <a:off x="8686800" y="2286000"/>
            <a:ext cx="5486400" cy="5486400"/>
          </a:xfrm>
          <a:prstGeom prst="ellipse">
            <a:avLst/>
          </a:prstGeom>
          <a:solidFill>
            <a:schemeClr val="accent1">
              <a:alpha val="6000"/>
            </a:schemeClr>
          </a:solidFill>
          <a:ln/>
        </p:spPr>
      </p:sp>
      <p:sp>
        <p:nvSpPr>
          <p:cNvPr id="3" name="!!glow2"/>
          <p:cNvSpPr/>
          <p:nvPr/>
        </p:nvSpPr>
        <p:spPr>
          <a:xfrm>
            <a:off x="1828800" y="-2743200"/>
            <a:ext cx="5486400" cy="54864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LES OFFRES</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Trois formules, </a:t>
            </a:r>
            <a:pPr algn="l" indent="0" marL="0">
              <a:buNone/>
            </a:pPr>
            <a:r>
              <a:rPr lang="en-US" sz="3400" b="1" dirty="0">
                <a:solidFill>
                  <a:schemeClr val="accent1"/>
                </a:solidFill>
                <a:latin typeface="Arial Black" pitchFamily="34" charset="0"/>
                <a:ea typeface="Arial Black" pitchFamily="34" charset="-122"/>
                <a:cs typeface="Arial Black" pitchFamily="34" charset="-120"/>
              </a:rPr>
              <a:t>un seul objectif</a:t>
            </a:r>
            <a:endParaRPr lang="en-US" sz="3400" dirty="0"/>
          </a:p>
        </p:txBody>
      </p:sp>
      <p:sp>
        <p:nvSpPr>
          <p:cNvPr id="9" name="Offre 1"/>
          <p:cNvSpPr/>
          <p:nvPr/>
        </p:nvSpPr>
        <p:spPr>
          <a:xfrm>
            <a:off x="548640" y="2331720"/>
            <a:ext cx="2148840" cy="3611880"/>
          </a:xfrm>
          <a:prstGeom prst="roundRect">
            <a:avLst>
              <a:gd name="adj" fmla="val 5106"/>
            </a:avLst>
          </a:prstGeom>
          <a:solidFill>
            <a:schemeClr val="tx2"/>
          </a:solidFill>
          <a:ln w="12700">
            <a:solidFill>
              <a:schemeClr val="accent4"/>
            </a:solidFill>
            <a:prstDash val="solid"/>
          </a:ln>
          <a:effectLst>
            <a:outerShdw sx="100000" sy="100000" kx="0" ky="0" algn="bl" rotWithShape="0" blurRad="228600" dist="76200" dir="5400000">
              <a:srgbClr val="000000">
                <a:alpha val="45000"/>
              </a:srgbClr>
            </a:outerShdw>
          </a:effectLst>
        </p:spPr>
      </p:sp>
      <p:sp>
        <p:nvSpPr>
          <p:cNvPr id="10" name="Type 1"/>
          <p:cNvSpPr txBox="1"/>
          <p:nvPr/>
        </p:nvSpPr>
        <p:spPr>
          <a:xfrm>
            <a:off x="749808" y="2560320"/>
            <a:ext cx="1783080" cy="274320"/>
          </a:xfrm>
          <a:prstGeom prst="rect">
            <a:avLst/>
          </a:prstGeom>
          <a:noFill/>
          <a:ln/>
        </p:spPr>
        <p:txBody>
          <a:bodyPr wrap="square" lIns="0" tIns="0" rIns="0" bIns="0" rtlCol="0" anchor="ctr"/>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SITE VITRINE</a:t>
            </a:r>
            <a:endParaRPr lang="en-US" sz="1100" dirty="0"/>
          </a:p>
        </p:txBody>
      </p:sp>
      <p:sp>
        <p:nvSpPr>
          <p:cNvPr id="11" name="Nom 1"/>
          <p:cNvSpPr txBox="1"/>
          <p:nvPr/>
        </p:nvSpPr>
        <p:spPr>
          <a:xfrm>
            <a:off x="749808" y="2880360"/>
            <a:ext cx="1828800" cy="457200"/>
          </a:xfrm>
          <a:prstGeom prst="rect">
            <a:avLst/>
          </a:prstGeom>
          <a:noFill/>
          <a:ln/>
        </p:spPr>
        <p:txBody>
          <a:bodyPr wrap="square" lIns="0" tIns="0" rIns="0" bIns="0" rtlCol="0" anchor="ctr"/>
          <a:lstStyle/>
          <a:p>
            <a:pPr indent="0" marL="0">
              <a:buNone/>
            </a:pPr>
            <a:r>
              <a:rPr lang="en-US" sz="2000" dirty="0">
                <a:solidFill>
                  <a:schemeClr val="bg1"/>
                </a:solidFill>
                <a:latin typeface="Arial Black" pitchFamily="34" charset="0"/>
                <a:ea typeface="Arial Black" pitchFamily="34" charset="-122"/>
                <a:cs typeface="Arial Black" pitchFamily="34" charset="-120"/>
              </a:rPr>
              <a:t>Essentiel</a:t>
            </a:r>
            <a:endParaRPr lang="en-US" sz="2000" dirty="0"/>
          </a:p>
        </p:txBody>
      </p:sp>
      <p:sp>
        <p:nvSpPr>
          <p:cNvPr id="12" name="Prix 1"/>
          <p:cNvSpPr txBox="1"/>
          <p:nvPr/>
        </p:nvSpPr>
        <p:spPr>
          <a:xfrm>
            <a:off x="749808" y="3429000"/>
            <a:ext cx="1828800" cy="548640"/>
          </a:xfrm>
          <a:prstGeom prst="rect">
            <a:avLst/>
          </a:prstGeom>
          <a:noFill/>
          <a:ln/>
        </p:spPr>
        <p:txBody>
          <a:bodyPr wrap="square" lIns="0" tIns="0" rIns="0" bIns="0" rtlCol="0" anchor="ctr"/>
          <a:lstStyle/>
          <a:p>
            <a:pPr indent="0" marL="0">
              <a:buNone/>
            </a:pPr>
            <a:r>
              <a:rPr lang="en-US" sz="2400" dirty="0">
                <a:solidFill>
                  <a:schemeClr val="accent1"/>
                </a:solidFill>
                <a:latin typeface="Arial Black" pitchFamily="34" charset="0"/>
                <a:ea typeface="Arial Black" pitchFamily="34" charset="-122"/>
                <a:cs typeface="Arial Black" pitchFamily="34" charset="-120"/>
              </a:rPr>
              <a:t>dès 400 €</a:t>
            </a:r>
            <a:endParaRPr lang="en-US" sz="2400" dirty="0"/>
          </a:p>
        </p:txBody>
      </p:sp>
      <p:sp>
        <p:nvSpPr>
          <p:cNvPr id="13" name="Desc 1"/>
          <p:cNvSpPr txBox="1"/>
          <p:nvPr/>
        </p:nvSpPr>
        <p:spPr>
          <a:xfrm>
            <a:off x="749808" y="4206240"/>
            <a:ext cx="1783080" cy="1554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Ton activité, tes horaires, tes photos et un bouton pour t'appeler.</a:t>
            </a:r>
            <a:endParaRPr lang="en-US" sz="1300" dirty="0"/>
          </a:p>
        </p:txBody>
      </p:sp>
      <p:sp>
        <p:nvSpPr>
          <p:cNvPr id="14" name="Offre 2"/>
          <p:cNvSpPr/>
          <p:nvPr/>
        </p:nvSpPr>
        <p:spPr>
          <a:xfrm>
            <a:off x="2880360" y="2331720"/>
            <a:ext cx="2148840" cy="3611880"/>
          </a:xfrm>
          <a:prstGeom prst="roundRect">
            <a:avLst>
              <a:gd name="adj" fmla="val 5106"/>
            </a:avLst>
          </a:prstGeom>
          <a:solidFill>
            <a:schemeClr val="tx2"/>
          </a:solidFill>
          <a:ln w="12700">
            <a:solidFill>
              <a:schemeClr val="accent4"/>
            </a:solidFill>
            <a:prstDash val="solid"/>
          </a:ln>
          <a:effectLst>
            <a:outerShdw sx="100000" sy="100000" kx="0" ky="0" algn="bl" rotWithShape="0" blurRad="228600" dist="76200" dir="5400000">
              <a:srgbClr val="000000">
                <a:alpha val="45000"/>
              </a:srgbClr>
            </a:outerShdw>
          </a:effectLst>
        </p:spPr>
      </p:sp>
      <p:sp>
        <p:nvSpPr>
          <p:cNvPr id="15" name="Type 2"/>
          <p:cNvSpPr txBox="1"/>
          <p:nvPr/>
        </p:nvSpPr>
        <p:spPr>
          <a:xfrm>
            <a:off x="3081528" y="2560320"/>
            <a:ext cx="1783080" cy="274320"/>
          </a:xfrm>
          <a:prstGeom prst="rect">
            <a:avLst/>
          </a:prstGeom>
          <a:noFill/>
          <a:ln/>
        </p:spPr>
        <p:txBody>
          <a:bodyPr wrap="square" lIns="0" tIns="0" rIns="0" bIns="0" rtlCol="0" anchor="ctr"/>
          <a:lstStyle/>
          <a:p>
            <a:pPr indent="0" marL="0">
              <a:buNone/>
            </a:pPr>
            <a:r>
              <a:rPr lang="en-US" sz="1100" b="1" spc="200" kern="0" dirty="0">
                <a:solidFill>
                  <a:schemeClr val="accent1"/>
                </a:solidFill>
                <a:latin typeface="Courier New" pitchFamily="34" charset="0"/>
                <a:ea typeface="Courier New" pitchFamily="34" charset="-122"/>
                <a:cs typeface="Courier New" pitchFamily="34" charset="-120"/>
              </a:rPr>
              <a:t>E-COMMERCE</a:t>
            </a:r>
            <a:endParaRPr lang="en-US" sz="1100" dirty="0"/>
          </a:p>
        </p:txBody>
      </p:sp>
      <p:sp>
        <p:nvSpPr>
          <p:cNvPr id="16" name="Nom 2"/>
          <p:cNvSpPr txBox="1"/>
          <p:nvPr/>
        </p:nvSpPr>
        <p:spPr>
          <a:xfrm>
            <a:off x="3081528" y="2880360"/>
            <a:ext cx="1828800" cy="457200"/>
          </a:xfrm>
          <a:prstGeom prst="rect">
            <a:avLst/>
          </a:prstGeom>
          <a:noFill/>
          <a:ln/>
        </p:spPr>
        <p:txBody>
          <a:bodyPr wrap="square" lIns="0" tIns="0" rIns="0" bIns="0" rtlCol="0" anchor="ctr"/>
          <a:lstStyle/>
          <a:p>
            <a:pPr indent="0" marL="0">
              <a:buNone/>
            </a:pPr>
            <a:r>
              <a:rPr lang="en-US" sz="2000" dirty="0">
                <a:solidFill>
                  <a:schemeClr val="bg1"/>
                </a:solidFill>
                <a:latin typeface="Arial Black" pitchFamily="34" charset="0"/>
                <a:ea typeface="Arial Black" pitchFamily="34" charset="-122"/>
                <a:cs typeface="Arial Black" pitchFamily="34" charset="-120"/>
              </a:rPr>
              <a:t>Boutique</a:t>
            </a:r>
            <a:endParaRPr lang="en-US" sz="2000" dirty="0"/>
          </a:p>
        </p:txBody>
      </p:sp>
      <p:sp>
        <p:nvSpPr>
          <p:cNvPr id="17" name="Prix 2"/>
          <p:cNvSpPr txBox="1"/>
          <p:nvPr/>
        </p:nvSpPr>
        <p:spPr>
          <a:xfrm>
            <a:off x="3081528" y="3429000"/>
            <a:ext cx="1828800" cy="548640"/>
          </a:xfrm>
          <a:prstGeom prst="rect">
            <a:avLst/>
          </a:prstGeom>
          <a:noFill/>
          <a:ln/>
        </p:spPr>
        <p:txBody>
          <a:bodyPr wrap="square" lIns="0" tIns="0" rIns="0" bIns="0" rtlCol="0" anchor="ctr"/>
          <a:lstStyle/>
          <a:p>
            <a:pPr indent="0" marL="0">
              <a:buNone/>
            </a:pPr>
            <a:r>
              <a:rPr lang="en-US" sz="2400" dirty="0">
                <a:solidFill>
                  <a:schemeClr val="accent1"/>
                </a:solidFill>
                <a:latin typeface="Arial Black" pitchFamily="34" charset="0"/>
                <a:ea typeface="Arial Black" pitchFamily="34" charset="-122"/>
                <a:cs typeface="Arial Black" pitchFamily="34" charset="-120"/>
              </a:rPr>
              <a:t>sur devis</a:t>
            </a:r>
            <a:endParaRPr lang="en-US" sz="2400" dirty="0"/>
          </a:p>
        </p:txBody>
      </p:sp>
      <p:sp>
        <p:nvSpPr>
          <p:cNvPr id="18" name="Desc 2"/>
          <p:cNvSpPr txBox="1"/>
          <p:nvPr/>
        </p:nvSpPr>
        <p:spPr>
          <a:xfrm>
            <a:off x="3081528" y="4206240"/>
            <a:ext cx="1783080" cy="1554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Vente en ligne, click &amp; collect, paiement sécurisé, stocks.</a:t>
            </a:r>
            <a:endParaRPr lang="en-US" sz="1300" dirty="0"/>
          </a:p>
        </p:txBody>
      </p:sp>
      <p:sp>
        <p:nvSpPr>
          <p:cNvPr id="19" name="Offre 3"/>
          <p:cNvSpPr/>
          <p:nvPr/>
        </p:nvSpPr>
        <p:spPr>
          <a:xfrm>
            <a:off x="5212080" y="2331720"/>
            <a:ext cx="2148840" cy="3611880"/>
          </a:xfrm>
          <a:prstGeom prst="roundRect">
            <a:avLst>
              <a:gd name="adj" fmla="val 5106"/>
            </a:avLst>
          </a:prstGeom>
          <a:solidFill>
            <a:schemeClr val="accent1"/>
          </a:solidFill>
          <a:ln w="12700">
            <a:solidFill>
              <a:schemeClr val="accent1"/>
            </a:solidFill>
            <a:prstDash val="solid"/>
          </a:ln>
          <a:effectLst>
            <a:outerShdw sx="100000" sy="100000" kx="0" ky="0" algn="bl" rotWithShape="0" blurRad="228600" dist="76200" dir="5400000">
              <a:srgbClr val="000000">
                <a:alpha val="45000"/>
              </a:srgbClr>
            </a:outerShdw>
          </a:effectLst>
        </p:spPr>
      </p:sp>
      <p:sp>
        <p:nvSpPr>
          <p:cNvPr id="20" name="Type 3"/>
          <p:cNvSpPr txBox="1"/>
          <p:nvPr/>
        </p:nvSpPr>
        <p:spPr>
          <a:xfrm>
            <a:off x="5413248" y="2560320"/>
            <a:ext cx="1783080" cy="274320"/>
          </a:xfrm>
          <a:prstGeom prst="rect">
            <a:avLst/>
          </a:prstGeom>
          <a:noFill/>
          <a:ln/>
        </p:spPr>
        <p:txBody>
          <a:bodyPr wrap="square" lIns="0" tIns="0" rIns="0" bIns="0" rtlCol="0" anchor="ctr"/>
          <a:lstStyle/>
          <a:p>
            <a:pPr indent="0" marL="0">
              <a:buNone/>
            </a:pPr>
            <a:r>
              <a:rPr lang="en-US" sz="1100" b="1" spc="200" kern="0" dirty="0">
                <a:solidFill>
                  <a:schemeClr val="tx1"/>
                </a:solidFill>
                <a:latin typeface="Courier New" pitchFamily="34" charset="0"/>
                <a:ea typeface="Courier New" pitchFamily="34" charset="-122"/>
                <a:cs typeface="Courier New" pitchFamily="34" charset="-120"/>
              </a:rPr>
              <a:t>MOTION DESIGN</a:t>
            </a:r>
            <a:endParaRPr lang="en-US" sz="1100" dirty="0"/>
          </a:p>
        </p:txBody>
      </p:sp>
      <p:sp>
        <p:nvSpPr>
          <p:cNvPr id="21" name="Nom 3"/>
          <p:cNvSpPr txBox="1"/>
          <p:nvPr/>
        </p:nvSpPr>
        <p:spPr>
          <a:xfrm>
            <a:off x="5413248" y="2880360"/>
            <a:ext cx="1828800" cy="457200"/>
          </a:xfrm>
          <a:prstGeom prst="rect">
            <a:avLst/>
          </a:prstGeom>
          <a:noFill/>
          <a:ln/>
        </p:spPr>
        <p:txBody>
          <a:bodyPr wrap="square" lIns="0" tIns="0" rIns="0" bIns="0" rtlCol="0" anchor="ctr"/>
          <a:lstStyle/>
          <a:p>
            <a:pPr indent="0" marL="0">
              <a:buNone/>
            </a:pPr>
            <a:r>
              <a:rPr lang="en-US" sz="2000" dirty="0">
                <a:solidFill>
                  <a:schemeClr val="tx1"/>
                </a:solidFill>
                <a:latin typeface="Arial Black" pitchFamily="34" charset="0"/>
                <a:ea typeface="Arial Black" pitchFamily="34" charset="-122"/>
                <a:cs typeface="Arial Black" pitchFamily="34" charset="-120"/>
              </a:rPr>
              <a:t>Signature</a:t>
            </a:r>
            <a:endParaRPr lang="en-US" sz="2000" dirty="0"/>
          </a:p>
        </p:txBody>
      </p:sp>
      <p:sp>
        <p:nvSpPr>
          <p:cNvPr id="22" name="Prix 3"/>
          <p:cNvSpPr txBox="1"/>
          <p:nvPr/>
        </p:nvSpPr>
        <p:spPr>
          <a:xfrm>
            <a:off x="5413248" y="3429000"/>
            <a:ext cx="1828800" cy="548640"/>
          </a:xfrm>
          <a:prstGeom prst="rect">
            <a:avLst/>
          </a:prstGeom>
          <a:noFill/>
          <a:ln/>
        </p:spPr>
        <p:txBody>
          <a:bodyPr wrap="square" lIns="0" tIns="0" rIns="0" bIns="0" rtlCol="0" anchor="ctr"/>
          <a:lstStyle/>
          <a:p>
            <a:pPr indent="0" marL="0">
              <a:buNone/>
            </a:pPr>
            <a:r>
              <a:rPr lang="en-US" sz="2400" dirty="0">
                <a:solidFill>
                  <a:schemeClr val="tx1"/>
                </a:solidFill>
                <a:latin typeface="Arial Black" pitchFamily="34" charset="0"/>
                <a:ea typeface="Arial Black" pitchFamily="34" charset="-122"/>
                <a:cs typeface="Arial Black" pitchFamily="34" charset="-120"/>
              </a:rPr>
              <a:t>sur devis</a:t>
            </a:r>
            <a:endParaRPr lang="en-US" sz="2400" dirty="0"/>
          </a:p>
        </p:txBody>
      </p:sp>
      <p:sp>
        <p:nvSpPr>
          <p:cNvPr id="23" name="Desc 3"/>
          <p:cNvSpPr txBox="1"/>
          <p:nvPr/>
        </p:nvSpPr>
        <p:spPr>
          <a:xfrm>
            <a:off x="5413248" y="4206240"/>
            <a:ext cx="1783080" cy="155448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Un site sur mesure, animé, pour marquer les esprits.</a:t>
            </a:r>
            <a:endParaRPr lang="en-US" sz="13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4" fill="hold">
                      <p:stCondLst>
                        <p:cond delay="indefinite"/>
                        <p:cond evt="onBegin" delay="0">
                          <p:tn val="2"/>
                        </p:cond>
                      </p:stCondLst>
                      <p:childTnLst>
                        <p:par>
                          <p:cTn id="8" fill="hold">
                            <p:stCondLst>
                              <p:cond delay="0"/>
                            </p:stCondLst>
                            <p:childTnLst>
                              <p:par>
                                <p:cTn id="3" presetID="1" presetClass="mediacall" presetSubtype="0" fill="hold" nodeType="withEffect">
                                  <p:stCondLst>
                                    <p:cond delay="0"/>
                                  </p:stCondLst>
                                  <p:childTnLst>
                                    <p:cmd type="call" cmd="playFrom(0.0)">
                                      <p:cBhvr>
                                        <p:cTn id="4" dur="4000" fill="hold"/>
                                        <p:tgtEl>
                                          <p:spTgt spid="3"/>
                                        </p:tgtEl>
                                      </p:cBhvr>
                                    </p:cmd>
                                  </p:childTnLst>
                                </p:cTn>
                              </p:par>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childTnLst>
                                </p:cTn>
                              </p:par>
                            </p:childTnLst>
                          </p:cTn>
                        </p:par>
                        <p:par>
                          <p:cTn id="13" fill="hold">
                            <p:stCondLst>
                              <p:cond delay="650"/>
                            </p:stCondLst>
                            <p:childTnLst>
                              <p:par>
                                <p:cTn id="9" presetID="42" presetClass="entr" presetSubtype="0" fill="hold" grpId="0" nodeType="after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50"/>
                                        <p:tgtEl>
                                          <p:spTgt spid="8"/>
                                        </p:tgtEl>
                                      </p:cBhvr>
                                    </p:animEffect>
                                    <p:anim calcmode="lin" valueType="num">
                                      <p:cBhvr additive="base">
                                        <p:cTn id="12" dur="650" fill="hold" decel="100000"/>
                                        <p:tgtEl>
                                          <p:spTgt spid="8"/>
                                        </p:tgtEl>
                                        <p:attrNameLst>
                                          <p:attrName>ppt_y</p:attrName>
                                        </p:attrNameLst>
                                      </p:cBhvr>
                                      <p:tavLst>
                                        <p:tav tm="0">
                                          <p:val>
                                            <p:strVal val="#ppt_y+0.05"/>
                                          </p:val>
                                        </p:tav>
                                        <p:tav tm="100000">
                                          <p:val>
                                            <p:strVal val="#ppt_y"/>
                                          </p:val>
                                        </p:tav>
                                      </p:tavLst>
                                    </p:anim>
                                  </p:childTnLst>
                                </p:cTn>
                              </p:par>
                            </p:childTnLst>
                          </p:cTn>
                        </p:par>
                        <p:par>
                          <p:cTn id="33" fill="hold">
                            <p:stCondLst>
                              <p:cond delay="1400"/>
                            </p:stCondLst>
                            <p:childTnLst>
                              <p:par>
                                <p:cTn id="14" presetID="42" presetClass="entr" presetSubtype="0" fill="hold" grpId="0" nodeType="afterEffect">
                                  <p:stCondLst>
                                    <p:cond delay="25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50"/>
                                        <p:tgtEl>
                                          <p:spTgt spid="9"/>
                                        </p:tgtEl>
                                      </p:cBhvr>
                                    </p:animEffect>
                                    <p:anim calcmode="lin" valueType="num">
                                      <p:cBhvr additive="base">
                                        <p:cTn id="17" dur="900" fill="hold" decel="100000"/>
                                        <p:tgtEl>
                                          <p:spTgt spid="9"/>
                                        </p:tgtEl>
                                        <p:attrNameLst>
                                          <p:attrName>ppt_y</p:attrName>
                                        </p:attrNameLst>
                                      </p:cBhvr>
                                      <p:tavLst>
                                        <p:tav tm="0">
                                          <p:val>
                                            <p:strVal val="#ppt_y+0.18"/>
                                          </p:val>
                                        </p:tav>
                                        <p:tav tm="100000">
                                          <p:val>
                                            <p:strVal val="#ppt_y"/>
                                          </p:val>
                                        </p:tav>
                                      </p:tavLst>
                                    </p:anim>
                                  </p:childTnLst>
                                </p:cTn>
                              </p:par>
                              <p:par>
                                <p:cTn id="18" presetID="10" presetClass="entr" presetSubtype="0" fill="hold" grpId="0" nodeType="withEffect">
                                  <p:stCondLst>
                                    <p:cond delay="10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650"/>
                                        <p:tgtEl>
                                          <p:spTgt spid="10"/>
                                        </p:tgtEl>
                                      </p:cBhvr>
                                    </p:animEffect>
                                  </p:childTnLst>
                                </p:cTn>
                              </p:par>
                              <p:par>
                                <p:cTn id="21" presetID="42" presetClass="entr" presetSubtype="0" fill="hold" grpId="0" nodeType="withEffect">
                                  <p:stCondLst>
                                    <p:cond delay="1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650"/>
                                        <p:tgtEl>
                                          <p:spTgt spid="11"/>
                                        </p:tgtEl>
                                      </p:cBhvr>
                                    </p:animEffect>
                                    <p:anim calcmode="lin" valueType="num">
                                      <p:cBhvr additive="base">
                                        <p:cTn id="24" dur="650" fill="hold" decel="100000"/>
                                        <p:tgtEl>
                                          <p:spTgt spid="11"/>
                                        </p:tgtEl>
                                        <p:attrNameLst>
                                          <p:attrName>ppt_y</p:attrName>
                                        </p:attrNameLst>
                                      </p:cBhvr>
                                      <p:tavLst>
                                        <p:tav tm="0">
                                          <p:val>
                                            <p:strVal val="#ppt_y+0.05"/>
                                          </p:val>
                                        </p:tav>
                                        <p:tav tm="100000">
                                          <p:val>
                                            <p:strVal val="#ppt_y"/>
                                          </p:val>
                                        </p:tav>
                                      </p:tavLst>
                                    </p:anim>
                                  </p:childTnLst>
                                </p:cTn>
                              </p:par>
                              <p:par>
                                <p:cTn id="25" presetID="53" presetClass="entr" presetSubtype="0" fill="hold" grpId="0" nodeType="withEffect">
                                  <p:stCondLst>
                                    <p:cond delay="2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50"/>
                                        <p:tgtEl>
                                          <p:spTgt spid="12"/>
                                        </p:tgtEl>
                                      </p:cBhvr>
                                    </p:animEffect>
                                    <p:anim calcmode="lin" valueType="num">
                                      <p:cBhvr additive="base">
                                        <p:cTn id="28" dur="650" fill="hold" decel="100000"/>
                                        <p:tgtEl>
                                          <p:spTgt spid="12"/>
                                        </p:tgtEl>
                                        <p:attrNameLst>
                                          <p:attrName>ppt_w</p:attrName>
                                        </p:attrNameLst>
                                      </p:cBhvr>
                                      <p:tavLst>
                                        <p:tav tm="0">
                                          <p:val>
                                            <p:strVal val="#ppt_w*0.6"/>
                                          </p:val>
                                        </p:tav>
                                        <p:tav tm="100000">
                                          <p:val>
                                            <p:strVal val="#ppt_w"/>
                                          </p:val>
                                        </p:tav>
                                      </p:tavLst>
                                    </p:anim>
                                    <p:anim calcmode="lin" valueType="num">
                                      <p:cBhvr additive="base">
                                        <p:cTn id="29" dur="650" fill="hold" decel="100000"/>
                                        <p:tgtEl>
                                          <p:spTgt spid="12"/>
                                        </p:tgtEl>
                                        <p:attrNameLst>
                                          <p:attrName>ppt_h</p:attrName>
                                        </p:attrNameLst>
                                      </p:cBhvr>
                                      <p:tavLst>
                                        <p:tav tm="0">
                                          <p:val>
                                            <p:strVal val="#ppt_h*0.6"/>
                                          </p:val>
                                        </p:tav>
                                        <p:tav tm="100000">
                                          <p:val>
                                            <p:strVal val="#ppt_h"/>
                                          </p:val>
                                        </p:tav>
                                      </p:tavLst>
                                    </p:anim>
                                  </p:childTnLst>
                                </p:cTn>
                              </p:par>
                              <p:par>
                                <p:cTn id="30" presetID="10" presetClass="entr" presetSubtype="0" fill="hold" grpId="0" nodeType="withEffect">
                                  <p:stCondLst>
                                    <p:cond delay="25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50"/>
                                        <p:tgtEl>
                                          <p:spTgt spid="13"/>
                                        </p:tgtEl>
                                      </p:cBhvr>
                                    </p:animEffect>
                                  </p:childTnLst>
                                </p:cTn>
                              </p:par>
                            </p:childTnLst>
                          </p:cTn>
                        </p:par>
                        <p:par>
                          <p:cTn id="53" fill="hold">
                            <p:stCondLst>
                              <p:cond delay="2550"/>
                            </p:stCondLst>
                            <p:childTnLst>
                              <p:par>
                                <p:cTn id="34" presetID="42" presetClass="entr" presetSubtype="0" fill="hold" grpId="0" nodeType="afterEffect">
                                  <p:stCondLst>
                                    <p:cond delay="25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650"/>
                                        <p:tgtEl>
                                          <p:spTgt spid="14"/>
                                        </p:tgtEl>
                                      </p:cBhvr>
                                    </p:animEffect>
                                    <p:anim calcmode="lin" valueType="num">
                                      <p:cBhvr additive="base">
                                        <p:cTn id="37" dur="900" fill="hold" decel="100000"/>
                                        <p:tgtEl>
                                          <p:spTgt spid="14"/>
                                        </p:tgtEl>
                                        <p:attrNameLst>
                                          <p:attrName>ppt_y</p:attrName>
                                        </p:attrNameLst>
                                      </p:cBhvr>
                                      <p:tavLst>
                                        <p:tav tm="0">
                                          <p:val>
                                            <p:strVal val="#ppt_y+0.18"/>
                                          </p:val>
                                        </p:tav>
                                        <p:tav tm="100000">
                                          <p:val>
                                            <p:strVal val="#ppt_y"/>
                                          </p:val>
                                        </p:tav>
                                      </p:tavLst>
                                    </p:anim>
                                  </p:childTnLst>
                                </p:cTn>
                              </p:par>
                              <p:par>
                                <p:cTn id="38" presetID="10" presetClass="entr" presetSubtype="0" fill="hold" grpId="0" nodeType="withEffect">
                                  <p:stCondLst>
                                    <p:cond delay="1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50"/>
                                        <p:tgtEl>
                                          <p:spTgt spid="15"/>
                                        </p:tgtEl>
                                      </p:cBhvr>
                                    </p:animEffect>
                                  </p:childTnLst>
                                </p:cTn>
                              </p:par>
                              <p:par>
                                <p:cTn id="41" presetID="42" presetClass="entr" presetSubtype="0" fill="hold" grpId="0" nodeType="withEffect">
                                  <p:stCondLst>
                                    <p:cond delay="1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50"/>
                                        <p:tgtEl>
                                          <p:spTgt spid="16"/>
                                        </p:tgtEl>
                                      </p:cBhvr>
                                    </p:animEffect>
                                    <p:anim calcmode="lin" valueType="num">
                                      <p:cBhvr additive="base">
                                        <p:cTn id="44" dur="650" fill="hold" decel="100000"/>
                                        <p:tgtEl>
                                          <p:spTgt spid="16"/>
                                        </p:tgtEl>
                                        <p:attrNameLst>
                                          <p:attrName>ppt_y</p:attrName>
                                        </p:attrNameLst>
                                      </p:cBhvr>
                                      <p:tavLst>
                                        <p:tav tm="0">
                                          <p:val>
                                            <p:strVal val="#ppt_y+0.05"/>
                                          </p:val>
                                        </p:tav>
                                        <p:tav tm="100000">
                                          <p:val>
                                            <p:strVal val="#ppt_y"/>
                                          </p:val>
                                        </p:tav>
                                      </p:tavLst>
                                    </p:anim>
                                  </p:childTnLst>
                                </p:cTn>
                              </p:par>
                              <p:par>
                                <p:cTn id="45" presetID="53" presetClass="entr" presetSubtype="0" fill="hold" grpId="0" nodeType="withEffect">
                                  <p:stCondLst>
                                    <p:cond delay="20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650"/>
                                        <p:tgtEl>
                                          <p:spTgt spid="17"/>
                                        </p:tgtEl>
                                      </p:cBhvr>
                                    </p:animEffect>
                                    <p:anim calcmode="lin" valueType="num">
                                      <p:cBhvr additive="base">
                                        <p:cTn id="48" dur="650" fill="hold" decel="100000"/>
                                        <p:tgtEl>
                                          <p:spTgt spid="17"/>
                                        </p:tgtEl>
                                        <p:attrNameLst>
                                          <p:attrName>ppt_w</p:attrName>
                                        </p:attrNameLst>
                                      </p:cBhvr>
                                      <p:tavLst>
                                        <p:tav tm="0">
                                          <p:val>
                                            <p:strVal val="#ppt_w*0.6"/>
                                          </p:val>
                                        </p:tav>
                                        <p:tav tm="100000">
                                          <p:val>
                                            <p:strVal val="#ppt_w"/>
                                          </p:val>
                                        </p:tav>
                                      </p:tavLst>
                                    </p:anim>
                                    <p:anim calcmode="lin" valueType="num">
                                      <p:cBhvr additive="base">
                                        <p:cTn id="49" dur="650" fill="hold" decel="100000"/>
                                        <p:tgtEl>
                                          <p:spTgt spid="17"/>
                                        </p:tgtEl>
                                        <p:attrNameLst>
                                          <p:attrName>ppt_h</p:attrName>
                                        </p:attrNameLst>
                                      </p:cBhvr>
                                      <p:tavLst>
                                        <p:tav tm="0">
                                          <p:val>
                                            <p:strVal val="#ppt_h*0.6"/>
                                          </p:val>
                                        </p:tav>
                                        <p:tav tm="100000">
                                          <p:val>
                                            <p:strVal val="#ppt_h"/>
                                          </p:val>
                                        </p:tav>
                                      </p:tavLst>
                                    </p:anim>
                                  </p:childTnLst>
                                </p:cTn>
                              </p:par>
                              <p:par>
                                <p:cTn id="50" presetID="10" presetClass="entr" presetSubtype="0" fill="hold" grpId="0" nodeType="withEffect">
                                  <p:stCondLst>
                                    <p:cond delay="2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650"/>
                                        <p:tgtEl>
                                          <p:spTgt spid="18"/>
                                        </p:tgtEl>
                                      </p:cBhvr>
                                    </p:animEffect>
                                  </p:childTnLst>
                                </p:cTn>
                              </p:par>
                            </p:childTnLst>
                          </p:cTn>
                        </p:par>
                        <p:par>
                          <p:cTn id="73" fill="hold">
                            <p:stCondLst>
                              <p:cond delay="3700"/>
                            </p:stCondLst>
                            <p:childTnLst>
                              <p:par>
                                <p:cTn id="54" presetID="42" presetClass="entr" presetSubtype="0" fill="hold" grpId="0" nodeType="afterEffect">
                                  <p:stCondLst>
                                    <p:cond delay="25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650"/>
                                        <p:tgtEl>
                                          <p:spTgt spid="19"/>
                                        </p:tgtEl>
                                      </p:cBhvr>
                                    </p:animEffect>
                                    <p:anim calcmode="lin" valueType="num">
                                      <p:cBhvr additive="base">
                                        <p:cTn id="57" dur="900" fill="hold" decel="100000"/>
                                        <p:tgtEl>
                                          <p:spTgt spid="19"/>
                                        </p:tgtEl>
                                        <p:attrNameLst>
                                          <p:attrName>ppt_y</p:attrName>
                                        </p:attrNameLst>
                                      </p:cBhvr>
                                      <p:tavLst>
                                        <p:tav tm="0">
                                          <p:val>
                                            <p:strVal val="#ppt_y+0.18"/>
                                          </p:val>
                                        </p:tav>
                                        <p:tav tm="100000">
                                          <p:val>
                                            <p:strVal val="#ppt_y"/>
                                          </p:val>
                                        </p:tav>
                                      </p:tavLst>
                                    </p:anim>
                                  </p:childTnLst>
                                </p:cTn>
                              </p:par>
                              <p:par>
                                <p:cTn id="58" presetID="10" presetClass="entr" presetSubtype="0" fill="hold" grpId="0" nodeType="withEffect">
                                  <p:stCondLst>
                                    <p:cond delay="10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650"/>
                                        <p:tgtEl>
                                          <p:spTgt spid="20"/>
                                        </p:tgtEl>
                                      </p:cBhvr>
                                    </p:animEffect>
                                  </p:childTnLst>
                                </p:cTn>
                              </p:par>
                              <p:par>
                                <p:cTn id="61" presetID="42" presetClass="entr" presetSubtype="0" fill="hold" grpId="0" nodeType="withEffect">
                                  <p:stCondLst>
                                    <p:cond delay="10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650"/>
                                        <p:tgtEl>
                                          <p:spTgt spid="21"/>
                                        </p:tgtEl>
                                      </p:cBhvr>
                                    </p:animEffect>
                                    <p:anim calcmode="lin" valueType="num">
                                      <p:cBhvr additive="base">
                                        <p:cTn id="64" dur="650" fill="hold" decel="100000"/>
                                        <p:tgtEl>
                                          <p:spTgt spid="21"/>
                                        </p:tgtEl>
                                        <p:attrNameLst>
                                          <p:attrName>ppt_y</p:attrName>
                                        </p:attrNameLst>
                                      </p:cBhvr>
                                      <p:tavLst>
                                        <p:tav tm="0">
                                          <p:val>
                                            <p:strVal val="#ppt_y+0.05"/>
                                          </p:val>
                                        </p:tav>
                                        <p:tav tm="100000">
                                          <p:val>
                                            <p:strVal val="#ppt_y"/>
                                          </p:val>
                                        </p:tav>
                                      </p:tavLst>
                                    </p:anim>
                                  </p:childTnLst>
                                </p:cTn>
                              </p:par>
                              <p:par>
                                <p:cTn id="65" presetID="53" presetClass="entr" presetSubtype="0" fill="hold" grpId="0" nodeType="withEffect">
                                  <p:stCondLst>
                                    <p:cond delay="20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650"/>
                                        <p:tgtEl>
                                          <p:spTgt spid="22"/>
                                        </p:tgtEl>
                                      </p:cBhvr>
                                    </p:animEffect>
                                    <p:anim calcmode="lin" valueType="num">
                                      <p:cBhvr additive="base">
                                        <p:cTn id="68" dur="650" fill="hold" decel="100000"/>
                                        <p:tgtEl>
                                          <p:spTgt spid="22"/>
                                        </p:tgtEl>
                                        <p:attrNameLst>
                                          <p:attrName>ppt_w</p:attrName>
                                        </p:attrNameLst>
                                      </p:cBhvr>
                                      <p:tavLst>
                                        <p:tav tm="0">
                                          <p:val>
                                            <p:strVal val="#ppt_w*0.6"/>
                                          </p:val>
                                        </p:tav>
                                        <p:tav tm="100000">
                                          <p:val>
                                            <p:strVal val="#ppt_w"/>
                                          </p:val>
                                        </p:tav>
                                      </p:tavLst>
                                    </p:anim>
                                    <p:anim calcmode="lin" valueType="num">
                                      <p:cBhvr additive="base">
                                        <p:cTn id="69" dur="650" fill="hold" decel="100000"/>
                                        <p:tgtEl>
                                          <p:spTgt spid="22"/>
                                        </p:tgtEl>
                                        <p:attrNameLst>
                                          <p:attrName>ppt_h</p:attrName>
                                        </p:attrNameLst>
                                      </p:cBhvr>
                                      <p:tavLst>
                                        <p:tav tm="0">
                                          <p:val>
                                            <p:strVal val="#ppt_h*0.6"/>
                                          </p:val>
                                        </p:tav>
                                        <p:tav tm="100000">
                                          <p:val>
                                            <p:strVal val="#ppt_h"/>
                                          </p:val>
                                        </p:tav>
                                      </p:tavLst>
                                    </p:anim>
                                  </p:childTnLst>
                                </p:cTn>
                              </p:par>
                              <p:par>
                                <p:cTn id="70" presetID="10" presetClass="entr" presetSubtype="0" fill="hold" grpId="0" nodeType="withEffect">
                                  <p:stCondLst>
                                    <p:cond delay="25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6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5" repeatCount="indefinite" fill="hold" display="0">
                  <p:stCondLst>
                    <p:cond delay="indefinite"/>
                  </p:stCondLst>
                </p:cTn>
                <p:tgtEl>
                  <p:spTgt spid="3"/>
                </p:tgtEl>
              </p:cMediaNode>
            </p:video>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glow1"/>
          <p:cNvSpPr/>
          <p:nvPr/>
        </p:nvSpPr>
        <p:spPr>
          <a:xfrm>
            <a:off x="6858000" y="-1371600"/>
            <a:ext cx="6400800" cy="6400800"/>
          </a:xfrm>
          <a:prstGeom prst="ellipse">
            <a:avLst/>
          </a:prstGeom>
          <a:solidFill>
            <a:schemeClr val="accent1">
              <a:alpha val="6000"/>
            </a:schemeClr>
          </a:solidFill>
          <a:ln/>
        </p:spPr>
      </p:sp>
      <p:sp>
        <p:nvSpPr>
          <p:cNvPr id="3" name="!!glow2"/>
          <p:cNvSpPr/>
          <p:nvPr/>
        </p:nvSpPr>
        <p:spPr>
          <a:xfrm>
            <a:off x="-1828800" y="3200400"/>
            <a:ext cx="5486400" cy="54864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POURQUOI NOUS</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Six raisons de </a:t>
            </a:r>
            <a:pPr algn="l" indent="0" marL="0">
              <a:buNone/>
            </a:pPr>
            <a:r>
              <a:rPr lang="en-US" sz="3400" b="1" dirty="0">
                <a:solidFill>
                  <a:schemeClr val="accent1"/>
                </a:solidFill>
                <a:latin typeface="Arial Black" pitchFamily="34" charset="0"/>
                <a:ea typeface="Arial Black" pitchFamily="34" charset="-122"/>
                <a:cs typeface="Arial Black" pitchFamily="34" charset="-120"/>
              </a:rPr>
              <a:t>passer par Nexora</a:t>
            </a:r>
            <a:endParaRPr lang="en-US" sz="3400" dirty="0"/>
          </a:p>
        </p:txBody>
      </p:sp>
      <p:sp>
        <p:nvSpPr>
          <p:cNvPr id="9" name="Raison 1"/>
          <p:cNvSpPr/>
          <p:nvPr/>
        </p:nvSpPr>
        <p:spPr>
          <a:xfrm>
            <a:off x="548640" y="2377440"/>
            <a:ext cx="3291840" cy="1051560"/>
          </a:xfrm>
          <a:prstGeom prst="roundRect">
            <a:avLst>
              <a:gd name="adj" fmla="val 8696"/>
            </a:avLst>
          </a:prstGeom>
          <a:solidFill>
            <a:schemeClr val="tx2"/>
          </a:solidFill>
          <a:ln w="12700">
            <a:solidFill>
              <a:schemeClr val="accent4"/>
            </a:solidFill>
            <a:prstDash val="solid"/>
          </a:ln>
        </p:spPr>
      </p:sp>
      <p:sp>
        <p:nvSpPr>
          <p:cNvPr id="10" name="Rond 1"/>
          <p:cNvSpPr/>
          <p:nvPr/>
        </p:nvSpPr>
        <p:spPr>
          <a:xfrm>
            <a:off x="731520" y="2606040"/>
            <a:ext cx="594360" cy="594360"/>
          </a:xfrm>
          <a:prstGeom prst="ellipse">
            <a:avLst/>
          </a:prstGeom>
          <a:solidFill>
            <a:schemeClr val="accent3"/>
          </a:solidFill>
          <a:ln w="12700">
            <a:solidFill>
              <a:schemeClr val="accent1"/>
            </a:solidFill>
            <a:prstDash val="solid"/>
          </a:ln>
        </p:spPr>
      </p:sp>
      <p:pic>
        <p:nvPicPr>
          <p:cNvPr id="11" name="Picto 1" descr="Rapide">    </p:cNvPr>
          <p:cNvPicPr>
            <a:picLocks noChangeAspect="1"/>
          </p:cNvPicPr>
          <p:nvPr/>
        </p:nvPicPr>
        <p:blipFill>
          <a:blip r:embed="rId5"/>
          <a:stretch>
            <a:fillRect/>
          </a:stretch>
        </p:blipFill>
        <p:spPr>
          <a:xfrm>
            <a:off x="882396" y="2756916"/>
            <a:ext cx="292608" cy="292608"/>
          </a:xfrm>
          <a:prstGeom prst="rect">
            <a:avLst/>
          </a:prstGeom>
        </p:spPr>
      </p:pic>
      <p:sp>
        <p:nvSpPr>
          <p:cNvPr id="12" name="Raison titre 1"/>
          <p:cNvSpPr txBox="1"/>
          <p:nvPr/>
        </p:nvSpPr>
        <p:spPr>
          <a:xfrm>
            <a:off x="1508760" y="2542032"/>
            <a:ext cx="2194560" cy="347472"/>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Rapide</a:t>
            </a:r>
            <a:endParaRPr lang="en-US" sz="1600" dirty="0"/>
          </a:p>
        </p:txBody>
      </p:sp>
      <p:sp>
        <p:nvSpPr>
          <p:cNvPr id="13" name="Raison texte 1"/>
          <p:cNvSpPr txBox="1"/>
          <p:nvPr/>
        </p:nvSpPr>
        <p:spPr>
          <a:xfrm>
            <a:off x="1508760" y="2907792"/>
            <a:ext cx="2240280" cy="411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En ligne en 1 à 2 semaines.</a:t>
            </a:r>
            <a:endParaRPr lang="en-US" sz="1300" dirty="0"/>
          </a:p>
        </p:txBody>
      </p:sp>
      <p:sp>
        <p:nvSpPr>
          <p:cNvPr id="14" name="Raison 2"/>
          <p:cNvSpPr/>
          <p:nvPr/>
        </p:nvSpPr>
        <p:spPr>
          <a:xfrm>
            <a:off x="4023360" y="2377440"/>
            <a:ext cx="3291840" cy="1051560"/>
          </a:xfrm>
          <a:prstGeom prst="roundRect">
            <a:avLst>
              <a:gd name="adj" fmla="val 8696"/>
            </a:avLst>
          </a:prstGeom>
          <a:solidFill>
            <a:schemeClr val="tx2"/>
          </a:solidFill>
          <a:ln w="12700">
            <a:solidFill>
              <a:schemeClr val="accent4"/>
            </a:solidFill>
            <a:prstDash val="solid"/>
          </a:ln>
        </p:spPr>
      </p:sp>
      <p:sp>
        <p:nvSpPr>
          <p:cNvPr id="15" name="Rond 2"/>
          <p:cNvSpPr/>
          <p:nvPr/>
        </p:nvSpPr>
        <p:spPr>
          <a:xfrm>
            <a:off x="4206240" y="2606040"/>
            <a:ext cx="594360" cy="594360"/>
          </a:xfrm>
          <a:prstGeom prst="ellipse">
            <a:avLst/>
          </a:prstGeom>
          <a:solidFill>
            <a:schemeClr val="accent3"/>
          </a:solidFill>
          <a:ln w="12700">
            <a:solidFill>
              <a:schemeClr val="accent1"/>
            </a:solidFill>
            <a:prstDash val="solid"/>
          </a:ln>
        </p:spPr>
      </p:sp>
      <p:pic>
        <p:nvPicPr>
          <p:cNvPr id="16" name="Picto 2" descr="Prix clair">    </p:cNvPr>
          <p:cNvPicPr>
            <a:picLocks noChangeAspect="1"/>
          </p:cNvPicPr>
          <p:nvPr/>
        </p:nvPicPr>
        <p:blipFill>
          <a:blip r:embed="rId6"/>
          <a:stretch>
            <a:fillRect/>
          </a:stretch>
        </p:blipFill>
        <p:spPr>
          <a:xfrm>
            <a:off x="4357116" y="2756916"/>
            <a:ext cx="292608" cy="292608"/>
          </a:xfrm>
          <a:prstGeom prst="rect">
            <a:avLst/>
          </a:prstGeom>
        </p:spPr>
      </p:pic>
      <p:sp>
        <p:nvSpPr>
          <p:cNvPr id="17" name="Raison titre 2"/>
          <p:cNvSpPr txBox="1"/>
          <p:nvPr/>
        </p:nvSpPr>
        <p:spPr>
          <a:xfrm>
            <a:off x="4983480" y="2542032"/>
            <a:ext cx="2194560" cy="347472"/>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Prix clair</a:t>
            </a:r>
            <a:endParaRPr lang="en-US" sz="1600" dirty="0"/>
          </a:p>
        </p:txBody>
      </p:sp>
      <p:sp>
        <p:nvSpPr>
          <p:cNvPr id="18" name="Raison texte 2"/>
          <p:cNvSpPr txBox="1"/>
          <p:nvPr/>
        </p:nvSpPr>
        <p:spPr>
          <a:xfrm>
            <a:off x="4983480" y="2907792"/>
            <a:ext cx="2240280" cy="411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Dès 400 €, devis ligne par ligne.</a:t>
            </a:r>
            <a:endParaRPr lang="en-US" sz="1300" dirty="0"/>
          </a:p>
        </p:txBody>
      </p:sp>
      <p:sp>
        <p:nvSpPr>
          <p:cNvPr id="19" name="Raison 3"/>
          <p:cNvSpPr/>
          <p:nvPr/>
        </p:nvSpPr>
        <p:spPr>
          <a:xfrm>
            <a:off x="548640" y="3611880"/>
            <a:ext cx="3291840" cy="1051560"/>
          </a:xfrm>
          <a:prstGeom prst="roundRect">
            <a:avLst>
              <a:gd name="adj" fmla="val 8696"/>
            </a:avLst>
          </a:prstGeom>
          <a:solidFill>
            <a:schemeClr val="tx2"/>
          </a:solidFill>
          <a:ln w="12700">
            <a:solidFill>
              <a:schemeClr val="accent4"/>
            </a:solidFill>
            <a:prstDash val="solid"/>
          </a:ln>
        </p:spPr>
      </p:sp>
      <p:sp>
        <p:nvSpPr>
          <p:cNvPr id="20" name="Rond 3"/>
          <p:cNvSpPr/>
          <p:nvPr/>
        </p:nvSpPr>
        <p:spPr>
          <a:xfrm>
            <a:off x="731520" y="3840480"/>
            <a:ext cx="594360" cy="594360"/>
          </a:xfrm>
          <a:prstGeom prst="ellipse">
            <a:avLst/>
          </a:prstGeom>
          <a:solidFill>
            <a:schemeClr val="accent3"/>
          </a:solidFill>
          <a:ln w="12700">
            <a:solidFill>
              <a:schemeClr val="accent1"/>
            </a:solidFill>
            <a:prstDash val="solid"/>
          </a:ln>
        </p:spPr>
      </p:sp>
      <p:pic>
        <p:nvPicPr>
          <p:cNvPr id="21" name="Picto 3" descr="Local">    </p:cNvPr>
          <p:cNvPicPr>
            <a:picLocks noChangeAspect="1"/>
          </p:cNvPicPr>
          <p:nvPr/>
        </p:nvPicPr>
        <p:blipFill>
          <a:blip r:embed="rId7"/>
          <a:stretch>
            <a:fillRect/>
          </a:stretch>
        </p:blipFill>
        <p:spPr>
          <a:xfrm>
            <a:off x="882396" y="3991356"/>
            <a:ext cx="292608" cy="292608"/>
          </a:xfrm>
          <a:prstGeom prst="rect">
            <a:avLst/>
          </a:prstGeom>
        </p:spPr>
      </p:pic>
      <p:sp>
        <p:nvSpPr>
          <p:cNvPr id="22" name="Raison titre 3"/>
          <p:cNvSpPr txBox="1"/>
          <p:nvPr/>
        </p:nvSpPr>
        <p:spPr>
          <a:xfrm>
            <a:off x="1508760" y="3776472"/>
            <a:ext cx="2194560" cy="347472"/>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Local</a:t>
            </a:r>
            <a:endParaRPr lang="en-US" sz="1600" dirty="0"/>
          </a:p>
        </p:txBody>
      </p:sp>
      <p:sp>
        <p:nvSpPr>
          <p:cNvPr id="23" name="Raison texte 3"/>
          <p:cNvSpPr txBox="1"/>
          <p:nvPr/>
        </p:nvSpPr>
        <p:spPr>
          <a:xfrm>
            <a:off x="1508760" y="4142232"/>
            <a:ext cx="2240280" cy="411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Basé à Chambéry, disponible en vrai.</a:t>
            </a:r>
            <a:endParaRPr lang="en-US" sz="1300" dirty="0"/>
          </a:p>
        </p:txBody>
      </p:sp>
      <p:sp>
        <p:nvSpPr>
          <p:cNvPr id="24" name="Raison 4"/>
          <p:cNvSpPr/>
          <p:nvPr/>
        </p:nvSpPr>
        <p:spPr>
          <a:xfrm>
            <a:off x="4023360" y="3611880"/>
            <a:ext cx="3291840" cy="1051560"/>
          </a:xfrm>
          <a:prstGeom prst="roundRect">
            <a:avLst>
              <a:gd name="adj" fmla="val 8696"/>
            </a:avLst>
          </a:prstGeom>
          <a:solidFill>
            <a:schemeClr val="tx2"/>
          </a:solidFill>
          <a:ln w="12700">
            <a:solidFill>
              <a:schemeClr val="accent4"/>
            </a:solidFill>
            <a:prstDash val="solid"/>
          </a:ln>
        </p:spPr>
      </p:sp>
      <p:sp>
        <p:nvSpPr>
          <p:cNvPr id="25" name="Rond 4"/>
          <p:cNvSpPr/>
          <p:nvPr/>
        </p:nvSpPr>
        <p:spPr>
          <a:xfrm>
            <a:off x="4206240" y="3840480"/>
            <a:ext cx="594360" cy="594360"/>
          </a:xfrm>
          <a:prstGeom prst="ellipse">
            <a:avLst/>
          </a:prstGeom>
          <a:solidFill>
            <a:schemeClr val="accent3"/>
          </a:solidFill>
          <a:ln w="12700">
            <a:solidFill>
              <a:schemeClr val="accent1"/>
            </a:solidFill>
            <a:prstDash val="solid"/>
          </a:ln>
        </p:spPr>
      </p:sp>
      <p:pic>
        <p:nvPicPr>
          <p:cNvPr id="26" name="Picto 4" descr="Pensé mobile">    </p:cNvPr>
          <p:cNvPicPr>
            <a:picLocks noChangeAspect="1"/>
          </p:cNvPicPr>
          <p:nvPr/>
        </p:nvPicPr>
        <p:blipFill>
          <a:blip r:embed="rId8"/>
          <a:stretch>
            <a:fillRect/>
          </a:stretch>
        </p:blipFill>
        <p:spPr>
          <a:xfrm>
            <a:off x="4357116" y="3991356"/>
            <a:ext cx="292608" cy="292608"/>
          </a:xfrm>
          <a:prstGeom prst="rect">
            <a:avLst/>
          </a:prstGeom>
        </p:spPr>
      </p:pic>
      <p:sp>
        <p:nvSpPr>
          <p:cNvPr id="27" name="Raison titre 4"/>
          <p:cNvSpPr txBox="1"/>
          <p:nvPr/>
        </p:nvSpPr>
        <p:spPr>
          <a:xfrm>
            <a:off x="4983480" y="3776472"/>
            <a:ext cx="2194560" cy="347472"/>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Pensé mobile</a:t>
            </a:r>
            <a:endParaRPr lang="en-US" sz="1600" dirty="0"/>
          </a:p>
        </p:txBody>
      </p:sp>
      <p:sp>
        <p:nvSpPr>
          <p:cNvPr id="28" name="Raison texte 4"/>
          <p:cNvSpPr txBox="1"/>
          <p:nvPr/>
        </p:nvSpPr>
        <p:spPr>
          <a:xfrm>
            <a:off x="4983480" y="4142232"/>
            <a:ext cx="2240280" cy="411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Lisible et rapide sur téléphone.</a:t>
            </a:r>
            <a:endParaRPr lang="en-US" sz="1300" dirty="0"/>
          </a:p>
        </p:txBody>
      </p:sp>
      <p:sp>
        <p:nvSpPr>
          <p:cNvPr id="29" name="Raison 5"/>
          <p:cNvSpPr/>
          <p:nvPr/>
        </p:nvSpPr>
        <p:spPr>
          <a:xfrm>
            <a:off x="548640" y="4846320"/>
            <a:ext cx="3291840" cy="1051560"/>
          </a:xfrm>
          <a:prstGeom prst="roundRect">
            <a:avLst>
              <a:gd name="adj" fmla="val 8696"/>
            </a:avLst>
          </a:prstGeom>
          <a:solidFill>
            <a:schemeClr val="tx2"/>
          </a:solidFill>
          <a:ln w="12700">
            <a:solidFill>
              <a:schemeClr val="accent4"/>
            </a:solidFill>
            <a:prstDash val="solid"/>
          </a:ln>
        </p:spPr>
      </p:sp>
      <p:sp>
        <p:nvSpPr>
          <p:cNvPr id="30" name="Rond 5"/>
          <p:cNvSpPr/>
          <p:nvPr/>
        </p:nvSpPr>
        <p:spPr>
          <a:xfrm>
            <a:off x="731520" y="5074920"/>
            <a:ext cx="594360" cy="594360"/>
          </a:xfrm>
          <a:prstGeom prst="ellipse">
            <a:avLst/>
          </a:prstGeom>
          <a:solidFill>
            <a:schemeClr val="accent3"/>
          </a:solidFill>
          <a:ln w="12700">
            <a:solidFill>
              <a:schemeClr val="accent1"/>
            </a:solidFill>
            <a:prstDash val="solid"/>
          </a:ln>
        </p:spPr>
      </p:sp>
      <p:pic>
        <p:nvPicPr>
          <p:cNvPr id="31" name="Picto 5" descr="Motion design">    </p:cNvPr>
          <p:cNvPicPr>
            <a:picLocks noChangeAspect="1"/>
          </p:cNvPicPr>
          <p:nvPr/>
        </p:nvPicPr>
        <p:blipFill>
          <a:blip r:embed="rId9"/>
          <a:stretch>
            <a:fillRect/>
          </a:stretch>
        </p:blipFill>
        <p:spPr>
          <a:xfrm>
            <a:off x="882396" y="5225796"/>
            <a:ext cx="292608" cy="292608"/>
          </a:xfrm>
          <a:prstGeom prst="rect">
            <a:avLst/>
          </a:prstGeom>
        </p:spPr>
      </p:pic>
      <p:sp>
        <p:nvSpPr>
          <p:cNvPr id="32" name="Raison titre 5"/>
          <p:cNvSpPr txBox="1"/>
          <p:nvPr/>
        </p:nvSpPr>
        <p:spPr>
          <a:xfrm>
            <a:off x="1508760" y="5010912"/>
            <a:ext cx="2194560" cy="347472"/>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Motion design</a:t>
            </a:r>
            <a:endParaRPr lang="en-US" sz="1600" dirty="0"/>
          </a:p>
        </p:txBody>
      </p:sp>
      <p:sp>
        <p:nvSpPr>
          <p:cNvPr id="33" name="Raison texte 5"/>
          <p:cNvSpPr txBox="1"/>
          <p:nvPr/>
        </p:nvSpPr>
        <p:spPr>
          <a:xfrm>
            <a:off x="1508760" y="5376672"/>
            <a:ext cx="2240280" cy="411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Des animations qui marquent.</a:t>
            </a:r>
            <a:endParaRPr lang="en-US" sz="1300" dirty="0"/>
          </a:p>
        </p:txBody>
      </p:sp>
      <p:sp>
        <p:nvSpPr>
          <p:cNvPr id="34" name="Raison 6"/>
          <p:cNvSpPr/>
          <p:nvPr/>
        </p:nvSpPr>
        <p:spPr>
          <a:xfrm>
            <a:off x="4023360" y="4846320"/>
            <a:ext cx="3291840" cy="1051560"/>
          </a:xfrm>
          <a:prstGeom prst="roundRect">
            <a:avLst>
              <a:gd name="adj" fmla="val 8696"/>
            </a:avLst>
          </a:prstGeom>
          <a:solidFill>
            <a:schemeClr val="tx2"/>
          </a:solidFill>
          <a:ln w="12700">
            <a:solidFill>
              <a:schemeClr val="accent4"/>
            </a:solidFill>
            <a:prstDash val="solid"/>
          </a:ln>
        </p:spPr>
      </p:sp>
      <p:sp>
        <p:nvSpPr>
          <p:cNvPr id="35" name="Rond 6"/>
          <p:cNvSpPr/>
          <p:nvPr/>
        </p:nvSpPr>
        <p:spPr>
          <a:xfrm>
            <a:off x="4206240" y="5074920"/>
            <a:ext cx="594360" cy="594360"/>
          </a:xfrm>
          <a:prstGeom prst="ellipse">
            <a:avLst/>
          </a:prstGeom>
          <a:solidFill>
            <a:schemeClr val="accent3"/>
          </a:solidFill>
          <a:ln w="12700">
            <a:solidFill>
              <a:schemeClr val="accent1"/>
            </a:solidFill>
            <a:prstDash val="solid"/>
          </a:ln>
        </p:spPr>
      </p:sp>
      <p:pic>
        <p:nvPicPr>
          <p:cNvPr id="36" name="Picto 6" descr="Suivi">    </p:cNvPr>
          <p:cNvPicPr>
            <a:picLocks noChangeAspect="1"/>
          </p:cNvPicPr>
          <p:nvPr/>
        </p:nvPicPr>
        <p:blipFill>
          <a:blip r:embed="rId10"/>
          <a:stretch>
            <a:fillRect/>
          </a:stretch>
        </p:blipFill>
        <p:spPr>
          <a:xfrm>
            <a:off x="4357116" y="5225796"/>
            <a:ext cx="292608" cy="292608"/>
          </a:xfrm>
          <a:prstGeom prst="rect">
            <a:avLst/>
          </a:prstGeom>
        </p:spPr>
      </p:pic>
      <p:sp>
        <p:nvSpPr>
          <p:cNvPr id="37" name="Raison titre 6"/>
          <p:cNvSpPr txBox="1"/>
          <p:nvPr/>
        </p:nvSpPr>
        <p:spPr>
          <a:xfrm>
            <a:off x="4983480" y="5010912"/>
            <a:ext cx="2194560" cy="347472"/>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Suivi</a:t>
            </a:r>
            <a:endParaRPr lang="en-US" sz="1600" dirty="0"/>
          </a:p>
        </p:txBody>
      </p:sp>
      <p:sp>
        <p:nvSpPr>
          <p:cNvPr id="38" name="Raison texte 6"/>
          <p:cNvSpPr txBox="1"/>
          <p:nvPr/>
        </p:nvSpPr>
        <p:spPr>
          <a:xfrm>
            <a:off x="4983480" y="5376672"/>
            <a:ext cx="2240280" cy="411480"/>
          </a:xfrm>
          <a:prstGeom prst="rect">
            <a:avLst/>
          </a:prstGeom>
          <a:noFill/>
          <a:ln/>
        </p:spPr>
        <p:txBody>
          <a:bodyPr wrap="square" lIns="0" tIns="0" rIns="0" bIns="0" rtlCol="0" anchor="t"/>
          <a:lstStyle/>
          <a:p>
            <a:pPr indent="0" marL="0">
              <a:buNone/>
            </a:pPr>
            <a:r>
              <a:rPr lang="en-US" sz="1300" dirty="0">
                <a:solidFill>
                  <a:schemeClr val="bg2"/>
                </a:solidFill>
                <a:latin typeface="Arial" pitchFamily="34" charset="0"/>
                <a:ea typeface="Arial" pitchFamily="34" charset="-122"/>
                <a:cs typeface="Arial" pitchFamily="34" charset="-120"/>
              </a:rPr>
              <a:t>Tu demandes, je modifie.</a:t>
            </a:r>
            <a:endParaRPr lang="en-US" sz="13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52" fill="hold">
                      <p:stCondLst>
                        <p:cond delay="indefinite"/>
                        <p:cond evt="onBegin" delay="0">
                          <p:tn val="2"/>
                        </p:cond>
                      </p:stCondLst>
                      <p:childTnLst>
                        <p:par>
                          <p:cTn id="8" fill="hold">
                            <p:stCondLst>
                              <p:cond delay="0"/>
                            </p:stCondLst>
                            <p:childTnLst>
                              <p:par>
                                <p:cTn id="3" presetID="1" presetClass="mediacall" presetSubtype="0" fill="hold" nodeType="withEffect">
                                  <p:stCondLst>
                                    <p:cond delay="0"/>
                                  </p:stCondLst>
                                  <p:childTnLst>
                                    <p:cmd type="call" cmd="playFrom(0.0)">
                                      <p:cBhvr>
                                        <p:cTn id="4" dur="4000" fill="hold"/>
                                        <p:tgtEl>
                                          <p:spTgt spid="3"/>
                                        </p:tgtEl>
                                      </p:cBhvr>
                                    </p:cmd>
                                  </p:childTnLst>
                                </p:cTn>
                              </p:par>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childTnLst>
                                </p:cTn>
                              </p:par>
                            </p:childTnLst>
                          </p:cTn>
                        </p:par>
                        <p:par>
                          <p:cTn id="13" fill="hold">
                            <p:stCondLst>
                              <p:cond delay="650"/>
                            </p:stCondLst>
                            <p:childTnLst>
                              <p:par>
                                <p:cTn id="9" presetID="42" presetClass="entr" presetSubtype="0" fill="hold" grpId="0" nodeType="after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50"/>
                                        <p:tgtEl>
                                          <p:spTgt spid="8"/>
                                        </p:tgtEl>
                                      </p:cBhvr>
                                    </p:animEffect>
                                    <p:anim calcmode="lin" valueType="num">
                                      <p:cBhvr additive="base">
                                        <p:cTn id="12" dur="650" fill="hold" decel="100000"/>
                                        <p:tgtEl>
                                          <p:spTgt spid="8"/>
                                        </p:tgtEl>
                                        <p:attrNameLst>
                                          <p:attrName>ppt_y</p:attrName>
                                        </p:attrNameLst>
                                      </p:cBhvr>
                                      <p:tavLst>
                                        <p:tav tm="0">
                                          <p:val>
                                            <p:strVal val="#ppt_y+0.05"/>
                                          </p:val>
                                        </p:tav>
                                        <p:tav tm="100000">
                                          <p:val>
                                            <p:strVal val="#ppt_y"/>
                                          </p:val>
                                        </p:tav>
                                      </p:tavLst>
                                    </p:anim>
                                  </p:childTnLst>
                                </p:cTn>
                              </p:par>
                            </p:childTnLst>
                          </p:cTn>
                        </p:par>
                        <p:par>
                          <p:cTn id="36" fill="hold">
                            <p:stCondLst>
                              <p:cond delay="1400"/>
                            </p:stCondLst>
                            <p:childTnLst>
                              <p:par>
                                <p:cTn id="14" presetID="53" presetClass="entr" presetSubtype="0" fill="hold" grpId="0" nodeType="afterEffect">
                                  <p:stCondLst>
                                    <p:cond delay="15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50"/>
                                        <p:tgtEl>
                                          <p:spTgt spid="9"/>
                                        </p:tgtEl>
                                      </p:cBhvr>
                                    </p:animEffect>
                                    <p:anim calcmode="lin" valueType="num">
                                      <p:cBhvr additive="base">
                                        <p:cTn id="17" dur="650" fill="hold" decel="100000"/>
                                        <p:tgtEl>
                                          <p:spTgt spid="9"/>
                                        </p:tgtEl>
                                        <p:attrNameLst>
                                          <p:attrName>ppt_w</p:attrName>
                                        </p:attrNameLst>
                                      </p:cBhvr>
                                      <p:tavLst>
                                        <p:tav tm="0">
                                          <p:val>
                                            <p:strVal val="#ppt_w*0.6"/>
                                          </p:val>
                                        </p:tav>
                                        <p:tav tm="100000">
                                          <p:val>
                                            <p:strVal val="#ppt_w"/>
                                          </p:val>
                                        </p:tav>
                                      </p:tavLst>
                                    </p:anim>
                                    <p:anim calcmode="lin" valueType="num">
                                      <p:cBhvr additive="base">
                                        <p:cTn id="18" dur="650" fill="hold" decel="100000"/>
                                        <p:tgtEl>
                                          <p:spTgt spid="9"/>
                                        </p:tgtEl>
                                        <p:attrNameLst>
                                          <p:attrName>ppt_h</p:attrName>
                                        </p:attrNameLst>
                                      </p:cBhvr>
                                      <p:tavLst>
                                        <p:tav tm="0">
                                          <p:val>
                                            <p:strVal val="#ppt_h*0.6"/>
                                          </p:val>
                                        </p:tav>
                                        <p:tav tm="100000">
                                          <p:val>
                                            <p:strVal val="#ppt_h"/>
                                          </p:val>
                                        </p:tav>
                                      </p:tavLst>
                                    </p:anim>
                                  </p:childTnLst>
                                </p:cTn>
                              </p:par>
                              <p:par>
                                <p:cTn id="19" presetID="53" presetClass="entr" presetSubtype="0" fill="hold" grpId="0" nodeType="withEffect">
                                  <p:stCondLst>
                                    <p:cond delay="5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50"/>
                                        <p:tgtEl>
                                          <p:spTgt spid="10"/>
                                        </p:tgtEl>
                                      </p:cBhvr>
                                    </p:animEffect>
                                    <p:anim calcmode="lin" valueType="num">
                                      <p:cBhvr additive="base">
                                        <p:cTn id="22" dur="650" fill="hold" decel="100000"/>
                                        <p:tgtEl>
                                          <p:spTgt spid="10"/>
                                        </p:tgtEl>
                                        <p:attrNameLst>
                                          <p:attrName>ppt_w</p:attrName>
                                        </p:attrNameLst>
                                      </p:cBhvr>
                                      <p:tavLst>
                                        <p:tav tm="0">
                                          <p:val>
                                            <p:strVal val="#ppt_w*0.6"/>
                                          </p:val>
                                        </p:tav>
                                        <p:tav tm="100000">
                                          <p:val>
                                            <p:strVal val="#ppt_w"/>
                                          </p:val>
                                        </p:tav>
                                      </p:tavLst>
                                    </p:anim>
                                    <p:anim calcmode="lin" valueType="num">
                                      <p:cBhvr additive="base">
                                        <p:cTn id="23" dur="650" fill="hold" decel="100000"/>
                                        <p:tgtEl>
                                          <p:spTgt spid="10"/>
                                        </p:tgtEl>
                                        <p:attrNameLst>
                                          <p:attrName>ppt_h</p:attrName>
                                        </p:attrNameLst>
                                      </p:cBhvr>
                                      <p:tavLst>
                                        <p:tav tm="0">
                                          <p:val>
                                            <p:strVal val="#ppt_h*0.6"/>
                                          </p:val>
                                        </p:tav>
                                        <p:tav tm="100000">
                                          <p:val>
                                            <p:strVal val="#ppt_h"/>
                                          </p:val>
                                        </p:tav>
                                      </p:tavLst>
                                    </p:anim>
                                  </p:childTnLst>
                                </p:cTn>
                              </p:par>
                              <p:par>
                                <p:cTn id="24" presetID="53" presetClass="entr" presetSubtype="0" fill="hold" grpId="0" nodeType="withEffect">
                                  <p:stCondLst>
                                    <p:cond delay="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50"/>
                                        <p:tgtEl>
                                          <p:spTgt spid="11"/>
                                        </p:tgtEl>
                                      </p:cBhvr>
                                    </p:animEffect>
                                    <p:anim calcmode="lin" valueType="num">
                                      <p:cBhvr additive="base">
                                        <p:cTn id="27" dur="650" fill="hold" decel="100000"/>
                                        <p:tgtEl>
                                          <p:spTgt spid="11"/>
                                        </p:tgtEl>
                                        <p:attrNameLst>
                                          <p:attrName>ppt_w</p:attrName>
                                        </p:attrNameLst>
                                      </p:cBhvr>
                                      <p:tavLst>
                                        <p:tav tm="0">
                                          <p:val>
                                            <p:strVal val="#ppt_w*0.6"/>
                                          </p:val>
                                        </p:tav>
                                        <p:tav tm="100000">
                                          <p:val>
                                            <p:strVal val="#ppt_w"/>
                                          </p:val>
                                        </p:tav>
                                      </p:tavLst>
                                    </p:anim>
                                    <p:anim calcmode="lin" valueType="num">
                                      <p:cBhvr additive="base">
                                        <p:cTn id="28" dur="650" fill="hold" decel="100000"/>
                                        <p:tgtEl>
                                          <p:spTgt spid="11"/>
                                        </p:tgtEl>
                                        <p:attrNameLst>
                                          <p:attrName>ppt_h</p:attrName>
                                        </p:attrNameLst>
                                      </p:cBhvr>
                                      <p:tavLst>
                                        <p:tav tm="0">
                                          <p:val>
                                            <p:strVal val="#ppt_h*0.6"/>
                                          </p:val>
                                        </p:tav>
                                        <p:tav tm="100000">
                                          <p:val>
                                            <p:strVal val="#ppt_h"/>
                                          </p:val>
                                        </p:tav>
                                      </p:tavLst>
                                    </p:anim>
                                    <p:animRot by="-21600000">
                                      <p:cBhvr>
                                        <p:cTn id="29" dur="650" fill="hold" decel="100000"/>
                                        <p:tgtEl>
                                          <p:spTgt spid="11"/>
                                        </p:tgtEl>
                                        <p:attrNameLst>
                                          <p:attrName>r</p:attrName>
                                        </p:attrNameLst>
                                      </p:cBhvr>
                                    </p:animRot>
                                  </p:childTnLst>
                                </p:cTn>
                              </p:par>
                              <p:par>
                                <p:cTn id="30" presetID="10" presetClass="entr" presetSubtype="0" fill="hold" grpId="0" nodeType="withEffect">
                                  <p:stCondLst>
                                    <p:cond delay="10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650"/>
                                        <p:tgtEl>
                                          <p:spTgt spid="12"/>
                                        </p:tgtEl>
                                      </p:cBhvr>
                                    </p:animEffect>
                                  </p:childTnLst>
                                </p:cTn>
                              </p:par>
                              <p:par>
                                <p:cTn id="33" presetID="10" presetClass="entr" presetSubtype="0" fill="hold" grpId="0" nodeType="withEffect">
                                  <p:stCondLst>
                                    <p:cond delay="1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650"/>
                                        <p:tgtEl>
                                          <p:spTgt spid="13"/>
                                        </p:tgtEl>
                                      </p:cBhvr>
                                    </p:animEffect>
                                  </p:childTnLst>
                                </p:cTn>
                              </p:par>
                            </p:childTnLst>
                          </p:cTn>
                        </p:par>
                        <p:par>
                          <p:cTn id="59" fill="hold">
                            <p:stCondLst>
                              <p:cond delay="2200"/>
                            </p:stCondLst>
                            <p:childTnLst>
                              <p:par>
                                <p:cTn id="37" presetID="53" presetClass="entr" presetSubtype="0" fill="hold" grpId="0" nodeType="afterEffect">
                                  <p:stCondLst>
                                    <p:cond delay="1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50"/>
                                        <p:tgtEl>
                                          <p:spTgt spid="14"/>
                                        </p:tgtEl>
                                      </p:cBhvr>
                                    </p:animEffect>
                                    <p:anim calcmode="lin" valueType="num">
                                      <p:cBhvr additive="base">
                                        <p:cTn id="40" dur="650" fill="hold" decel="100000"/>
                                        <p:tgtEl>
                                          <p:spTgt spid="14"/>
                                        </p:tgtEl>
                                        <p:attrNameLst>
                                          <p:attrName>ppt_w</p:attrName>
                                        </p:attrNameLst>
                                      </p:cBhvr>
                                      <p:tavLst>
                                        <p:tav tm="0">
                                          <p:val>
                                            <p:strVal val="#ppt_w*0.6"/>
                                          </p:val>
                                        </p:tav>
                                        <p:tav tm="100000">
                                          <p:val>
                                            <p:strVal val="#ppt_w"/>
                                          </p:val>
                                        </p:tav>
                                      </p:tavLst>
                                    </p:anim>
                                    <p:anim calcmode="lin" valueType="num">
                                      <p:cBhvr additive="base">
                                        <p:cTn id="41" dur="650" fill="hold" decel="100000"/>
                                        <p:tgtEl>
                                          <p:spTgt spid="14"/>
                                        </p:tgtEl>
                                        <p:attrNameLst>
                                          <p:attrName>ppt_h</p:attrName>
                                        </p:attrNameLst>
                                      </p:cBhvr>
                                      <p:tavLst>
                                        <p:tav tm="0">
                                          <p:val>
                                            <p:strVal val="#ppt_h*0.6"/>
                                          </p:val>
                                        </p:tav>
                                        <p:tav tm="100000">
                                          <p:val>
                                            <p:strVal val="#ppt_h"/>
                                          </p:val>
                                        </p:tav>
                                      </p:tavLst>
                                    </p:anim>
                                  </p:childTnLst>
                                </p:cTn>
                              </p:par>
                              <p:par>
                                <p:cTn id="42" presetID="53" presetClass="entr" presetSubtype="0" fill="hold" grpId="0" nodeType="withEffect">
                                  <p:stCondLst>
                                    <p:cond delay="5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650"/>
                                        <p:tgtEl>
                                          <p:spTgt spid="15"/>
                                        </p:tgtEl>
                                      </p:cBhvr>
                                    </p:animEffect>
                                    <p:anim calcmode="lin" valueType="num">
                                      <p:cBhvr additive="base">
                                        <p:cTn id="45" dur="650" fill="hold" decel="100000"/>
                                        <p:tgtEl>
                                          <p:spTgt spid="15"/>
                                        </p:tgtEl>
                                        <p:attrNameLst>
                                          <p:attrName>ppt_w</p:attrName>
                                        </p:attrNameLst>
                                      </p:cBhvr>
                                      <p:tavLst>
                                        <p:tav tm="0">
                                          <p:val>
                                            <p:strVal val="#ppt_w*0.6"/>
                                          </p:val>
                                        </p:tav>
                                        <p:tav tm="100000">
                                          <p:val>
                                            <p:strVal val="#ppt_w"/>
                                          </p:val>
                                        </p:tav>
                                      </p:tavLst>
                                    </p:anim>
                                    <p:anim calcmode="lin" valueType="num">
                                      <p:cBhvr additive="base">
                                        <p:cTn id="46" dur="650" fill="hold" decel="100000"/>
                                        <p:tgtEl>
                                          <p:spTgt spid="15"/>
                                        </p:tgtEl>
                                        <p:attrNameLst>
                                          <p:attrName>ppt_h</p:attrName>
                                        </p:attrNameLst>
                                      </p:cBhvr>
                                      <p:tavLst>
                                        <p:tav tm="0">
                                          <p:val>
                                            <p:strVal val="#ppt_h*0.6"/>
                                          </p:val>
                                        </p:tav>
                                        <p:tav tm="100000">
                                          <p:val>
                                            <p:strVal val="#ppt_h"/>
                                          </p:val>
                                        </p:tav>
                                      </p:tavLst>
                                    </p:anim>
                                  </p:childTnLst>
                                </p:cTn>
                              </p:par>
                              <p:par>
                                <p:cTn id="47" presetID="53" presetClass="entr" presetSubtype="0" fill="hold" grpId="0" nodeType="withEffect">
                                  <p:stCondLst>
                                    <p:cond delay="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650"/>
                                        <p:tgtEl>
                                          <p:spTgt spid="16"/>
                                        </p:tgtEl>
                                      </p:cBhvr>
                                    </p:animEffect>
                                    <p:anim calcmode="lin" valueType="num">
                                      <p:cBhvr additive="base">
                                        <p:cTn id="50" dur="650" fill="hold" decel="100000"/>
                                        <p:tgtEl>
                                          <p:spTgt spid="16"/>
                                        </p:tgtEl>
                                        <p:attrNameLst>
                                          <p:attrName>ppt_w</p:attrName>
                                        </p:attrNameLst>
                                      </p:cBhvr>
                                      <p:tavLst>
                                        <p:tav tm="0">
                                          <p:val>
                                            <p:strVal val="#ppt_w*0.6"/>
                                          </p:val>
                                        </p:tav>
                                        <p:tav tm="100000">
                                          <p:val>
                                            <p:strVal val="#ppt_w"/>
                                          </p:val>
                                        </p:tav>
                                      </p:tavLst>
                                    </p:anim>
                                    <p:anim calcmode="lin" valueType="num">
                                      <p:cBhvr additive="base">
                                        <p:cTn id="51" dur="650" fill="hold" decel="100000"/>
                                        <p:tgtEl>
                                          <p:spTgt spid="16"/>
                                        </p:tgtEl>
                                        <p:attrNameLst>
                                          <p:attrName>ppt_h</p:attrName>
                                        </p:attrNameLst>
                                      </p:cBhvr>
                                      <p:tavLst>
                                        <p:tav tm="0">
                                          <p:val>
                                            <p:strVal val="#ppt_h*0.6"/>
                                          </p:val>
                                        </p:tav>
                                        <p:tav tm="100000">
                                          <p:val>
                                            <p:strVal val="#ppt_h"/>
                                          </p:val>
                                        </p:tav>
                                      </p:tavLst>
                                    </p:anim>
                                    <p:animRot by="-21600000">
                                      <p:cBhvr>
                                        <p:cTn id="52" dur="650" fill="hold" decel="100000"/>
                                        <p:tgtEl>
                                          <p:spTgt spid="16"/>
                                        </p:tgtEl>
                                        <p:attrNameLst>
                                          <p:attrName>r</p:attrName>
                                        </p:attrNameLst>
                                      </p:cBhvr>
                                    </p:animRot>
                                  </p:childTnLst>
                                </p:cTn>
                              </p:par>
                              <p:par>
                                <p:cTn id="53" presetID="10" presetClass="entr" presetSubtype="0" fill="hold" grpId="0" nodeType="withEffect">
                                  <p:stCondLst>
                                    <p:cond delay="10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650"/>
                                        <p:tgtEl>
                                          <p:spTgt spid="17"/>
                                        </p:tgtEl>
                                      </p:cBhvr>
                                    </p:animEffect>
                                  </p:childTnLst>
                                </p:cTn>
                              </p:par>
                              <p:par>
                                <p:cTn id="56" presetID="10" presetClass="entr" presetSubtype="0" fill="hold" grpId="0" nodeType="withEffect">
                                  <p:stCondLst>
                                    <p:cond delay="15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650"/>
                                        <p:tgtEl>
                                          <p:spTgt spid="18"/>
                                        </p:tgtEl>
                                      </p:cBhvr>
                                    </p:animEffect>
                                  </p:childTnLst>
                                </p:cTn>
                              </p:par>
                            </p:childTnLst>
                          </p:cTn>
                        </p:par>
                        <p:par>
                          <p:cTn id="82" fill="hold">
                            <p:stCondLst>
                              <p:cond delay="3000"/>
                            </p:stCondLst>
                            <p:childTnLst>
                              <p:par>
                                <p:cTn id="60" presetID="53" presetClass="entr" presetSubtype="0" fill="hold" grpId="0" nodeType="afterEffect">
                                  <p:stCondLst>
                                    <p:cond delay="15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50"/>
                                        <p:tgtEl>
                                          <p:spTgt spid="19"/>
                                        </p:tgtEl>
                                      </p:cBhvr>
                                    </p:animEffect>
                                    <p:anim calcmode="lin" valueType="num">
                                      <p:cBhvr additive="base">
                                        <p:cTn id="63" dur="650" fill="hold" decel="100000"/>
                                        <p:tgtEl>
                                          <p:spTgt spid="19"/>
                                        </p:tgtEl>
                                        <p:attrNameLst>
                                          <p:attrName>ppt_w</p:attrName>
                                        </p:attrNameLst>
                                      </p:cBhvr>
                                      <p:tavLst>
                                        <p:tav tm="0">
                                          <p:val>
                                            <p:strVal val="#ppt_w*0.6"/>
                                          </p:val>
                                        </p:tav>
                                        <p:tav tm="100000">
                                          <p:val>
                                            <p:strVal val="#ppt_w"/>
                                          </p:val>
                                        </p:tav>
                                      </p:tavLst>
                                    </p:anim>
                                    <p:anim calcmode="lin" valueType="num">
                                      <p:cBhvr additive="base">
                                        <p:cTn id="64" dur="650" fill="hold" decel="100000"/>
                                        <p:tgtEl>
                                          <p:spTgt spid="19"/>
                                        </p:tgtEl>
                                        <p:attrNameLst>
                                          <p:attrName>ppt_h</p:attrName>
                                        </p:attrNameLst>
                                      </p:cBhvr>
                                      <p:tavLst>
                                        <p:tav tm="0">
                                          <p:val>
                                            <p:strVal val="#ppt_h*0.6"/>
                                          </p:val>
                                        </p:tav>
                                        <p:tav tm="100000">
                                          <p:val>
                                            <p:strVal val="#ppt_h"/>
                                          </p:val>
                                        </p:tav>
                                      </p:tavLst>
                                    </p:anim>
                                  </p:childTnLst>
                                </p:cTn>
                              </p:par>
                              <p:par>
                                <p:cTn id="65" presetID="53" presetClass="entr" presetSubtype="0" fill="hold" grpId="0" nodeType="withEffect">
                                  <p:stCondLst>
                                    <p:cond delay="5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650"/>
                                        <p:tgtEl>
                                          <p:spTgt spid="20"/>
                                        </p:tgtEl>
                                      </p:cBhvr>
                                    </p:animEffect>
                                    <p:anim calcmode="lin" valueType="num">
                                      <p:cBhvr additive="base">
                                        <p:cTn id="68" dur="650" fill="hold" decel="100000"/>
                                        <p:tgtEl>
                                          <p:spTgt spid="20"/>
                                        </p:tgtEl>
                                        <p:attrNameLst>
                                          <p:attrName>ppt_w</p:attrName>
                                        </p:attrNameLst>
                                      </p:cBhvr>
                                      <p:tavLst>
                                        <p:tav tm="0">
                                          <p:val>
                                            <p:strVal val="#ppt_w*0.6"/>
                                          </p:val>
                                        </p:tav>
                                        <p:tav tm="100000">
                                          <p:val>
                                            <p:strVal val="#ppt_w"/>
                                          </p:val>
                                        </p:tav>
                                      </p:tavLst>
                                    </p:anim>
                                    <p:anim calcmode="lin" valueType="num">
                                      <p:cBhvr additive="base">
                                        <p:cTn id="69" dur="650" fill="hold" decel="100000"/>
                                        <p:tgtEl>
                                          <p:spTgt spid="20"/>
                                        </p:tgtEl>
                                        <p:attrNameLst>
                                          <p:attrName>ppt_h</p:attrName>
                                        </p:attrNameLst>
                                      </p:cBhvr>
                                      <p:tavLst>
                                        <p:tav tm="0">
                                          <p:val>
                                            <p:strVal val="#ppt_h*0.6"/>
                                          </p:val>
                                        </p:tav>
                                        <p:tav tm="100000">
                                          <p:val>
                                            <p:strVal val="#ppt_h"/>
                                          </p:val>
                                        </p:tav>
                                      </p:tavLst>
                                    </p:anim>
                                  </p:childTnLst>
                                </p:cTn>
                              </p:par>
                              <p:par>
                                <p:cTn id="70" presetID="53" presetClass="entr" presetSubtype="0" fill="hold" grpId="0" nodeType="withEffect">
                                  <p:stCondLst>
                                    <p:cond delay="5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650"/>
                                        <p:tgtEl>
                                          <p:spTgt spid="21"/>
                                        </p:tgtEl>
                                      </p:cBhvr>
                                    </p:animEffect>
                                    <p:anim calcmode="lin" valueType="num">
                                      <p:cBhvr additive="base">
                                        <p:cTn id="73" dur="650" fill="hold" decel="100000"/>
                                        <p:tgtEl>
                                          <p:spTgt spid="21"/>
                                        </p:tgtEl>
                                        <p:attrNameLst>
                                          <p:attrName>ppt_w</p:attrName>
                                        </p:attrNameLst>
                                      </p:cBhvr>
                                      <p:tavLst>
                                        <p:tav tm="0">
                                          <p:val>
                                            <p:strVal val="#ppt_w*0.6"/>
                                          </p:val>
                                        </p:tav>
                                        <p:tav tm="100000">
                                          <p:val>
                                            <p:strVal val="#ppt_w"/>
                                          </p:val>
                                        </p:tav>
                                      </p:tavLst>
                                    </p:anim>
                                    <p:anim calcmode="lin" valueType="num">
                                      <p:cBhvr additive="base">
                                        <p:cTn id="74" dur="650" fill="hold" decel="100000"/>
                                        <p:tgtEl>
                                          <p:spTgt spid="21"/>
                                        </p:tgtEl>
                                        <p:attrNameLst>
                                          <p:attrName>ppt_h</p:attrName>
                                        </p:attrNameLst>
                                      </p:cBhvr>
                                      <p:tavLst>
                                        <p:tav tm="0">
                                          <p:val>
                                            <p:strVal val="#ppt_h*0.6"/>
                                          </p:val>
                                        </p:tav>
                                        <p:tav tm="100000">
                                          <p:val>
                                            <p:strVal val="#ppt_h"/>
                                          </p:val>
                                        </p:tav>
                                      </p:tavLst>
                                    </p:anim>
                                    <p:animRot by="-21600000">
                                      <p:cBhvr>
                                        <p:cTn id="75" dur="650" fill="hold" decel="100000"/>
                                        <p:tgtEl>
                                          <p:spTgt spid="21"/>
                                        </p:tgtEl>
                                        <p:attrNameLst>
                                          <p:attrName>r</p:attrName>
                                        </p:attrNameLst>
                                      </p:cBhvr>
                                    </p:animRot>
                                  </p:childTnLst>
                                </p:cTn>
                              </p:par>
                              <p:par>
                                <p:cTn id="76" presetID="10" presetClass="entr" presetSubtype="0" fill="hold" grpId="0" nodeType="withEffect">
                                  <p:stCondLst>
                                    <p:cond delay="10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650"/>
                                        <p:tgtEl>
                                          <p:spTgt spid="22"/>
                                        </p:tgtEl>
                                      </p:cBhvr>
                                    </p:animEffect>
                                  </p:childTnLst>
                                </p:cTn>
                              </p:par>
                              <p:par>
                                <p:cTn id="79" presetID="10" presetClass="entr" presetSubtype="0" fill="hold" grpId="0" nodeType="withEffect">
                                  <p:stCondLst>
                                    <p:cond delay="15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650"/>
                                        <p:tgtEl>
                                          <p:spTgt spid="23"/>
                                        </p:tgtEl>
                                      </p:cBhvr>
                                    </p:animEffect>
                                  </p:childTnLst>
                                </p:cTn>
                              </p:par>
                            </p:childTnLst>
                          </p:cTn>
                        </p:par>
                        <p:par>
                          <p:cTn id="105" fill="hold">
                            <p:stCondLst>
                              <p:cond delay="3800"/>
                            </p:stCondLst>
                            <p:childTnLst>
                              <p:par>
                                <p:cTn id="83" presetID="53" presetClass="entr" presetSubtype="0" fill="hold" grpId="0" nodeType="afterEffect">
                                  <p:stCondLst>
                                    <p:cond delay="150"/>
                                  </p:stCondLst>
                                  <p:childTnLst>
                                    <p:set>
                                      <p:cBhvr>
                                        <p:cTn id="84" dur="1" fill="hold">
                                          <p:stCondLst>
                                            <p:cond delay="0"/>
                                          </p:stCondLst>
                                        </p:cTn>
                                        <p:tgtEl>
                                          <p:spTgt spid="24"/>
                                        </p:tgtEl>
                                        <p:attrNameLst>
                                          <p:attrName>style.visibility</p:attrName>
                                        </p:attrNameLst>
                                      </p:cBhvr>
                                      <p:to>
                                        <p:strVal val="visible"/>
                                      </p:to>
                                    </p:set>
                                    <p:animEffect transition="in" filter="fade">
                                      <p:cBhvr>
                                        <p:cTn id="85" dur="650"/>
                                        <p:tgtEl>
                                          <p:spTgt spid="24"/>
                                        </p:tgtEl>
                                      </p:cBhvr>
                                    </p:animEffect>
                                    <p:anim calcmode="lin" valueType="num">
                                      <p:cBhvr additive="base">
                                        <p:cTn id="86" dur="650" fill="hold" decel="100000"/>
                                        <p:tgtEl>
                                          <p:spTgt spid="24"/>
                                        </p:tgtEl>
                                        <p:attrNameLst>
                                          <p:attrName>ppt_w</p:attrName>
                                        </p:attrNameLst>
                                      </p:cBhvr>
                                      <p:tavLst>
                                        <p:tav tm="0">
                                          <p:val>
                                            <p:strVal val="#ppt_w*0.6"/>
                                          </p:val>
                                        </p:tav>
                                        <p:tav tm="100000">
                                          <p:val>
                                            <p:strVal val="#ppt_w"/>
                                          </p:val>
                                        </p:tav>
                                      </p:tavLst>
                                    </p:anim>
                                    <p:anim calcmode="lin" valueType="num">
                                      <p:cBhvr additive="base">
                                        <p:cTn id="87" dur="650" fill="hold" decel="100000"/>
                                        <p:tgtEl>
                                          <p:spTgt spid="24"/>
                                        </p:tgtEl>
                                        <p:attrNameLst>
                                          <p:attrName>ppt_h</p:attrName>
                                        </p:attrNameLst>
                                      </p:cBhvr>
                                      <p:tavLst>
                                        <p:tav tm="0">
                                          <p:val>
                                            <p:strVal val="#ppt_h*0.6"/>
                                          </p:val>
                                        </p:tav>
                                        <p:tav tm="100000">
                                          <p:val>
                                            <p:strVal val="#ppt_h"/>
                                          </p:val>
                                        </p:tav>
                                      </p:tavLst>
                                    </p:anim>
                                  </p:childTnLst>
                                </p:cTn>
                              </p:par>
                              <p:par>
                                <p:cTn id="88" presetID="53" presetClass="entr" presetSubtype="0" fill="hold" grpId="0" nodeType="withEffect">
                                  <p:stCondLst>
                                    <p:cond delay="5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650"/>
                                        <p:tgtEl>
                                          <p:spTgt spid="25"/>
                                        </p:tgtEl>
                                      </p:cBhvr>
                                    </p:animEffect>
                                    <p:anim calcmode="lin" valueType="num">
                                      <p:cBhvr additive="base">
                                        <p:cTn id="91" dur="650" fill="hold" decel="100000"/>
                                        <p:tgtEl>
                                          <p:spTgt spid="25"/>
                                        </p:tgtEl>
                                        <p:attrNameLst>
                                          <p:attrName>ppt_w</p:attrName>
                                        </p:attrNameLst>
                                      </p:cBhvr>
                                      <p:tavLst>
                                        <p:tav tm="0">
                                          <p:val>
                                            <p:strVal val="#ppt_w*0.6"/>
                                          </p:val>
                                        </p:tav>
                                        <p:tav tm="100000">
                                          <p:val>
                                            <p:strVal val="#ppt_w"/>
                                          </p:val>
                                        </p:tav>
                                      </p:tavLst>
                                    </p:anim>
                                    <p:anim calcmode="lin" valueType="num">
                                      <p:cBhvr additive="base">
                                        <p:cTn id="92" dur="650" fill="hold" decel="100000"/>
                                        <p:tgtEl>
                                          <p:spTgt spid="25"/>
                                        </p:tgtEl>
                                        <p:attrNameLst>
                                          <p:attrName>ppt_h</p:attrName>
                                        </p:attrNameLst>
                                      </p:cBhvr>
                                      <p:tavLst>
                                        <p:tav tm="0">
                                          <p:val>
                                            <p:strVal val="#ppt_h*0.6"/>
                                          </p:val>
                                        </p:tav>
                                        <p:tav tm="100000">
                                          <p:val>
                                            <p:strVal val="#ppt_h"/>
                                          </p:val>
                                        </p:tav>
                                      </p:tavLst>
                                    </p:anim>
                                  </p:childTnLst>
                                </p:cTn>
                              </p:par>
                              <p:par>
                                <p:cTn id="93" presetID="53" presetClass="entr" presetSubtype="0" fill="hold" grpId="0" nodeType="withEffect">
                                  <p:stCondLst>
                                    <p:cond delay="5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650"/>
                                        <p:tgtEl>
                                          <p:spTgt spid="26"/>
                                        </p:tgtEl>
                                      </p:cBhvr>
                                    </p:animEffect>
                                    <p:anim calcmode="lin" valueType="num">
                                      <p:cBhvr additive="base">
                                        <p:cTn id="96" dur="650" fill="hold" decel="100000"/>
                                        <p:tgtEl>
                                          <p:spTgt spid="26"/>
                                        </p:tgtEl>
                                        <p:attrNameLst>
                                          <p:attrName>ppt_w</p:attrName>
                                        </p:attrNameLst>
                                      </p:cBhvr>
                                      <p:tavLst>
                                        <p:tav tm="0">
                                          <p:val>
                                            <p:strVal val="#ppt_w*0.6"/>
                                          </p:val>
                                        </p:tav>
                                        <p:tav tm="100000">
                                          <p:val>
                                            <p:strVal val="#ppt_w"/>
                                          </p:val>
                                        </p:tav>
                                      </p:tavLst>
                                    </p:anim>
                                    <p:anim calcmode="lin" valueType="num">
                                      <p:cBhvr additive="base">
                                        <p:cTn id="97" dur="650" fill="hold" decel="100000"/>
                                        <p:tgtEl>
                                          <p:spTgt spid="26"/>
                                        </p:tgtEl>
                                        <p:attrNameLst>
                                          <p:attrName>ppt_h</p:attrName>
                                        </p:attrNameLst>
                                      </p:cBhvr>
                                      <p:tavLst>
                                        <p:tav tm="0">
                                          <p:val>
                                            <p:strVal val="#ppt_h*0.6"/>
                                          </p:val>
                                        </p:tav>
                                        <p:tav tm="100000">
                                          <p:val>
                                            <p:strVal val="#ppt_h"/>
                                          </p:val>
                                        </p:tav>
                                      </p:tavLst>
                                    </p:anim>
                                    <p:animRot by="-21600000">
                                      <p:cBhvr>
                                        <p:cTn id="98" dur="650" fill="hold" decel="100000"/>
                                        <p:tgtEl>
                                          <p:spTgt spid="26"/>
                                        </p:tgtEl>
                                        <p:attrNameLst>
                                          <p:attrName>r</p:attrName>
                                        </p:attrNameLst>
                                      </p:cBhvr>
                                    </p:animRot>
                                  </p:childTnLst>
                                </p:cTn>
                              </p:par>
                              <p:par>
                                <p:cTn id="99" presetID="10" presetClass="entr" presetSubtype="0" fill="hold" grpId="0" nodeType="withEffect">
                                  <p:stCondLst>
                                    <p:cond delay="100"/>
                                  </p:stCondLst>
                                  <p:childTnLst>
                                    <p:set>
                                      <p:cBhvr>
                                        <p:cTn id="100" dur="1" fill="hold">
                                          <p:stCondLst>
                                            <p:cond delay="0"/>
                                          </p:stCondLst>
                                        </p:cTn>
                                        <p:tgtEl>
                                          <p:spTgt spid="27"/>
                                        </p:tgtEl>
                                        <p:attrNameLst>
                                          <p:attrName>style.visibility</p:attrName>
                                        </p:attrNameLst>
                                      </p:cBhvr>
                                      <p:to>
                                        <p:strVal val="visible"/>
                                      </p:to>
                                    </p:set>
                                    <p:animEffect transition="in" filter="fade">
                                      <p:cBhvr>
                                        <p:cTn id="101" dur="650"/>
                                        <p:tgtEl>
                                          <p:spTgt spid="27"/>
                                        </p:tgtEl>
                                      </p:cBhvr>
                                    </p:animEffect>
                                  </p:childTnLst>
                                </p:cTn>
                              </p:par>
                              <p:par>
                                <p:cTn id="102" presetID="10" presetClass="entr" presetSubtype="0" fill="hold" grpId="0" nodeType="withEffect">
                                  <p:stCondLst>
                                    <p:cond delay="150"/>
                                  </p:stCondLst>
                                  <p:childTnLst>
                                    <p:set>
                                      <p:cBhvr>
                                        <p:cTn id="103" dur="1" fill="hold">
                                          <p:stCondLst>
                                            <p:cond delay="0"/>
                                          </p:stCondLst>
                                        </p:cTn>
                                        <p:tgtEl>
                                          <p:spTgt spid="28"/>
                                        </p:tgtEl>
                                        <p:attrNameLst>
                                          <p:attrName>style.visibility</p:attrName>
                                        </p:attrNameLst>
                                      </p:cBhvr>
                                      <p:to>
                                        <p:strVal val="visible"/>
                                      </p:to>
                                    </p:set>
                                    <p:animEffect transition="in" filter="fade">
                                      <p:cBhvr>
                                        <p:cTn id="104" dur="650"/>
                                        <p:tgtEl>
                                          <p:spTgt spid="28"/>
                                        </p:tgtEl>
                                      </p:cBhvr>
                                    </p:animEffect>
                                  </p:childTnLst>
                                </p:cTn>
                              </p:par>
                            </p:childTnLst>
                          </p:cTn>
                        </p:par>
                        <p:par>
                          <p:cTn id="128" fill="hold">
                            <p:stCondLst>
                              <p:cond delay="4600"/>
                            </p:stCondLst>
                            <p:childTnLst>
                              <p:par>
                                <p:cTn id="106" presetID="53" presetClass="entr" presetSubtype="0" fill="hold" grpId="0" nodeType="afterEffect">
                                  <p:stCondLst>
                                    <p:cond delay="150"/>
                                  </p:stCondLst>
                                  <p:childTnLst>
                                    <p:set>
                                      <p:cBhvr>
                                        <p:cTn id="107" dur="1" fill="hold">
                                          <p:stCondLst>
                                            <p:cond delay="0"/>
                                          </p:stCondLst>
                                        </p:cTn>
                                        <p:tgtEl>
                                          <p:spTgt spid="29"/>
                                        </p:tgtEl>
                                        <p:attrNameLst>
                                          <p:attrName>style.visibility</p:attrName>
                                        </p:attrNameLst>
                                      </p:cBhvr>
                                      <p:to>
                                        <p:strVal val="visible"/>
                                      </p:to>
                                    </p:set>
                                    <p:animEffect transition="in" filter="fade">
                                      <p:cBhvr>
                                        <p:cTn id="108" dur="650"/>
                                        <p:tgtEl>
                                          <p:spTgt spid="29"/>
                                        </p:tgtEl>
                                      </p:cBhvr>
                                    </p:animEffect>
                                    <p:anim calcmode="lin" valueType="num">
                                      <p:cBhvr additive="base">
                                        <p:cTn id="109" dur="650" fill="hold" decel="100000"/>
                                        <p:tgtEl>
                                          <p:spTgt spid="29"/>
                                        </p:tgtEl>
                                        <p:attrNameLst>
                                          <p:attrName>ppt_w</p:attrName>
                                        </p:attrNameLst>
                                      </p:cBhvr>
                                      <p:tavLst>
                                        <p:tav tm="0">
                                          <p:val>
                                            <p:strVal val="#ppt_w*0.6"/>
                                          </p:val>
                                        </p:tav>
                                        <p:tav tm="100000">
                                          <p:val>
                                            <p:strVal val="#ppt_w"/>
                                          </p:val>
                                        </p:tav>
                                      </p:tavLst>
                                    </p:anim>
                                    <p:anim calcmode="lin" valueType="num">
                                      <p:cBhvr additive="base">
                                        <p:cTn id="110" dur="650" fill="hold" decel="100000"/>
                                        <p:tgtEl>
                                          <p:spTgt spid="29"/>
                                        </p:tgtEl>
                                        <p:attrNameLst>
                                          <p:attrName>ppt_h</p:attrName>
                                        </p:attrNameLst>
                                      </p:cBhvr>
                                      <p:tavLst>
                                        <p:tav tm="0">
                                          <p:val>
                                            <p:strVal val="#ppt_h*0.6"/>
                                          </p:val>
                                        </p:tav>
                                        <p:tav tm="100000">
                                          <p:val>
                                            <p:strVal val="#ppt_h"/>
                                          </p:val>
                                        </p:tav>
                                      </p:tavLst>
                                    </p:anim>
                                  </p:childTnLst>
                                </p:cTn>
                              </p:par>
                              <p:par>
                                <p:cTn id="111" presetID="53" presetClass="entr" presetSubtype="0" fill="hold" grpId="0" nodeType="withEffect">
                                  <p:stCondLst>
                                    <p:cond delay="50"/>
                                  </p:stCondLst>
                                  <p:childTnLst>
                                    <p:set>
                                      <p:cBhvr>
                                        <p:cTn id="112" dur="1" fill="hold">
                                          <p:stCondLst>
                                            <p:cond delay="0"/>
                                          </p:stCondLst>
                                        </p:cTn>
                                        <p:tgtEl>
                                          <p:spTgt spid="30"/>
                                        </p:tgtEl>
                                        <p:attrNameLst>
                                          <p:attrName>style.visibility</p:attrName>
                                        </p:attrNameLst>
                                      </p:cBhvr>
                                      <p:to>
                                        <p:strVal val="visible"/>
                                      </p:to>
                                    </p:set>
                                    <p:animEffect transition="in" filter="fade">
                                      <p:cBhvr>
                                        <p:cTn id="113" dur="650"/>
                                        <p:tgtEl>
                                          <p:spTgt spid="30"/>
                                        </p:tgtEl>
                                      </p:cBhvr>
                                    </p:animEffect>
                                    <p:anim calcmode="lin" valueType="num">
                                      <p:cBhvr additive="base">
                                        <p:cTn id="114" dur="650" fill="hold" decel="100000"/>
                                        <p:tgtEl>
                                          <p:spTgt spid="30"/>
                                        </p:tgtEl>
                                        <p:attrNameLst>
                                          <p:attrName>ppt_w</p:attrName>
                                        </p:attrNameLst>
                                      </p:cBhvr>
                                      <p:tavLst>
                                        <p:tav tm="0">
                                          <p:val>
                                            <p:strVal val="#ppt_w*0.6"/>
                                          </p:val>
                                        </p:tav>
                                        <p:tav tm="100000">
                                          <p:val>
                                            <p:strVal val="#ppt_w"/>
                                          </p:val>
                                        </p:tav>
                                      </p:tavLst>
                                    </p:anim>
                                    <p:anim calcmode="lin" valueType="num">
                                      <p:cBhvr additive="base">
                                        <p:cTn id="115" dur="650" fill="hold" decel="100000"/>
                                        <p:tgtEl>
                                          <p:spTgt spid="30"/>
                                        </p:tgtEl>
                                        <p:attrNameLst>
                                          <p:attrName>ppt_h</p:attrName>
                                        </p:attrNameLst>
                                      </p:cBhvr>
                                      <p:tavLst>
                                        <p:tav tm="0">
                                          <p:val>
                                            <p:strVal val="#ppt_h*0.6"/>
                                          </p:val>
                                        </p:tav>
                                        <p:tav tm="100000">
                                          <p:val>
                                            <p:strVal val="#ppt_h"/>
                                          </p:val>
                                        </p:tav>
                                      </p:tavLst>
                                    </p:anim>
                                  </p:childTnLst>
                                </p:cTn>
                              </p:par>
                              <p:par>
                                <p:cTn id="116" presetID="53" presetClass="entr" presetSubtype="0" fill="hold" grpId="0" nodeType="withEffect">
                                  <p:stCondLst>
                                    <p:cond delay="5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650"/>
                                        <p:tgtEl>
                                          <p:spTgt spid="31"/>
                                        </p:tgtEl>
                                      </p:cBhvr>
                                    </p:animEffect>
                                    <p:anim calcmode="lin" valueType="num">
                                      <p:cBhvr additive="base">
                                        <p:cTn id="119" dur="650" fill="hold" decel="100000"/>
                                        <p:tgtEl>
                                          <p:spTgt spid="31"/>
                                        </p:tgtEl>
                                        <p:attrNameLst>
                                          <p:attrName>ppt_w</p:attrName>
                                        </p:attrNameLst>
                                      </p:cBhvr>
                                      <p:tavLst>
                                        <p:tav tm="0">
                                          <p:val>
                                            <p:strVal val="#ppt_w*0.6"/>
                                          </p:val>
                                        </p:tav>
                                        <p:tav tm="100000">
                                          <p:val>
                                            <p:strVal val="#ppt_w"/>
                                          </p:val>
                                        </p:tav>
                                      </p:tavLst>
                                    </p:anim>
                                    <p:anim calcmode="lin" valueType="num">
                                      <p:cBhvr additive="base">
                                        <p:cTn id="120" dur="650" fill="hold" decel="100000"/>
                                        <p:tgtEl>
                                          <p:spTgt spid="31"/>
                                        </p:tgtEl>
                                        <p:attrNameLst>
                                          <p:attrName>ppt_h</p:attrName>
                                        </p:attrNameLst>
                                      </p:cBhvr>
                                      <p:tavLst>
                                        <p:tav tm="0">
                                          <p:val>
                                            <p:strVal val="#ppt_h*0.6"/>
                                          </p:val>
                                        </p:tav>
                                        <p:tav tm="100000">
                                          <p:val>
                                            <p:strVal val="#ppt_h"/>
                                          </p:val>
                                        </p:tav>
                                      </p:tavLst>
                                    </p:anim>
                                    <p:animRot by="-21600000">
                                      <p:cBhvr>
                                        <p:cTn id="121" dur="650" fill="hold" decel="100000"/>
                                        <p:tgtEl>
                                          <p:spTgt spid="31"/>
                                        </p:tgtEl>
                                        <p:attrNameLst>
                                          <p:attrName>r</p:attrName>
                                        </p:attrNameLst>
                                      </p:cBhvr>
                                    </p:animRot>
                                  </p:childTnLst>
                                </p:cTn>
                              </p:par>
                              <p:par>
                                <p:cTn id="122" presetID="10" presetClass="entr" presetSubtype="0" fill="hold" grpId="0" nodeType="withEffect">
                                  <p:stCondLst>
                                    <p:cond delay="100"/>
                                  </p:stCondLst>
                                  <p:childTnLst>
                                    <p:set>
                                      <p:cBhvr>
                                        <p:cTn id="123" dur="1" fill="hold">
                                          <p:stCondLst>
                                            <p:cond delay="0"/>
                                          </p:stCondLst>
                                        </p:cTn>
                                        <p:tgtEl>
                                          <p:spTgt spid="32"/>
                                        </p:tgtEl>
                                        <p:attrNameLst>
                                          <p:attrName>style.visibility</p:attrName>
                                        </p:attrNameLst>
                                      </p:cBhvr>
                                      <p:to>
                                        <p:strVal val="visible"/>
                                      </p:to>
                                    </p:set>
                                    <p:animEffect transition="in" filter="fade">
                                      <p:cBhvr>
                                        <p:cTn id="124" dur="650"/>
                                        <p:tgtEl>
                                          <p:spTgt spid="32"/>
                                        </p:tgtEl>
                                      </p:cBhvr>
                                    </p:animEffect>
                                  </p:childTnLst>
                                </p:cTn>
                              </p:par>
                              <p:par>
                                <p:cTn id="125" presetID="10" presetClass="entr" presetSubtype="0" fill="hold" grpId="0" nodeType="withEffect">
                                  <p:stCondLst>
                                    <p:cond delay="150"/>
                                  </p:stCondLst>
                                  <p:childTnLst>
                                    <p:set>
                                      <p:cBhvr>
                                        <p:cTn id="126" dur="1" fill="hold">
                                          <p:stCondLst>
                                            <p:cond delay="0"/>
                                          </p:stCondLst>
                                        </p:cTn>
                                        <p:tgtEl>
                                          <p:spTgt spid="33"/>
                                        </p:tgtEl>
                                        <p:attrNameLst>
                                          <p:attrName>style.visibility</p:attrName>
                                        </p:attrNameLst>
                                      </p:cBhvr>
                                      <p:to>
                                        <p:strVal val="visible"/>
                                      </p:to>
                                    </p:set>
                                    <p:animEffect transition="in" filter="fade">
                                      <p:cBhvr>
                                        <p:cTn id="127" dur="650"/>
                                        <p:tgtEl>
                                          <p:spTgt spid="33"/>
                                        </p:tgtEl>
                                      </p:cBhvr>
                                    </p:animEffect>
                                  </p:childTnLst>
                                </p:cTn>
                              </p:par>
                            </p:childTnLst>
                          </p:cTn>
                        </p:par>
                        <p:par>
                          <p:cTn id="151" fill="hold">
                            <p:stCondLst>
                              <p:cond delay="5400"/>
                            </p:stCondLst>
                            <p:childTnLst>
                              <p:par>
                                <p:cTn id="129" presetID="53" presetClass="entr" presetSubtype="0" fill="hold" grpId="0" nodeType="afterEffect">
                                  <p:stCondLst>
                                    <p:cond delay="150"/>
                                  </p:stCondLst>
                                  <p:childTnLst>
                                    <p:set>
                                      <p:cBhvr>
                                        <p:cTn id="130" dur="1" fill="hold">
                                          <p:stCondLst>
                                            <p:cond delay="0"/>
                                          </p:stCondLst>
                                        </p:cTn>
                                        <p:tgtEl>
                                          <p:spTgt spid="34"/>
                                        </p:tgtEl>
                                        <p:attrNameLst>
                                          <p:attrName>style.visibility</p:attrName>
                                        </p:attrNameLst>
                                      </p:cBhvr>
                                      <p:to>
                                        <p:strVal val="visible"/>
                                      </p:to>
                                    </p:set>
                                    <p:animEffect transition="in" filter="fade">
                                      <p:cBhvr>
                                        <p:cTn id="131" dur="650"/>
                                        <p:tgtEl>
                                          <p:spTgt spid="34"/>
                                        </p:tgtEl>
                                      </p:cBhvr>
                                    </p:animEffect>
                                    <p:anim calcmode="lin" valueType="num">
                                      <p:cBhvr additive="base">
                                        <p:cTn id="132" dur="650" fill="hold" decel="100000"/>
                                        <p:tgtEl>
                                          <p:spTgt spid="34"/>
                                        </p:tgtEl>
                                        <p:attrNameLst>
                                          <p:attrName>ppt_w</p:attrName>
                                        </p:attrNameLst>
                                      </p:cBhvr>
                                      <p:tavLst>
                                        <p:tav tm="0">
                                          <p:val>
                                            <p:strVal val="#ppt_w*0.6"/>
                                          </p:val>
                                        </p:tav>
                                        <p:tav tm="100000">
                                          <p:val>
                                            <p:strVal val="#ppt_w"/>
                                          </p:val>
                                        </p:tav>
                                      </p:tavLst>
                                    </p:anim>
                                    <p:anim calcmode="lin" valueType="num">
                                      <p:cBhvr additive="base">
                                        <p:cTn id="133" dur="650" fill="hold" decel="100000"/>
                                        <p:tgtEl>
                                          <p:spTgt spid="34"/>
                                        </p:tgtEl>
                                        <p:attrNameLst>
                                          <p:attrName>ppt_h</p:attrName>
                                        </p:attrNameLst>
                                      </p:cBhvr>
                                      <p:tavLst>
                                        <p:tav tm="0">
                                          <p:val>
                                            <p:strVal val="#ppt_h*0.6"/>
                                          </p:val>
                                        </p:tav>
                                        <p:tav tm="100000">
                                          <p:val>
                                            <p:strVal val="#ppt_h"/>
                                          </p:val>
                                        </p:tav>
                                      </p:tavLst>
                                    </p:anim>
                                  </p:childTnLst>
                                </p:cTn>
                              </p:par>
                              <p:par>
                                <p:cTn id="134" presetID="53" presetClass="entr" presetSubtype="0" fill="hold" grpId="0" nodeType="withEffect">
                                  <p:stCondLst>
                                    <p:cond delay="50"/>
                                  </p:stCondLst>
                                  <p:childTnLst>
                                    <p:set>
                                      <p:cBhvr>
                                        <p:cTn id="135" dur="1" fill="hold">
                                          <p:stCondLst>
                                            <p:cond delay="0"/>
                                          </p:stCondLst>
                                        </p:cTn>
                                        <p:tgtEl>
                                          <p:spTgt spid="35"/>
                                        </p:tgtEl>
                                        <p:attrNameLst>
                                          <p:attrName>style.visibility</p:attrName>
                                        </p:attrNameLst>
                                      </p:cBhvr>
                                      <p:to>
                                        <p:strVal val="visible"/>
                                      </p:to>
                                    </p:set>
                                    <p:animEffect transition="in" filter="fade">
                                      <p:cBhvr>
                                        <p:cTn id="136" dur="650"/>
                                        <p:tgtEl>
                                          <p:spTgt spid="35"/>
                                        </p:tgtEl>
                                      </p:cBhvr>
                                    </p:animEffect>
                                    <p:anim calcmode="lin" valueType="num">
                                      <p:cBhvr additive="base">
                                        <p:cTn id="137" dur="650" fill="hold" decel="100000"/>
                                        <p:tgtEl>
                                          <p:spTgt spid="35"/>
                                        </p:tgtEl>
                                        <p:attrNameLst>
                                          <p:attrName>ppt_w</p:attrName>
                                        </p:attrNameLst>
                                      </p:cBhvr>
                                      <p:tavLst>
                                        <p:tav tm="0">
                                          <p:val>
                                            <p:strVal val="#ppt_w*0.6"/>
                                          </p:val>
                                        </p:tav>
                                        <p:tav tm="100000">
                                          <p:val>
                                            <p:strVal val="#ppt_w"/>
                                          </p:val>
                                        </p:tav>
                                      </p:tavLst>
                                    </p:anim>
                                    <p:anim calcmode="lin" valueType="num">
                                      <p:cBhvr additive="base">
                                        <p:cTn id="138" dur="650" fill="hold" decel="100000"/>
                                        <p:tgtEl>
                                          <p:spTgt spid="35"/>
                                        </p:tgtEl>
                                        <p:attrNameLst>
                                          <p:attrName>ppt_h</p:attrName>
                                        </p:attrNameLst>
                                      </p:cBhvr>
                                      <p:tavLst>
                                        <p:tav tm="0">
                                          <p:val>
                                            <p:strVal val="#ppt_h*0.6"/>
                                          </p:val>
                                        </p:tav>
                                        <p:tav tm="100000">
                                          <p:val>
                                            <p:strVal val="#ppt_h"/>
                                          </p:val>
                                        </p:tav>
                                      </p:tavLst>
                                    </p:anim>
                                  </p:childTnLst>
                                </p:cTn>
                              </p:par>
                              <p:par>
                                <p:cTn id="139" presetID="53" presetClass="entr" presetSubtype="0" fill="hold" grpId="0" nodeType="withEffect">
                                  <p:stCondLst>
                                    <p:cond delay="50"/>
                                  </p:stCondLst>
                                  <p:childTnLst>
                                    <p:set>
                                      <p:cBhvr>
                                        <p:cTn id="140" dur="1" fill="hold">
                                          <p:stCondLst>
                                            <p:cond delay="0"/>
                                          </p:stCondLst>
                                        </p:cTn>
                                        <p:tgtEl>
                                          <p:spTgt spid="36"/>
                                        </p:tgtEl>
                                        <p:attrNameLst>
                                          <p:attrName>style.visibility</p:attrName>
                                        </p:attrNameLst>
                                      </p:cBhvr>
                                      <p:to>
                                        <p:strVal val="visible"/>
                                      </p:to>
                                    </p:set>
                                    <p:animEffect transition="in" filter="fade">
                                      <p:cBhvr>
                                        <p:cTn id="141" dur="650"/>
                                        <p:tgtEl>
                                          <p:spTgt spid="36"/>
                                        </p:tgtEl>
                                      </p:cBhvr>
                                    </p:animEffect>
                                    <p:anim calcmode="lin" valueType="num">
                                      <p:cBhvr additive="base">
                                        <p:cTn id="142" dur="650" fill="hold" decel="100000"/>
                                        <p:tgtEl>
                                          <p:spTgt spid="36"/>
                                        </p:tgtEl>
                                        <p:attrNameLst>
                                          <p:attrName>ppt_w</p:attrName>
                                        </p:attrNameLst>
                                      </p:cBhvr>
                                      <p:tavLst>
                                        <p:tav tm="0">
                                          <p:val>
                                            <p:strVal val="#ppt_w*0.6"/>
                                          </p:val>
                                        </p:tav>
                                        <p:tav tm="100000">
                                          <p:val>
                                            <p:strVal val="#ppt_w"/>
                                          </p:val>
                                        </p:tav>
                                      </p:tavLst>
                                    </p:anim>
                                    <p:anim calcmode="lin" valueType="num">
                                      <p:cBhvr additive="base">
                                        <p:cTn id="143" dur="650" fill="hold" decel="100000"/>
                                        <p:tgtEl>
                                          <p:spTgt spid="36"/>
                                        </p:tgtEl>
                                        <p:attrNameLst>
                                          <p:attrName>ppt_h</p:attrName>
                                        </p:attrNameLst>
                                      </p:cBhvr>
                                      <p:tavLst>
                                        <p:tav tm="0">
                                          <p:val>
                                            <p:strVal val="#ppt_h*0.6"/>
                                          </p:val>
                                        </p:tav>
                                        <p:tav tm="100000">
                                          <p:val>
                                            <p:strVal val="#ppt_h"/>
                                          </p:val>
                                        </p:tav>
                                      </p:tavLst>
                                    </p:anim>
                                    <p:animRot by="-21600000">
                                      <p:cBhvr>
                                        <p:cTn id="144" dur="650" fill="hold" decel="100000"/>
                                        <p:tgtEl>
                                          <p:spTgt spid="36"/>
                                        </p:tgtEl>
                                        <p:attrNameLst>
                                          <p:attrName>r</p:attrName>
                                        </p:attrNameLst>
                                      </p:cBhvr>
                                    </p:animRot>
                                  </p:childTnLst>
                                </p:cTn>
                              </p:par>
                              <p:par>
                                <p:cTn id="145" presetID="10" presetClass="entr" presetSubtype="0" fill="hold" grpId="0" nodeType="withEffect">
                                  <p:stCondLst>
                                    <p:cond delay="100"/>
                                  </p:stCondLst>
                                  <p:childTnLst>
                                    <p:set>
                                      <p:cBhvr>
                                        <p:cTn id="146" dur="1" fill="hold">
                                          <p:stCondLst>
                                            <p:cond delay="0"/>
                                          </p:stCondLst>
                                        </p:cTn>
                                        <p:tgtEl>
                                          <p:spTgt spid="37"/>
                                        </p:tgtEl>
                                        <p:attrNameLst>
                                          <p:attrName>style.visibility</p:attrName>
                                        </p:attrNameLst>
                                      </p:cBhvr>
                                      <p:to>
                                        <p:strVal val="visible"/>
                                      </p:to>
                                    </p:set>
                                    <p:animEffect transition="in" filter="fade">
                                      <p:cBhvr>
                                        <p:cTn id="147" dur="650"/>
                                        <p:tgtEl>
                                          <p:spTgt spid="37"/>
                                        </p:tgtEl>
                                      </p:cBhvr>
                                    </p:animEffect>
                                  </p:childTnLst>
                                </p:cTn>
                              </p:par>
                              <p:par>
                                <p:cTn id="148" presetID="10" presetClass="entr" presetSubtype="0" fill="hold" grpId="0" nodeType="withEffect">
                                  <p:stCondLst>
                                    <p:cond delay="150"/>
                                  </p:stCondLst>
                                  <p:childTnLst>
                                    <p:set>
                                      <p:cBhvr>
                                        <p:cTn id="149" dur="1" fill="hold">
                                          <p:stCondLst>
                                            <p:cond delay="0"/>
                                          </p:stCondLst>
                                        </p:cTn>
                                        <p:tgtEl>
                                          <p:spTgt spid="38"/>
                                        </p:tgtEl>
                                        <p:attrNameLst>
                                          <p:attrName>style.visibility</p:attrName>
                                        </p:attrNameLst>
                                      </p:cBhvr>
                                      <p:to>
                                        <p:strVal val="visible"/>
                                      </p:to>
                                    </p:set>
                                    <p:animEffect transition="in" filter="fade">
                                      <p:cBhvr>
                                        <p:cTn id="150" dur="6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53" repeatCount="indefinite" fill="hold" display="0">
                  <p:stCondLst>
                    <p:cond delay="indefinite"/>
                  </p:stCondLst>
                </p:cTn>
                <p:tgtEl>
                  <p:spTgt spid="3"/>
                </p:tgtEl>
              </p:cMediaNode>
            </p:video>
          </p:childTnLst>
        </p:cTn>
      </p:par>
    </p:tnLst>
    <p:bldLst>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7" grpId="0" animBg="1"/>
      <p:bldP spid="3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glow1"/>
          <p:cNvSpPr/>
          <p:nvPr/>
        </p:nvSpPr>
        <p:spPr>
          <a:xfrm>
            <a:off x="3200400" y="3474720"/>
            <a:ext cx="5943600" cy="5943600"/>
          </a:xfrm>
          <a:prstGeom prst="ellipse">
            <a:avLst/>
          </a:prstGeom>
          <a:solidFill>
            <a:schemeClr val="accent1">
              <a:alpha val="6000"/>
            </a:schemeClr>
          </a:solidFill>
          <a:ln/>
        </p:spPr>
      </p:sp>
      <p:sp>
        <p:nvSpPr>
          <p:cNvPr id="3" name="!!glow2"/>
          <p:cNvSpPr/>
          <p:nvPr/>
        </p:nvSpPr>
        <p:spPr>
          <a:xfrm>
            <a:off x="8229600" y="-2743200"/>
            <a:ext cx="5486400" cy="5486400"/>
          </a:xfrm>
          <a:prstGeom prst="ellipse">
            <a:avLst/>
          </a:prstGeom>
          <a:solidFill>
            <a:schemeClr val="accent2">
              <a:alpha val="4000"/>
            </a:schemeClr>
          </a:solidFill>
          <a:ln/>
        </p:spPr>
      </p:sp>
      <p:sp>
        <p:nvSpPr>
          <p:cNvPr id="4" name="!!frame"/>
          <p:cNvSpPr/>
          <p:nvPr/>
        </p:nvSpPr>
        <p:spPr>
          <a:xfrm>
            <a:off x="548640" y="3794760"/>
            <a:ext cx="11091672" cy="109728"/>
          </a:xfrm>
          <a:prstGeom prst="roundRect">
            <a:avLst>
              <a:gd name="adj" fmla="val 416667"/>
            </a:avLst>
          </a:prstGeom>
          <a:solidFill>
            <a:schemeClr val="tx2"/>
          </a:solidFill>
          <a:ln w="15875">
            <a:solidFill>
              <a:schemeClr val="accent1">
                <a:alpha val="60000"/>
              </a:schemeClr>
            </a:solidFill>
            <a:prstDash val="solid"/>
          </a:ln>
        </p:spPr>
      </p:sp>
      <p:pic>
        <p:nvPicPr>
          <p:cNvPr id="5" name="!!nmark" descr="Logo Nexora">    </p:cNvPr>
          <p:cNvPicPr>
            <a:picLocks noChangeAspect="1"/>
          </p:cNvPicPr>
          <p:nvPr/>
        </p:nvPicPr>
        <p:blipFill>
          <a:blip r:embed="rId1"/>
          <a:stretch>
            <a:fillRect/>
          </a:stretch>
        </p:blipFill>
        <p:spPr>
          <a:xfrm>
            <a:off x="548640" y="6217920"/>
            <a:ext cx="292608" cy="292608"/>
          </a:xfrm>
          <a:prstGeom prst="rect">
            <a:avLst/>
          </a:prstGeom>
        </p:spPr>
      </p:pic>
      <p:sp>
        <p:nvSpPr>
          <p:cNvPr id="6"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LA MÉTHODE</a:t>
            </a:r>
            <a:endParaRPr lang="en-US" sz="1200" dirty="0"/>
          </a:p>
        </p:txBody>
      </p:sp>
      <p:sp>
        <p:nvSpPr>
          <p:cNvPr id="7"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De l'appel à la mise en ligne : </a:t>
            </a:r>
            <a:pPr algn="l" indent="0" marL="0">
              <a:buNone/>
            </a:pPr>
            <a:r>
              <a:rPr lang="en-US" sz="3400" b="1" dirty="0">
                <a:solidFill>
                  <a:schemeClr val="accent1"/>
                </a:solidFill>
                <a:latin typeface="Arial Black" pitchFamily="34" charset="0"/>
                <a:ea typeface="Arial Black" pitchFamily="34" charset="-122"/>
                <a:cs typeface="Arial Black" pitchFamily="34" charset="-120"/>
              </a:rPr>
              <a:t>14 jours</a:t>
            </a:r>
            <a:endParaRPr lang="en-US" sz="3400" dirty="0"/>
          </a:p>
        </p:txBody>
      </p:sp>
      <p:sp>
        <p:nvSpPr>
          <p:cNvPr id="8" name="Étape 1"/>
          <p:cNvSpPr/>
          <p:nvPr/>
        </p:nvSpPr>
        <p:spPr>
          <a:xfrm>
            <a:off x="548640" y="3529584"/>
            <a:ext cx="640080" cy="640080"/>
          </a:xfrm>
          <a:prstGeom prst="ellipse">
            <a:avLst/>
          </a:prstGeom>
          <a:solidFill>
            <a:schemeClr val="tx1"/>
          </a:solidFill>
          <a:ln w="25400">
            <a:solidFill>
              <a:schemeClr val="accent1"/>
            </a:solidFill>
            <a:prstDash val="solid"/>
          </a:ln>
        </p:spPr>
      </p:sp>
      <p:sp>
        <p:nvSpPr>
          <p:cNvPr id="9" name="Num 1"/>
          <p:cNvSpPr txBox="1"/>
          <p:nvPr/>
        </p:nvSpPr>
        <p:spPr>
          <a:xfrm>
            <a:off x="548640" y="3529584"/>
            <a:ext cx="640080" cy="640080"/>
          </a:xfrm>
          <a:prstGeom prst="rect">
            <a:avLst/>
          </a:prstGeom>
          <a:noFill/>
          <a:ln/>
        </p:spPr>
        <p:txBody>
          <a:bodyPr wrap="square" lIns="0" tIns="0" rIns="0" bIns="0" rtlCol="0" anchor="ctr"/>
          <a:lstStyle/>
          <a:p>
            <a:pPr algn="ctr" indent="0" marL="0">
              <a:buNone/>
            </a:pPr>
            <a:r>
              <a:rPr lang="en-US" sz="1800" dirty="0">
                <a:solidFill>
                  <a:schemeClr val="accent1"/>
                </a:solidFill>
                <a:latin typeface="Arial Black" pitchFamily="34" charset="0"/>
                <a:ea typeface="Arial Black" pitchFamily="34" charset="-122"/>
                <a:cs typeface="Arial Black" pitchFamily="34" charset="-120"/>
              </a:rPr>
              <a:t>1</a:t>
            </a:r>
            <a:endParaRPr lang="en-US" sz="1800" dirty="0"/>
          </a:p>
        </p:txBody>
      </p:sp>
      <p:sp>
        <p:nvSpPr>
          <p:cNvPr id="10" name="Jour 1"/>
          <p:cNvSpPr txBox="1"/>
          <p:nvPr/>
        </p:nvSpPr>
        <p:spPr>
          <a:xfrm>
            <a:off x="548640" y="2697480"/>
            <a:ext cx="256032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JOUR 1</a:t>
            </a:r>
            <a:endParaRPr lang="en-US" sz="1300" dirty="0"/>
          </a:p>
        </p:txBody>
      </p:sp>
      <p:sp>
        <p:nvSpPr>
          <p:cNvPr id="11" name="Étape titre 1"/>
          <p:cNvSpPr txBox="1"/>
          <p:nvPr/>
        </p:nvSpPr>
        <p:spPr>
          <a:xfrm>
            <a:off x="548640" y="4434840"/>
            <a:ext cx="2560320" cy="41148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Appel de 20 min</a:t>
            </a:r>
            <a:endParaRPr lang="en-US" sz="1800" dirty="0"/>
          </a:p>
        </p:txBody>
      </p:sp>
      <p:sp>
        <p:nvSpPr>
          <p:cNvPr id="12" name="Étape texte 1"/>
          <p:cNvSpPr txBox="1"/>
          <p:nvPr/>
        </p:nvSpPr>
        <p:spPr>
          <a:xfrm>
            <a:off x="548640" y="4892040"/>
            <a:ext cx="2468880" cy="73152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Ton métier, tes clients, ce que tu veux.</a:t>
            </a:r>
            <a:endParaRPr lang="en-US" sz="1400" dirty="0"/>
          </a:p>
        </p:txBody>
      </p:sp>
      <p:sp>
        <p:nvSpPr>
          <p:cNvPr id="13" name="Étape 2"/>
          <p:cNvSpPr/>
          <p:nvPr/>
        </p:nvSpPr>
        <p:spPr>
          <a:xfrm>
            <a:off x="3383280" y="3529584"/>
            <a:ext cx="640080" cy="640080"/>
          </a:xfrm>
          <a:prstGeom prst="ellipse">
            <a:avLst/>
          </a:prstGeom>
          <a:solidFill>
            <a:schemeClr val="tx1"/>
          </a:solidFill>
          <a:ln w="25400">
            <a:solidFill>
              <a:schemeClr val="accent1"/>
            </a:solidFill>
            <a:prstDash val="solid"/>
          </a:ln>
        </p:spPr>
      </p:sp>
      <p:sp>
        <p:nvSpPr>
          <p:cNvPr id="14" name="Num 2"/>
          <p:cNvSpPr txBox="1"/>
          <p:nvPr/>
        </p:nvSpPr>
        <p:spPr>
          <a:xfrm>
            <a:off x="3383280" y="3529584"/>
            <a:ext cx="640080" cy="640080"/>
          </a:xfrm>
          <a:prstGeom prst="rect">
            <a:avLst/>
          </a:prstGeom>
          <a:noFill/>
          <a:ln/>
        </p:spPr>
        <p:txBody>
          <a:bodyPr wrap="square" lIns="0" tIns="0" rIns="0" bIns="0" rtlCol="0" anchor="ctr"/>
          <a:lstStyle/>
          <a:p>
            <a:pPr algn="ctr" indent="0" marL="0">
              <a:buNone/>
            </a:pPr>
            <a:r>
              <a:rPr lang="en-US" sz="1800" dirty="0">
                <a:solidFill>
                  <a:schemeClr val="accent1"/>
                </a:solidFill>
                <a:latin typeface="Arial Black" pitchFamily="34" charset="0"/>
                <a:ea typeface="Arial Black" pitchFamily="34" charset="-122"/>
                <a:cs typeface="Arial Black" pitchFamily="34" charset="-120"/>
              </a:rPr>
              <a:t>2</a:t>
            </a:r>
            <a:endParaRPr lang="en-US" sz="1800" dirty="0"/>
          </a:p>
        </p:txBody>
      </p:sp>
      <p:sp>
        <p:nvSpPr>
          <p:cNvPr id="15" name="Jour 2"/>
          <p:cNvSpPr txBox="1"/>
          <p:nvPr/>
        </p:nvSpPr>
        <p:spPr>
          <a:xfrm>
            <a:off x="3383280" y="2697480"/>
            <a:ext cx="256032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JOUR 3</a:t>
            </a:r>
            <a:endParaRPr lang="en-US" sz="1300" dirty="0"/>
          </a:p>
        </p:txBody>
      </p:sp>
      <p:sp>
        <p:nvSpPr>
          <p:cNvPr id="16" name="Étape titre 2"/>
          <p:cNvSpPr txBox="1"/>
          <p:nvPr/>
        </p:nvSpPr>
        <p:spPr>
          <a:xfrm>
            <a:off x="3383280" y="4434840"/>
            <a:ext cx="2560320" cy="41148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Maquette</a:t>
            </a:r>
            <a:endParaRPr lang="en-US" sz="1800" dirty="0"/>
          </a:p>
        </p:txBody>
      </p:sp>
      <p:sp>
        <p:nvSpPr>
          <p:cNvPr id="17" name="Étape texte 2"/>
          <p:cNvSpPr txBox="1"/>
          <p:nvPr/>
        </p:nvSpPr>
        <p:spPr>
          <a:xfrm>
            <a:off x="3383280" y="4892040"/>
            <a:ext cx="2468880" cy="73152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Tu vois ton site avant qu'il existe.</a:t>
            </a:r>
            <a:endParaRPr lang="en-US" sz="1400" dirty="0"/>
          </a:p>
        </p:txBody>
      </p:sp>
      <p:sp>
        <p:nvSpPr>
          <p:cNvPr id="18" name="Étape 3"/>
          <p:cNvSpPr/>
          <p:nvPr/>
        </p:nvSpPr>
        <p:spPr>
          <a:xfrm>
            <a:off x="6217920" y="3529584"/>
            <a:ext cx="640080" cy="640080"/>
          </a:xfrm>
          <a:prstGeom prst="ellipse">
            <a:avLst/>
          </a:prstGeom>
          <a:solidFill>
            <a:schemeClr val="tx1"/>
          </a:solidFill>
          <a:ln w="25400">
            <a:solidFill>
              <a:schemeClr val="accent1"/>
            </a:solidFill>
            <a:prstDash val="solid"/>
          </a:ln>
        </p:spPr>
      </p:sp>
      <p:sp>
        <p:nvSpPr>
          <p:cNvPr id="19" name="Num 3"/>
          <p:cNvSpPr txBox="1"/>
          <p:nvPr/>
        </p:nvSpPr>
        <p:spPr>
          <a:xfrm>
            <a:off x="6217920" y="3529584"/>
            <a:ext cx="640080" cy="640080"/>
          </a:xfrm>
          <a:prstGeom prst="rect">
            <a:avLst/>
          </a:prstGeom>
          <a:noFill/>
          <a:ln/>
        </p:spPr>
        <p:txBody>
          <a:bodyPr wrap="square" lIns="0" tIns="0" rIns="0" bIns="0" rtlCol="0" anchor="ctr"/>
          <a:lstStyle/>
          <a:p>
            <a:pPr algn="ctr" indent="0" marL="0">
              <a:buNone/>
            </a:pPr>
            <a:r>
              <a:rPr lang="en-US" sz="1800" dirty="0">
                <a:solidFill>
                  <a:schemeClr val="accent1"/>
                </a:solidFill>
                <a:latin typeface="Arial Black" pitchFamily="34" charset="0"/>
                <a:ea typeface="Arial Black" pitchFamily="34" charset="-122"/>
                <a:cs typeface="Arial Black" pitchFamily="34" charset="-120"/>
              </a:rPr>
              <a:t>3</a:t>
            </a:r>
            <a:endParaRPr lang="en-US" sz="1800" dirty="0"/>
          </a:p>
        </p:txBody>
      </p:sp>
      <p:sp>
        <p:nvSpPr>
          <p:cNvPr id="20" name="Jour 3"/>
          <p:cNvSpPr txBox="1"/>
          <p:nvPr/>
        </p:nvSpPr>
        <p:spPr>
          <a:xfrm>
            <a:off x="6217920" y="2697480"/>
            <a:ext cx="256032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JOUR 4 À 12</a:t>
            </a:r>
            <a:endParaRPr lang="en-US" sz="1300" dirty="0"/>
          </a:p>
        </p:txBody>
      </p:sp>
      <p:sp>
        <p:nvSpPr>
          <p:cNvPr id="21" name="Étape titre 3"/>
          <p:cNvSpPr txBox="1"/>
          <p:nvPr/>
        </p:nvSpPr>
        <p:spPr>
          <a:xfrm>
            <a:off x="6217920" y="4434840"/>
            <a:ext cx="2560320" cy="41148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Création</a:t>
            </a:r>
            <a:endParaRPr lang="en-US" sz="1800" dirty="0"/>
          </a:p>
        </p:txBody>
      </p:sp>
      <p:sp>
        <p:nvSpPr>
          <p:cNvPr id="22" name="Étape texte 3"/>
          <p:cNvSpPr txBox="1"/>
          <p:nvPr/>
        </p:nvSpPr>
        <p:spPr>
          <a:xfrm>
            <a:off x="6217920" y="4892040"/>
            <a:ext cx="2468880" cy="73152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Textes, photos, téléphone, Google.</a:t>
            </a:r>
            <a:endParaRPr lang="en-US" sz="1400" dirty="0"/>
          </a:p>
        </p:txBody>
      </p:sp>
      <p:sp>
        <p:nvSpPr>
          <p:cNvPr id="23" name="Étape 4"/>
          <p:cNvSpPr/>
          <p:nvPr/>
        </p:nvSpPr>
        <p:spPr>
          <a:xfrm>
            <a:off x="9052560" y="3529584"/>
            <a:ext cx="640080" cy="640080"/>
          </a:xfrm>
          <a:prstGeom prst="ellipse">
            <a:avLst/>
          </a:prstGeom>
          <a:solidFill>
            <a:schemeClr val="accent1"/>
          </a:solidFill>
          <a:ln w="25400">
            <a:solidFill>
              <a:schemeClr val="accent1"/>
            </a:solidFill>
            <a:prstDash val="solid"/>
          </a:ln>
        </p:spPr>
      </p:sp>
      <p:sp>
        <p:nvSpPr>
          <p:cNvPr id="24" name="Num 4"/>
          <p:cNvSpPr txBox="1"/>
          <p:nvPr/>
        </p:nvSpPr>
        <p:spPr>
          <a:xfrm>
            <a:off x="9052560" y="3529584"/>
            <a:ext cx="640080" cy="640080"/>
          </a:xfrm>
          <a:prstGeom prst="rect">
            <a:avLst/>
          </a:prstGeom>
          <a:noFill/>
          <a:ln/>
        </p:spPr>
        <p:txBody>
          <a:bodyPr wrap="square" lIns="0" tIns="0" rIns="0" bIns="0" rtlCol="0" anchor="ctr"/>
          <a:lstStyle/>
          <a:p>
            <a:pPr algn="ctr" indent="0" marL="0">
              <a:buNone/>
            </a:pPr>
            <a:r>
              <a:rPr lang="en-US" sz="1800" dirty="0">
                <a:solidFill>
                  <a:schemeClr val="tx1"/>
                </a:solidFill>
                <a:latin typeface="Arial Black" pitchFamily="34" charset="0"/>
                <a:ea typeface="Arial Black" pitchFamily="34" charset="-122"/>
                <a:cs typeface="Arial Black" pitchFamily="34" charset="-120"/>
              </a:rPr>
              <a:t>4</a:t>
            </a:r>
            <a:endParaRPr lang="en-US" sz="1800" dirty="0"/>
          </a:p>
        </p:txBody>
      </p:sp>
      <p:sp>
        <p:nvSpPr>
          <p:cNvPr id="25" name="Jour 4"/>
          <p:cNvSpPr txBox="1"/>
          <p:nvPr/>
        </p:nvSpPr>
        <p:spPr>
          <a:xfrm>
            <a:off x="9052560" y="2697480"/>
            <a:ext cx="256032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JOUR 14</a:t>
            </a:r>
            <a:endParaRPr lang="en-US" sz="1300" dirty="0"/>
          </a:p>
        </p:txBody>
      </p:sp>
      <p:sp>
        <p:nvSpPr>
          <p:cNvPr id="26" name="Étape titre 4"/>
          <p:cNvSpPr txBox="1"/>
          <p:nvPr/>
        </p:nvSpPr>
        <p:spPr>
          <a:xfrm>
            <a:off x="9052560" y="4434840"/>
            <a:ext cx="2560320" cy="41148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En ligne</a:t>
            </a:r>
            <a:endParaRPr lang="en-US" sz="1800" dirty="0"/>
          </a:p>
        </p:txBody>
      </p:sp>
      <p:sp>
        <p:nvSpPr>
          <p:cNvPr id="27" name="Étape texte 4"/>
          <p:cNvSpPr txBox="1"/>
          <p:nvPr/>
        </p:nvSpPr>
        <p:spPr>
          <a:xfrm>
            <a:off x="9052560" y="4892040"/>
            <a:ext cx="2468880" cy="73152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Et je reste là si tu as besoin.</a:t>
            </a:r>
            <a:endParaRPr lang="en-US" sz="14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650"/>
                                        <p:tgtEl>
                                          <p:spTgt spid="6"/>
                                        </p:tgtEl>
                                      </p:cBhvr>
                                    </p:animEffect>
                                  </p:childTnLst>
                                </p:cTn>
                              </p:par>
                            </p:childTnLst>
                          </p:cTn>
                        </p:par>
                        <p:par>
                          <p:cTn id="11" fill="hold">
                            <p:stCondLst>
                              <p:cond delay="650"/>
                            </p:stCondLst>
                            <p:childTnLst>
                              <p:par>
                                <p:cTn id="7" presetID="42" presetClass="entr" presetSubtype="0" fill="hold" grpId="0" nodeType="afterEffect">
                                  <p:stCondLst>
                                    <p:cond delay="10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650"/>
                                        <p:tgtEl>
                                          <p:spTgt spid="7"/>
                                        </p:tgtEl>
                                      </p:cBhvr>
                                    </p:animEffect>
                                    <p:anim calcmode="lin" valueType="num">
                                      <p:cBhvr additive="base">
                                        <p:cTn id="10" dur="650" fill="hold" decel="100000"/>
                                        <p:tgtEl>
                                          <p:spTgt spid="7"/>
                                        </p:tgtEl>
                                        <p:attrNameLst>
                                          <p:attrName>ppt_y</p:attrName>
                                        </p:attrNameLst>
                                      </p:cBhvr>
                                      <p:tavLst>
                                        <p:tav tm="0">
                                          <p:val>
                                            <p:strVal val="#ppt_y+0.05"/>
                                          </p:val>
                                        </p:tav>
                                        <p:tav tm="100000">
                                          <p:val>
                                            <p:strVal val="#ppt_y"/>
                                          </p:val>
                                        </p:tav>
                                      </p:tavLst>
                                    </p:anim>
                                  </p:childTnLst>
                                </p:cTn>
                              </p:par>
                            </p:childTnLst>
                          </p:cTn>
                        </p:par>
                        <p:par>
                          <p:cTn id="33" fill="hold">
                            <p:stCondLst>
                              <p:cond delay="1400"/>
                            </p:stCondLst>
                            <p:childTnLst>
                              <p:par>
                                <p:cTn id="12" presetID="53" presetClass="entr" presetSubtype="0" fill="hold" grpId="0" nodeType="afterEffect">
                                  <p:stCondLst>
                                    <p:cond delay="3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50"/>
                                        <p:tgtEl>
                                          <p:spTgt spid="8"/>
                                        </p:tgtEl>
                                      </p:cBhvr>
                                    </p:animEffect>
                                    <p:anim calcmode="lin" valueType="num">
                                      <p:cBhvr additive="base">
                                        <p:cTn id="15" dur="650" fill="hold" decel="100000"/>
                                        <p:tgtEl>
                                          <p:spTgt spid="8"/>
                                        </p:tgtEl>
                                        <p:attrNameLst>
                                          <p:attrName>ppt_w</p:attrName>
                                        </p:attrNameLst>
                                      </p:cBhvr>
                                      <p:tavLst>
                                        <p:tav tm="0">
                                          <p:val>
                                            <p:strVal val="#ppt_w*0.6"/>
                                          </p:val>
                                        </p:tav>
                                        <p:tav tm="100000">
                                          <p:val>
                                            <p:strVal val="#ppt_w"/>
                                          </p:val>
                                        </p:tav>
                                      </p:tavLst>
                                    </p:anim>
                                    <p:anim calcmode="lin" valueType="num">
                                      <p:cBhvr additive="base">
                                        <p:cTn id="16" dur="650" fill="hold" decel="100000"/>
                                        <p:tgtEl>
                                          <p:spTgt spid="8"/>
                                        </p:tgtEl>
                                        <p:attrNameLst>
                                          <p:attrName>ppt_h</p:attrName>
                                        </p:attrNameLst>
                                      </p:cBhvr>
                                      <p:tavLst>
                                        <p:tav tm="0">
                                          <p:val>
                                            <p:strVal val="#ppt_h*0.6"/>
                                          </p:val>
                                        </p:tav>
                                        <p:tav tm="100000">
                                          <p:val>
                                            <p:strVal val="#ppt_h"/>
                                          </p:val>
                                        </p:tav>
                                      </p:tavLst>
                                    </p:anim>
                                  </p:childTnLst>
                                </p:cTn>
                              </p:par>
                              <p:par>
                                <p:cTn id="17" presetID="53"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650"/>
                                        <p:tgtEl>
                                          <p:spTgt spid="9"/>
                                        </p:tgtEl>
                                      </p:cBhvr>
                                    </p:animEffect>
                                    <p:anim calcmode="lin" valueType="num">
                                      <p:cBhvr additive="base">
                                        <p:cTn id="20" dur="650" fill="hold" decel="100000"/>
                                        <p:tgtEl>
                                          <p:spTgt spid="9"/>
                                        </p:tgtEl>
                                        <p:attrNameLst>
                                          <p:attrName>ppt_w</p:attrName>
                                        </p:attrNameLst>
                                      </p:cBhvr>
                                      <p:tavLst>
                                        <p:tav tm="0">
                                          <p:val>
                                            <p:strVal val="#ppt_w*0.6"/>
                                          </p:val>
                                        </p:tav>
                                        <p:tav tm="100000">
                                          <p:val>
                                            <p:strVal val="#ppt_w"/>
                                          </p:val>
                                        </p:tav>
                                      </p:tavLst>
                                    </p:anim>
                                    <p:anim calcmode="lin" valueType="num">
                                      <p:cBhvr additive="base">
                                        <p:cTn id="21" dur="650" fill="hold" decel="100000"/>
                                        <p:tgtEl>
                                          <p:spTgt spid="9"/>
                                        </p:tgtEl>
                                        <p:attrNameLst>
                                          <p:attrName>ppt_h</p:attrName>
                                        </p:attrNameLst>
                                      </p:cBhvr>
                                      <p:tavLst>
                                        <p:tav tm="0">
                                          <p:val>
                                            <p:strVal val="#ppt_h*0.6"/>
                                          </p:val>
                                        </p:tav>
                                        <p:tav tm="100000">
                                          <p:val>
                                            <p:strVal val="#ppt_h"/>
                                          </p:val>
                                        </p:tav>
                                      </p:tavLst>
                                    </p:anim>
                                  </p:childTnLst>
                                </p:cTn>
                              </p:par>
                              <p:par>
                                <p:cTn id="22" presetID="47" presetClass="entr" presetSubtype="0" fill="hold" grpId="0" nodeType="withEffect">
                                  <p:stCondLst>
                                    <p:cond delay="1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650"/>
                                        <p:tgtEl>
                                          <p:spTgt spid="10"/>
                                        </p:tgtEl>
                                      </p:cBhvr>
                                    </p:animEffect>
                                    <p:anim calcmode="lin" valueType="num">
                                      <p:cBhvr additive="base">
                                        <p:cTn id="25" dur="650" fill="hold" decel="100000"/>
                                        <p:tgtEl>
                                          <p:spTgt spid="10"/>
                                        </p:tgtEl>
                                        <p:attrNameLst>
                                          <p:attrName>ppt_y</p:attrName>
                                        </p:attrNameLst>
                                      </p:cBhvr>
                                      <p:tavLst>
                                        <p:tav tm="0">
                                          <p:val>
                                            <p:strVal val="#ppt_y-0.04"/>
                                          </p:val>
                                        </p:tav>
                                        <p:tav tm="100000">
                                          <p:val>
                                            <p:strVal val="#ppt_y"/>
                                          </p:val>
                                        </p:tav>
                                      </p:tavLst>
                                    </p:anim>
                                  </p:childTnLst>
                                </p:cTn>
                              </p:par>
                              <p:par>
                                <p:cTn id="26" presetID="42" presetClass="entr" presetSubtype="0" fill="hold" grpId="0" nodeType="withEffect">
                                  <p:stCondLst>
                                    <p:cond delay="1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50"/>
                                        <p:tgtEl>
                                          <p:spTgt spid="11"/>
                                        </p:tgtEl>
                                      </p:cBhvr>
                                    </p:animEffect>
                                    <p:anim calcmode="lin" valueType="num">
                                      <p:cBhvr additive="base">
                                        <p:cTn id="29" dur="650" fill="hold" decel="100000"/>
                                        <p:tgtEl>
                                          <p:spTgt spid="11"/>
                                        </p:tgtEl>
                                        <p:attrNameLst>
                                          <p:attrName>ppt_y</p:attrName>
                                        </p:attrNameLst>
                                      </p:cBhvr>
                                      <p:tavLst>
                                        <p:tav tm="0">
                                          <p:val>
                                            <p:strVal val="#ppt_y+0.05"/>
                                          </p:val>
                                        </p:tav>
                                        <p:tav tm="100000">
                                          <p:val>
                                            <p:strVal val="#ppt_y"/>
                                          </p:val>
                                        </p:tav>
                                      </p:tavLst>
                                    </p:anim>
                                  </p:childTnLst>
                                </p:cTn>
                              </p:par>
                              <p:par>
                                <p:cTn id="30" presetID="10" presetClass="entr" presetSubtype="0" fill="hold" grpId="0" nodeType="withEffect">
                                  <p:stCondLst>
                                    <p:cond delay="20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650"/>
                                        <p:tgtEl>
                                          <p:spTgt spid="12"/>
                                        </p:tgtEl>
                                      </p:cBhvr>
                                    </p:animEffect>
                                  </p:childTnLst>
                                </p:cTn>
                              </p:par>
                            </p:childTnLst>
                          </p:cTn>
                        </p:par>
                        <p:par>
                          <p:cTn id="55" fill="hold">
                            <p:stCondLst>
                              <p:cond delay="2400"/>
                            </p:stCondLst>
                            <p:childTnLst>
                              <p:par>
                                <p:cTn id="34" presetID="53" presetClass="entr" presetSubtype="0" fill="hold" grpId="0" nodeType="afterEffect">
                                  <p:stCondLst>
                                    <p:cond delay="3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50"/>
                                        <p:tgtEl>
                                          <p:spTgt spid="13"/>
                                        </p:tgtEl>
                                      </p:cBhvr>
                                    </p:animEffect>
                                    <p:anim calcmode="lin" valueType="num">
                                      <p:cBhvr additive="base">
                                        <p:cTn id="37" dur="650" fill="hold" decel="100000"/>
                                        <p:tgtEl>
                                          <p:spTgt spid="13"/>
                                        </p:tgtEl>
                                        <p:attrNameLst>
                                          <p:attrName>ppt_w</p:attrName>
                                        </p:attrNameLst>
                                      </p:cBhvr>
                                      <p:tavLst>
                                        <p:tav tm="0">
                                          <p:val>
                                            <p:strVal val="#ppt_w*0.6"/>
                                          </p:val>
                                        </p:tav>
                                        <p:tav tm="100000">
                                          <p:val>
                                            <p:strVal val="#ppt_w"/>
                                          </p:val>
                                        </p:tav>
                                      </p:tavLst>
                                    </p:anim>
                                    <p:anim calcmode="lin" valueType="num">
                                      <p:cBhvr additive="base">
                                        <p:cTn id="38" dur="650" fill="hold" decel="100000"/>
                                        <p:tgtEl>
                                          <p:spTgt spid="13"/>
                                        </p:tgtEl>
                                        <p:attrNameLst>
                                          <p:attrName>ppt_h</p:attrName>
                                        </p:attrNameLst>
                                      </p:cBhvr>
                                      <p:tavLst>
                                        <p:tav tm="0">
                                          <p:val>
                                            <p:strVal val="#ppt_h*0.6"/>
                                          </p:val>
                                        </p:tav>
                                        <p:tav tm="100000">
                                          <p:val>
                                            <p:strVal val="#ppt_h"/>
                                          </p:val>
                                        </p:tav>
                                      </p:tavLst>
                                    </p:anim>
                                  </p:childTnLst>
                                </p:cTn>
                              </p:par>
                              <p:par>
                                <p:cTn id="39" presetID="53"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650"/>
                                        <p:tgtEl>
                                          <p:spTgt spid="14"/>
                                        </p:tgtEl>
                                      </p:cBhvr>
                                    </p:animEffect>
                                    <p:anim calcmode="lin" valueType="num">
                                      <p:cBhvr additive="base">
                                        <p:cTn id="42" dur="650" fill="hold" decel="100000"/>
                                        <p:tgtEl>
                                          <p:spTgt spid="14"/>
                                        </p:tgtEl>
                                        <p:attrNameLst>
                                          <p:attrName>ppt_w</p:attrName>
                                        </p:attrNameLst>
                                      </p:cBhvr>
                                      <p:tavLst>
                                        <p:tav tm="0">
                                          <p:val>
                                            <p:strVal val="#ppt_w*0.6"/>
                                          </p:val>
                                        </p:tav>
                                        <p:tav tm="100000">
                                          <p:val>
                                            <p:strVal val="#ppt_w"/>
                                          </p:val>
                                        </p:tav>
                                      </p:tavLst>
                                    </p:anim>
                                    <p:anim calcmode="lin" valueType="num">
                                      <p:cBhvr additive="base">
                                        <p:cTn id="43" dur="650" fill="hold" decel="100000"/>
                                        <p:tgtEl>
                                          <p:spTgt spid="14"/>
                                        </p:tgtEl>
                                        <p:attrNameLst>
                                          <p:attrName>ppt_h</p:attrName>
                                        </p:attrNameLst>
                                      </p:cBhvr>
                                      <p:tavLst>
                                        <p:tav tm="0">
                                          <p:val>
                                            <p:strVal val="#ppt_h*0.6"/>
                                          </p:val>
                                        </p:tav>
                                        <p:tav tm="100000">
                                          <p:val>
                                            <p:strVal val="#ppt_h"/>
                                          </p:val>
                                        </p:tav>
                                      </p:tavLst>
                                    </p:anim>
                                  </p:childTnLst>
                                </p:cTn>
                              </p:par>
                              <p:par>
                                <p:cTn id="44" presetID="47" presetClass="entr" presetSubtype="0" fill="hold" grpId="0" nodeType="withEffect">
                                  <p:stCondLst>
                                    <p:cond delay="10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650"/>
                                        <p:tgtEl>
                                          <p:spTgt spid="15"/>
                                        </p:tgtEl>
                                      </p:cBhvr>
                                    </p:animEffect>
                                    <p:anim calcmode="lin" valueType="num">
                                      <p:cBhvr additive="base">
                                        <p:cTn id="47" dur="650" fill="hold" decel="100000"/>
                                        <p:tgtEl>
                                          <p:spTgt spid="15"/>
                                        </p:tgtEl>
                                        <p:attrNameLst>
                                          <p:attrName>ppt_y</p:attrName>
                                        </p:attrNameLst>
                                      </p:cBhvr>
                                      <p:tavLst>
                                        <p:tav tm="0">
                                          <p:val>
                                            <p:strVal val="#ppt_y-0.04"/>
                                          </p:val>
                                        </p:tav>
                                        <p:tav tm="100000">
                                          <p:val>
                                            <p:strVal val="#ppt_y"/>
                                          </p:val>
                                        </p:tav>
                                      </p:tavLst>
                                    </p:anim>
                                  </p:childTnLst>
                                </p:cTn>
                              </p:par>
                              <p:par>
                                <p:cTn id="48" presetID="42" presetClass="entr" presetSubtype="0" fill="hold" grpId="0" nodeType="withEffect">
                                  <p:stCondLst>
                                    <p:cond delay="10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650"/>
                                        <p:tgtEl>
                                          <p:spTgt spid="16"/>
                                        </p:tgtEl>
                                      </p:cBhvr>
                                    </p:animEffect>
                                    <p:anim calcmode="lin" valueType="num">
                                      <p:cBhvr additive="base">
                                        <p:cTn id="51" dur="650" fill="hold" decel="100000"/>
                                        <p:tgtEl>
                                          <p:spTgt spid="16"/>
                                        </p:tgtEl>
                                        <p:attrNameLst>
                                          <p:attrName>ppt_y</p:attrName>
                                        </p:attrNameLst>
                                      </p:cBhvr>
                                      <p:tavLst>
                                        <p:tav tm="0">
                                          <p:val>
                                            <p:strVal val="#ppt_y+0.05"/>
                                          </p:val>
                                        </p:tav>
                                        <p:tav tm="100000">
                                          <p:val>
                                            <p:strVal val="#ppt_y"/>
                                          </p:val>
                                        </p:tav>
                                      </p:tavLst>
                                    </p:anim>
                                  </p:childTnLst>
                                </p:cTn>
                              </p:par>
                              <p:par>
                                <p:cTn id="52" presetID="10" presetClass="entr" presetSubtype="0" fill="hold" grpId="0" nodeType="withEffect">
                                  <p:stCondLst>
                                    <p:cond delay="20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650"/>
                                        <p:tgtEl>
                                          <p:spTgt spid="17"/>
                                        </p:tgtEl>
                                      </p:cBhvr>
                                    </p:animEffect>
                                  </p:childTnLst>
                                </p:cTn>
                              </p:par>
                            </p:childTnLst>
                          </p:cTn>
                        </p:par>
                        <p:par>
                          <p:cTn id="77" fill="hold">
                            <p:stCondLst>
                              <p:cond delay="3400"/>
                            </p:stCondLst>
                            <p:childTnLst>
                              <p:par>
                                <p:cTn id="56" presetID="53" presetClass="entr" presetSubtype="0" fill="hold" grpId="0" nodeType="afterEffect">
                                  <p:stCondLst>
                                    <p:cond delay="35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650"/>
                                        <p:tgtEl>
                                          <p:spTgt spid="18"/>
                                        </p:tgtEl>
                                      </p:cBhvr>
                                    </p:animEffect>
                                    <p:anim calcmode="lin" valueType="num">
                                      <p:cBhvr additive="base">
                                        <p:cTn id="59" dur="650" fill="hold" decel="100000"/>
                                        <p:tgtEl>
                                          <p:spTgt spid="18"/>
                                        </p:tgtEl>
                                        <p:attrNameLst>
                                          <p:attrName>ppt_w</p:attrName>
                                        </p:attrNameLst>
                                      </p:cBhvr>
                                      <p:tavLst>
                                        <p:tav tm="0">
                                          <p:val>
                                            <p:strVal val="#ppt_w*0.6"/>
                                          </p:val>
                                        </p:tav>
                                        <p:tav tm="100000">
                                          <p:val>
                                            <p:strVal val="#ppt_w"/>
                                          </p:val>
                                        </p:tav>
                                      </p:tavLst>
                                    </p:anim>
                                    <p:anim calcmode="lin" valueType="num">
                                      <p:cBhvr additive="base">
                                        <p:cTn id="60" dur="650" fill="hold" decel="100000"/>
                                        <p:tgtEl>
                                          <p:spTgt spid="18"/>
                                        </p:tgtEl>
                                        <p:attrNameLst>
                                          <p:attrName>ppt_h</p:attrName>
                                        </p:attrNameLst>
                                      </p:cBhvr>
                                      <p:tavLst>
                                        <p:tav tm="0">
                                          <p:val>
                                            <p:strVal val="#ppt_h*0.6"/>
                                          </p:val>
                                        </p:tav>
                                        <p:tav tm="100000">
                                          <p:val>
                                            <p:strVal val="#ppt_h"/>
                                          </p:val>
                                        </p:tav>
                                      </p:tavLst>
                                    </p:anim>
                                  </p:childTnLst>
                                </p:cTn>
                              </p:par>
                              <p:par>
                                <p:cTn id="61" presetID="53" presetClass="entr" presetSubtype="0"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650"/>
                                        <p:tgtEl>
                                          <p:spTgt spid="19"/>
                                        </p:tgtEl>
                                      </p:cBhvr>
                                    </p:animEffect>
                                    <p:anim calcmode="lin" valueType="num">
                                      <p:cBhvr additive="base">
                                        <p:cTn id="64" dur="650" fill="hold" decel="100000"/>
                                        <p:tgtEl>
                                          <p:spTgt spid="19"/>
                                        </p:tgtEl>
                                        <p:attrNameLst>
                                          <p:attrName>ppt_w</p:attrName>
                                        </p:attrNameLst>
                                      </p:cBhvr>
                                      <p:tavLst>
                                        <p:tav tm="0">
                                          <p:val>
                                            <p:strVal val="#ppt_w*0.6"/>
                                          </p:val>
                                        </p:tav>
                                        <p:tav tm="100000">
                                          <p:val>
                                            <p:strVal val="#ppt_w"/>
                                          </p:val>
                                        </p:tav>
                                      </p:tavLst>
                                    </p:anim>
                                    <p:anim calcmode="lin" valueType="num">
                                      <p:cBhvr additive="base">
                                        <p:cTn id="65" dur="650" fill="hold" decel="100000"/>
                                        <p:tgtEl>
                                          <p:spTgt spid="19"/>
                                        </p:tgtEl>
                                        <p:attrNameLst>
                                          <p:attrName>ppt_h</p:attrName>
                                        </p:attrNameLst>
                                      </p:cBhvr>
                                      <p:tavLst>
                                        <p:tav tm="0">
                                          <p:val>
                                            <p:strVal val="#ppt_h*0.6"/>
                                          </p:val>
                                        </p:tav>
                                        <p:tav tm="100000">
                                          <p:val>
                                            <p:strVal val="#ppt_h"/>
                                          </p:val>
                                        </p:tav>
                                      </p:tavLst>
                                    </p:anim>
                                  </p:childTnLst>
                                </p:cTn>
                              </p:par>
                              <p:par>
                                <p:cTn id="66" presetID="47" presetClass="entr" presetSubtype="0" fill="hold" grpId="0" nodeType="withEffect">
                                  <p:stCondLst>
                                    <p:cond delay="10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650"/>
                                        <p:tgtEl>
                                          <p:spTgt spid="20"/>
                                        </p:tgtEl>
                                      </p:cBhvr>
                                    </p:animEffect>
                                    <p:anim calcmode="lin" valueType="num">
                                      <p:cBhvr additive="base">
                                        <p:cTn id="69" dur="650" fill="hold" decel="100000"/>
                                        <p:tgtEl>
                                          <p:spTgt spid="20"/>
                                        </p:tgtEl>
                                        <p:attrNameLst>
                                          <p:attrName>ppt_y</p:attrName>
                                        </p:attrNameLst>
                                      </p:cBhvr>
                                      <p:tavLst>
                                        <p:tav tm="0">
                                          <p:val>
                                            <p:strVal val="#ppt_y-0.04"/>
                                          </p:val>
                                        </p:tav>
                                        <p:tav tm="100000">
                                          <p:val>
                                            <p:strVal val="#ppt_y"/>
                                          </p:val>
                                        </p:tav>
                                      </p:tavLst>
                                    </p:anim>
                                  </p:childTnLst>
                                </p:cTn>
                              </p:par>
                              <p:par>
                                <p:cTn id="70" presetID="42" presetClass="entr" presetSubtype="0" fill="hold" grpId="0" nodeType="withEffect">
                                  <p:stCondLst>
                                    <p:cond delay="10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650"/>
                                        <p:tgtEl>
                                          <p:spTgt spid="21"/>
                                        </p:tgtEl>
                                      </p:cBhvr>
                                    </p:animEffect>
                                    <p:anim calcmode="lin" valueType="num">
                                      <p:cBhvr additive="base">
                                        <p:cTn id="73" dur="650" fill="hold" decel="100000"/>
                                        <p:tgtEl>
                                          <p:spTgt spid="21"/>
                                        </p:tgtEl>
                                        <p:attrNameLst>
                                          <p:attrName>ppt_y</p:attrName>
                                        </p:attrNameLst>
                                      </p:cBhvr>
                                      <p:tavLst>
                                        <p:tav tm="0">
                                          <p:val>
                                            <p:strVal val="#ppt_y+0.05"/>
                                          </p:val>
                                        </p:tav>
                                        <p:tav tm="100000">
                                          <p:val>
                                            <p:strVal val="#ppt_y"/>
                                          </p:val>
                                        </p:tav>
                                      </p:tavLst>
                                    </p:anim>
                                  </p:childTnLst>
                                </p:cTn>
                              </p:par>
                              <p:par>
                                <p:cTn id="74" presetID="10" presetClass="entr" presetSubtype="0" fill="hold" grpId="0" nodeType="withEffect">
                                  <p:stCondLst>
                                    <p:cond delay="20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650"/>
                                        <p:tgtEl>
                                          <p:spTgt spid="22"/>
                                        </p:tgtEl>
                                      </p:cBhvr>
                                    </p:animEffect>
                                  </p:childTnLst>
                                </p:cTn>
                              </p:par>
                            </p:childTnLst>
                          </p:cTn>
                        </p:par>
                        <p:par>
                          <p:cTn id="99" fill="hold">
                            <p:stCondLst>
                              <p:cond delay="4400"/>
                            </p:stCondLst>
                            <p:childTnLst>
                              <p:par>
                                <p:cTn id="78" presetID="53" presetClass="entr" presetSubtype="0" fill="hold" grpId="0" nodeType="afterEffect">
                                  <p:stCondLst>
                                    <p:cond delay="35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650"/>
                                        <p:tgtEl>
                                          <p:spTgt spid="23"/>
                                        </p:tgtEl>
                                      </p:cBhvr>
                                    </p:animEffect>
                                    <p:anim calcmode="lin" valueType="num">
                                      <p:cBhvr additive="base">
                                        <p:cTn id="81" dur="650" fill="hold" decel="100000"/>
                                        <p:tgtEl>
                                          <p:spTgt spid="23"/>
                                        </p:tgtEl>
                                        <p:attrNameLst>
                                          <p:attrName>ppt_w</p:attrName>
                                        </p:attrNameLst>
                                      </p:cBhvr>
                                      <p:tavLst>
                                        <p:tav tm="0">
                                          <p:val>
                                            <p:strVal val="#ppt_w*0.6"/>
                                          </p:val>
                                        </p:tav>
                                        <p:tav tm="100000">
                                          <p:val>
                                            <p:strVal val="#ppt_w"/>
                                          </p:val>
                                        </p:tav>
                                      </p:tavLst>
                                    </p:anim>
                                    <p:anim calcmode="lin" valueType="num">
                                      <p:cBhvr additive="base">
                                        <p:cTn id="82" dur="650" fill="hold" decel="100000"/>
                                        <p:tgtEl>
                                          <p:spTgt spid="23"/>
                                        </p:tgtEl>
                                        <p:attrNameLst>
                                          <p:attrName>ppt_h</p:attrName>
                                        </p:attrNameLst>
                                      </p:cBhvr>
                                      <p:tavLst>
                                        <p:tav tm="0">
                                          <p:val>
                                            <p:strVal val="#ppt_h*0.6"/>
                                          </p:val>
                                        </p:tav>
                                        <p:tav tm="100000">
                                          <p:val>
                                            <p:strVal val="#ppt_h"/>
                                          </p:val>
                                        </p:tav>
                                      </p:tavLst>
                                    </p:anim>
                                  </p:childTnLst>
                                </p:cTn>
                              </p:par>
                              <p:par>
                                <p:cTn id="83" presetID="53"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fade">
                                      <p:cBhvr>
                                        <p:cTn id="85" dur="650"/>
                                        <p:tgtEl>
                                          <p:spTgt spid="24"/>
                                        </p:tgtEl>
                                      </p:cBhvr>
                                    </p:animEffect>
                                    <p:anim calcmode="lin" valueType="num">
                                      <p:cBhvr additive="base">
                                        <p:cTn id="86" dur="650" fill="hold" decel="100000"/>
                                        <p:tgtEl>
                                          <p:spTgt spid="24"/>
                                        </p:tgtEl>
                                        <p:attrNameLst>
                                          <p:attrName>ppt_w</p:attrName>
                                        </p:attrNameLst>
                                      </p:cBhvr>
                                      <p:tavLst>
                                        <p:tav tm="0">
                                          <p:val>
                                            <p:strVal val="#ppt_w*0.6"/>
                                          </p:val>
                                        </p:tav>
                                        <p:tav tm="100000">
                                          <p:val>
                                            <p:strVal val="#ppt_w"/>
                                          </p:val>
                                        </p:tav>
                                      </p:tavLst>
                                    </p:anim>
                                    <p:anim calcmode="lin" valueType="num">
                                      <p:cBhvr additive="base">
                                        <p:cTn id="87" dur="650" fill="hold" decel="100000"/>
                                        <p:tgtEl>
                                          <p:spTgt spid="24"/>
                                        </p:tgtEl>
                                        <p:attrNameLst>
                                          <p:attrName>ppt_h</p:attrName>
                                        </p:attrNameLst>
                                      </p:cBhvr>
                                      <p:tavLst>
                                        <p:tav tm="0">
                                          <p:val>
                                            <p:strVal val="#ppt_h*0.6"/>
                                          </p:val>
                                        </p:tav>
                                        <p:tav tm="100000">
                                          <p:val>
                                            <p:strVal val="#ppt_h"/>
                                          </p:val>
                                        </p:tav>
                                      </p:tavLst>
                                    </p:anim>
                                  </p:childTnLst>
                                </p:cTn>
                              </p:par>
                              <p:par>
                                <p:cTn id="88" presetID="47" presetClass="entr" presetSubtype="0" fill="hold" grpId="0" nodeType="withEffect">
                                  <p:stCondLst>
                                    <p:cond delay="10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650"/>
                                        <p:tgtEl>
                                          <p:spTgt spid="25"/>
                                        </p:tgtEl>
                                      </p:cBhvr>
                                    </p:animEffect>
                                    <p:anim calcmode="lin" valueType="num">
                                      <p:cBhvr additive="base">
                                        <p:cTn id="91" dur="650" fill="hold" decel="100000"/>
                                        <p:tgtEl>
                                          <p:spTgt spid="25"/>
                                        </p:tgtEl>
                                        <p:attrNameLst>
                                          <p:attrName>ppt_y</p:attrName>
                                        </p:attrNameLst>
                                      </p:cBhvr>
                                      <p:tavLst>
                                        <p:tav tm="0">
                                          <p:val>
                                            <p:strVal val="#ppt_y-0.04"/>
                                          </p:val>
                                        </p:tav>
                                        <p:tav tm="100000">
                                          <p:val>
                                            <p:strVal val="#ppt_y"/>
                                          </p:val>
                                        </p:tav>
                                      </p:tavLst>
                                    </p:anim>
                                  </p:childTnLst>
                                </p:cTn>
                              </p:par>
                              <p:par>
                                <p:cTn id="92" presetID="42" presetClass="entr" presetSubtype="0" fill="hold" grpId="0" nodeType="withEffect">
                                  <p:stCondLst>
                                    <p:cond delay="10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650"/>
                                        <p:tgtEl>
                                          <p:spTgt spid="26"/>
                                        </p:tgtEl>
                                      </p:cBhvr>
                                    </p:animEffect>
                                    <p:anim calcmode="lin" valueType="num">
                                      <p:cBhvr additive="base">
                                        <p:cTn id="95" dur="650" fill="hold" decel="100000"/>
                                        <p:tgtEl>
                                          <p:spTgt spid="26"/>
                                        </p:tgtEl>
                                        <p:attrNameLst>
                                          <p:attrName>ppt_y</p:attrName>
                                        </p:attrNameLst>
                                      </p:cBhvr>
                                      <p:tavLst>
                                        <p:tav tm="0">
                                          <p:val>
                                            <p:strVal val="#ppt_y+0.05"/>
                                          </p:val>
                                        </p:tav>
                                        <p:tav tm="100000">
                                          <p:val>
                                            <p:strVal val="#ppt_y"/>
                                          </p:val>
                                        </p:tav>
                                      </p:tavLst>
                                    </p:anim>
                                  </p:childTnLst>
                                </p:cTn>
                              </p:par>
                              <p:par>
                                <p:cTn id="96" presetID="10" presetClass="entr" presetSubtype="0" fill="hold" grpId="0" nodeType="withEffect">
                                  <p:stCondLst>
                                    <p:cond delay="20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6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glow1"/>
          <p:cNvSpPr/>
          <p:nvPr/>
        </p:nvSpPr>
        <p:spPr>
          <a:xfrm>
            <a:off x="6858000" y="914400"/>
            <a:ext cx="6400800" cy="6400800"/>
          </a:xfrm>
          <a:prstGeom prst="ellipse">
            <a:avLst/>
          </a:prstGeom>
          <a:solidFill>
            <a:schemeClr val="accent1">
              <a:alpha val="6000"/>
            </a:schemeClr>
          </a:solidFill>
          <a:ln/>
        </p:spPr>
      </p:sp>
      <p:sp>
        <p:nvSpPr>
          <p:cNvPr id="3" name="!!glow2"/>
          <p:cNvSpPr/>
          <p:nvPr/>
        </p:nvSpPr>
        <p:spPr>
          <a:xfrm>
            <a:off x="-914400" y="-2286000"/>
            <a:ext cx="4572000" cy="45720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EN CHIFFRES</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Simple, rapide, </a:t>
            </a:r>
            <a:pPr algn="l" indent="0" marL="0">
              <a:buNone/>
            </a:pPr>
            <a:r>
              <a:rPr lang="en-US" sz="3400" b="1" dirty="0">
                <a:solidFill>
                  <a:schemeClr val="accent1"/>
                </a:solidFill>
                <a:latin typeface="Arial Black" pitchFamily="34" charset="0"/>
                <a:ea typeface="Arial Black" pitchFamily="34" charset="-122"/>
                <a:cs typeface="Arial Black" pitchFamily="34" charset="-120"/>
              </a:rPr>
              <a:t>transparent</a:t>
            </a:r>
            <a:endParaRPr lang="en-US" sz="3400" dirty="0"/>
          </a:p>
        </p:txBody>
      </p:sp>
      <p:sp>
        <p:nvSpPr>
          <p:cNvPr id="9" name="Stat 1"/>
          <p:cNvSpPr txBox="1"/>
          <p:nvPr/>
        </p:nvSpPr>
        <p:spPr>
          <a:xfrm>
            <a:off x="548640" y="2331720"/>
            <a:ext cx="3108960" cy="1005840"/>
          </a:xfrm>
          <a:prstGeom prst="rect">
            <a:avLst/>
          </a:prstGeom>
          <a:noFill/>
          <a:ln/>
        </p:spPr>
        <p:txBody>
          <a:bodyPr wrap="square" lIns="0" tIns="0" rIns="0" bIns="0" rtlCol="0" anchor="ctr"/>
          <a:lstStyle/>
          <a:p>
            <a:pPr indent="0" marL="0">
              <a:buNone/>
            </a:pPr>
            <a:r>
              <a:rPr lang="en-US" sz="6000" dirty="0">
                <a:solidFill>
                  <a:schemeClr val="accent1"/>
                </a:solidFill>
                <a:latin typeface="Arial Black" pitchFamily="34" charset="0"/>
                <a:ea typeface="Arial Black" pitchFamily="34" charset="-122"/>
                <a:cs typeface="Arial Black" pitchFamily="34" charset="-120"/>
              </a:rPr>
              <a:t>14</a:t>
            </a:r>
            <a:endParaRPr lang="en-US" sz="6000" dirty="0"/>
          </a:p>
        </p:txBody>
      </p:sp>
      <p:sp>
        <p:nvSpPr>
          <p:cNvPr id="10" name="Légende 1"/>
          <p:cNvSpPr txBox="1"/>
          <p:nvPr/>
        </p:nvSpPr>
        <p:spPr>
          <a:xfrm>
            <a:off x="3840480" y="2468880"/>
            <a:ext cx="3566160" cy="77724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jours maximum</a:t>
            </a:r>
            <a:endParaRPr lang="en-US" sz="1800" dirty="0"/>
          </a:p>
          <a:p>
            <a:pPr indent="0" marL="0">
              <a:buNone/>
            </a:pPr>
            <a:r>
              <a:rPr lang="en-US" sz="1800" dirty="0">
                <a:solidFill>
                  <a:schemeClr val="bg2"/>
                </a:solidFill>
                <a:latin typeface="Arial" pitchFamily="34" charset="0"/>
                <a:ea typeface="Arial" pitchFamily="34" charset="-122"/>
                <a:cs typeface="Arial" pitchFamily="34" charset="-120"/>
              </a:rPr>
              <a:t>pour être en ligne</a:t>
            </a:r>
            <a:endParaRPr lang="en-US" sz="1800" dirty="0"/>
          </a:p>
        </p:txBody>
      </p:sp>
      <p:sp>
        <p:nvSpPr>
          <p:cNvPr id="11" name="Stat 2"/>
          <p:cNvSpPr txBox="1"/>
          <p:nvPr/>
        </p:nvSpPr>
        <p:spPr>
          <a:xfrm>
            <a:off x="548640" y="3611880"/>
            <a:ext cx="3108960" cy="1005840"/>
          </a:xfrm>
          <a:prstGeom prst="rect">
            <a:avLst/>
          </a:prstGeom>
          <a:noFill/>
          <a:ln/>
        </p:spPr>
        <p:txBody>
          <a:bodyPr wrap="square" lIns="0" tIns="0" rIns="0" bIns="0" rtlCol="0" anchor="ctr"/>
          <a:lstStyle/>
          <a:p>
            <a:pPr indent="0" marL="0">
              <a:buNone/>
            </a:pPr>
            <a:r>
              <a:rPr lang="en-US" sz="6000" dirty="0">
                <a:solidFill>
                  <a:schemeClr val="accent1"/>
                </a:solidFill>
                <a:latin typeface="Arial Black" pitchFamily="34" charset="0"/>
                <a:ea typeface="Arial Black" pitchFamily="34" charset="-122"/>
                <a:cs typeface="Arial Black" pitchFamily="34" charset="-120"/>
              </a:rPr>
              <a:t>400 €</a:t>
            </a:r>
            <a:endParaRPr lang="en-US" sz="6000" dirty="0"/>
          </a:p>
        </p:txBody>
      </p:sp>
      <p:sp>
        <p:nvSpPr>
          <p:cNvPr id="12" name="Légende 2"/>
          <p:cNvSpPr txBox="1"/>
          <p:nvPr/>
        </p:nvSpPr>
        <p:spPr>
          <a:xfrm>
            <a:off x="3840480" y="3749040"/>
            <a:ext cx="3566160" cy="77724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pour commencer</a:t>
            </a:r>
            <a:endParaRPr lang="en-US" sz="1800" dirty="0"/>
          </a:p>
          <a:p>
            <a:pPr indent="0" marL="0">
              <a:buNone/>
            </a:pPr>
            <a:r>
              <a:rPr lang="en-US" sz="1800" dirty="0">
                <a:solidFill>
                  <a:schemeClr val="bg2"/>
                </a:solidFill>
                <a:latin typeface="Arial" pitchFamily="34" charset="0"/>
                <a:ea typeface="Arial" pitchFamily="34" charset="-122"/>
                <a:cs typeface="Arial" pitchFamily="34" charset="-120"/>
              </a:rPr>
              <a:t>site vitrine Essentiel</a:t>
            </a:r>
            <a:endParaRPr lang="en-US" sz="1800" dirty="0"/>
          </a:p>
        </p:txBody>
      </p:sp>
      <p:sp>
        <p:nvSpPr>
          <p:cNvPr id="13" name="Stat 3"/>
          <p:cNvSpPr txBox="1"/>
          <p:nvPr/>
        </p:nvSpPr>
        <p:spPr>
          <a:xfrm>
            <a:off x="548640" y="4892040"/>
            <a:ext cx="3108960" cy="1005840"/>
          </a:xfrm>
          <a:prstGeom prst="rect">
            <a:avLst/>
          </a:prstGeom>
          <a:noFill/>
          <a:ln/>
        </p:spPr>
        <p:txBody>
          <a:bodyPr wrap="square" lIns="0" tIns="0" rIns="0" bIns="0" rtlCol="0" anchor="ctr"/>
          <a:lstStyle/>
          <a:p>
            <a:pPr indent="0" marL="0">
              <a:buNone/>
            </a:pPr>
            <a:r>
              <a:rPr lang="en-US" sz="6000" dirty="0">
                <a:solidFill>
                  <a:schemeClr val="accent1"/>
                </a:solidFill>
                <a:latin typeface="Arial Black" pitchFamily="34" charset="0"/>
                <a:ea typeface="Arial Black" pitchFamily="34" charset="-122"/>
                <a:cs typeface="Arial Black" pitchFamily="34" charset="-120"/>
              </a:rPr>
              <a:t>1</a:t>
            </a:r>
            <a:endParaRPr lang="en-US" sz="6000" dirty="0"/>
          </a:p>
        </p:txBody>
      </p:sp>
      <p:sp>
        <p:nvSpPr>
          <p:cNvPr id="14" name="Légende 3"/>
          <p:cNvSpPr txBox="1"/>
          <p:nvPr/>
        </p:nvSpPr>
        <p:spPr>
          <a:xfrm>
            <a:off x="3840480" y="5029200"/>
            <a:ext cx="3566160" cy="77724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interlocuteur</a:t>
            </a:r>
            <a:endParaRPr lang="en-US" sz="1800" dirty="0"/>
          </a:p>
          <a:p>
            <a:pPr indent="0" marL="0">
              <a:buNone/>
            </a:pPr>
            <a:r>
              <a:rPr lang="en-US" sz="1800" dirty="0">
                <a:solidFill>
                  <a:schemeClr val="bg2"/>
                </a:solidFill>
                <a:latin typeface="Arial" pitchFamily="34" charset="0"/>
                <a:ea typeface="Arial" pitchFamily="34" charset="-122"/>
                <a:cs typeface="Arial" pitchFamily="34" charset="-120"/>
              </a:rPr>
              <a:t>du devis au suivi</a:t>
            </a:r>
            <a:endParaRPr lang="en-US" sz="18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4" fill="hold">
                      <p:stCondLst>
                        <p:cond delay="indefinite"/>
                        <p:cond evt="onBegin" delay="0">
                          <p:tn val="2"/>
                        </p:cond>
                      </p:stCondLst>
                      <p:childTnLst>
                        <p:par>
                          <p:cTn id="8" fill="hold">
                            <p:stCondLst>
                              <p:cond delay="0"/>
                            </p:stCondLst>
                            <p:childTnLst>
                              <p:par>
                                <p:cTn id="3" presetID="1" presetClass="mediacall" presetSubtype="0" fill="hold" nodeType="withEffect">
                                  <p:stCondLst>
                                    <p:cond delay="0"/>
                                  </p:stCondLst>
                                  <p:childTnLst>
                                    <p:cmd type="call" cmd="playFrom(0.0)">
                                      <p:cBhvr>
                                        <p:cTn id="4" dur="4000" fill="hold"/>
                                        <p:tgtEl>
                                          <p:spTgt spid="3"/>
                                        </p:tgtEl>
                                      </p:cBhvr>
                                    </p:cmd>
                                  </p:childTnLst>
                                </p:cTn>
                              </p:par>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childTnLst>
                                </p:cTn>
                              </p:par>
                            </p:childTnLst>
                          </p:cTn>
                        </p:par>
                        <p:par>
                          <p:cTn id="13" fill="hold">
                            <p:stCondLst>
                              <p:cond delay="650"/>
                            </p:stCondLst>
                            <p:childTnLst>
                              <p:par>
                                <p:cTn id="9" presetID="42" presetClass="entr" presetSubtype="0" fill="hold" grpId="0" nodeType="after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50"/>
                                        <p:tgtEl>
                                          <p:spTgt spid="8"/>
                                        </p:tgtEl>
                                      </p:cBhvr>
                                    </p:animEffect>
                                    <p:anim calcmode="lin" valueType="num">
                                      <p:cBhvr additive="base">
                                        <p:cTn id="12" dur="650" fill="hold" decel="100000"/>
                                        <p:tgtEl>
                                          <p:spTgt spid="8"/>
                                        </p:tgtEl>
                                        <p:attrNameLst>
                                          <p:attrName>ppt_y</p:attrName>
                                        </p:attrNameLst>
                                      </p:cBhvr>
                                      <p:tavLst>
                                        <p:tav tm="0">
                                          <p:val>
                                            <p:strVal val="#ppt_y+0.05"/>
                                          </p:val>
                                        </p:tav>
                                        <p:tav tm="100000">
                                          <p:val>
                                            <p:strVal val="#ppt_y"/>
                                          </p:val>
                                        </p:tav>
                                      </p:tavLst>
                                    </p:anim>
                                  </p:childTnLst>
                                </p:cTn>
                              </p:par>
                            </p:childTnLst>
                          </p:cTn>
                        </p:par>
                        <p:par>
                          <p:cTn id="23" fill="hold">
                            <p:stCondLst>
                              <p:cond delay="1400"/>
                            </p:stCondLst>
                            <p:childTnLst>
                              <p:par>
                                <p:cTn id="14" presetID="53" presetClass="entr" presetSubtype="0" fill="hold" grpId="0" nodeType="afterEffect">
                                  <p:stCondLst>
                                    <p:cond delay="3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50"/>
                                        <p:tgtEl>
                                          <p:spTgt spid="9"/>
                                        </p:tgtEl>
                                      </p:cBhvr>
                                    </p:animEffect>
                                    <p:anim calcmode="lin" valueType="num">
                                      <p:cBhvr additive="base">
                                        <p:cTn id="17" dur="650" fill="hold" decel="100000"/>
                                        <p:tgtEl>
                                          <p:spTgt spid="9"/>
                                        </p:tgtEl>
                                        <p:attrNameLst>
                                          <p:attrName>ppt_w</p:attrName>
                                        </p:attrNameLst>
                                      </p:cBhvr>
                                      <p:tavLst>
                                        <p:tav tm="0">
                                          <p:val>
                                            <p:strVal val="#ppt_w*0.6"/>
                                          </p:val>
                                        </p:tav>
                                        <p:tav tm="100000">
                                          <p:val>
                                            <p:strVal val="#ppt_w"/>
                                          </p:val>
                                        </p:tav>
                                      </p:tavLst>
                                    </p:anim>
                                    <p:anim calcmode="lin" valueType="num">
                                      <p:cBhvr additive="base">
                                        <p:cTn id="18" dur="650" fill="hold" decel="100000"/>
                                        <p:tgtEl>
                                          <p:spTgt spid="9"/>
                                        </p:tgtEl>
                                        <p:attrNameLst>
                                          <p:attrName>ppt_h</p:attrName>
                                        </p:attrNameLst>
                                      </p:cBhvr>
                                      <p:tavLst>
                                        <p:tav tm="0">
                                          <p:val>
                                            <p:strVal val="#ppt_h*0.6"/>
                                          </p:val>
                                        </p:tav>
                                        <p:tav tm="100000">
                                          <p:val>
                                            <p:strVal val="#ppt_h"/>
                                          </p:val>
                                        </p:tav>
                                      </p:tavLst>
                                    </p:anim>
                                  </p:childTnLst>
                                </p:cTn>
                              </p:par>
                              <p:par>
                                <p:cTn id="19" presetID="47" presetClass="entr" presetSubtype="0" fill="hold" grpId="0" nodeType="withEffect">
                                  <p:stCondLst>
                                    <p:cond delay="15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50"/>
                                        <p:tgtEl>
                                          <p:spTgt spid="10"/>
                                        </p:tgtEl>
                                      </p:cBhvr>
                                    </p:animEffect>
                                    <p:anim calcmode="lin" valueType="num">
                                      <p:cBhvr additive="base">
                                        <p:cTn id="22" dur="650" fill="hold" decel="100000"/>
                                        <p:tgtEl>
                                          <p:spTgt spid="10"/>
                                        </p:tgtEl>
                                        <p:attrNameLst>
                                          <p:attrName>ppt_x</p:attrName>
                                        </p:attrNameLst>
                                      </p:cBhvr>
                                      <p:tavLst>
                                        <p:tav tm="0">
                                          <p:val>
                                            <p:strVal val="#ppt_x-0.04"/>
                                          </p:val>
                                        </p:tav>
                                        <p:tav tm="100000">
                                          <p:val>
                                            <p:strVal val="#ppt_x"/>
                                          </p:val>
                                        </p:tav>
                                      </p:tavLst>
                                    </p:anim>
                                  </p:childTnLst>
                                </p:cTn>
                              </p:par>
                            </p:childTnLst>
                          </p:cTn>
                        </p:par>
                        <p:par>
                          <p:cTn id="33" fill="hold">
                            <p:stCondLst>
                              <p:cond delay="2350"/>
                            </p:stCondLst>
                            <p:childTnLst>
                              <p:par>
                                <p:cTn id="24" presetID="53" presetClass="entr" presetSubtype="0" fill="hold" grpId="0" nodeType="afterEffect">
                                  <p:stCondLst>
                                    <p:cond delay="30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50"/>
                                        <p:tgtEl>
                                          <p:spTgt spid="11"/>
                                        </p:tgtEl>
                                      </p:cBhvr>
                                    </p:animEffect>
                                    <p:anim calcmode="lin" valueType="num">
                                      <p:cBhvr additive="base">
                                        <p:cTn id="27" dur="650" fill="hold" decel="100000"/>
                                        <p:tgtEl>
                                          <p:spTgt spid="11"/>
                                        </p:tgtEl>
                                        <p:attrNameLst>
                                          <p:attrName>ppt_w</p:attrName>
                                        </p:attrNameLst>
                                      </p:cBhvr>
                                      <p:tavLst>
                                        <p:tav tm="0">
                                          <p:val>
                                            <p:strVal val="#ppt_w*0.6"/>
                                          </p:val>
                                        </p:tav>
                                        <p:tav tm="100000">
                                          <p:val>
                                            <p:strVal val="#ppt_w"/>
                                          </p:val>
                                        </p:tav>
                                      </p:tavLst>
                                    </p:anim>
                                    <p:anim calcmode="lin" valueType="num">
                                      <p:cBhvr additive="base">
                                        <p:cTn id="28" dur="650" fill="hold" decel="100000"/>
                                        <p:tgtEl>
                                          <p:spTgt spid="11"/>
                                        </p:tgtEl>
                                        <p:attrNameLst>
                                          <p:attrName>ppt_h</p:attrName>
                                        </p:attrNameLst>
                                      </p:cBhvr>
                                      <p:tavLst>
                                        <p:tav tm="0">
                                          <p:val>
                                            <p:strVal val="#ppt_h*0.6"/>
                                          </p:val>
                                        </p:tav>
                                        <p:tav tm="100000">
                                          <p:val>
                                            <p:strVal val="#ppt_h"/>
                                          </p:val>
                                        </p:tav>
                                      </p:tavLst>
                                    </p:anim>
                                  </p:childTnLst>
                                </p:cTn>
                              </p:par>
                              <p:par>
                                <p:cTn id="29" presetID="47" presetClass="entr" presetSubtype="0" fill="hold" grpId="0" nodeType="withEffect">
                                  <p:stCondLst>
                                    <p:cond delay="1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50"/>
                                        <p:tgtEl>
                                          <p:spTgt spid="12"/>
                                        </p:tgtEl>
                                      </p:cBhvr>
                                    </p:animEffect>
                                    <p:anim calcmode="lin" valueType="num">
                                      <p:cBhvr additive="base">
                                        <p:cTn id="32" dur="650" fill="hold" decel="100000"/>
                                        <p:tgtEl>
                                          <p:spTgt spid="12"/>
                                        </p:tgtEl>
                                        <p:attrNameLst>
                                          <p:attrName>ppt_x</p:attrName>
                                        </p:attrNameLst>
                                      </p:cBhvr>
                                      <p:tavLst>
                                        <p:tav tm="0">
                                          <p:val>
                                            <p:strVal val="#ppt_x-0.04"/>
                                          </p:val>
                                        </p:tav>
                                        <p:tav tm="100000">
                                          <p:val>
                                            <p:strVal val="#ppt_x"/>
                                          </p:val>
                                        </p:tav>
                                      </p:tavLst>
                                    </p:anim>
                                  </p:childTnLst>
                                </p:cTn>
                              </p:par>
                            </p:childTnLst>
                          </p:cTn>
                        </p:par>
                        <p:par>
                          <p:cTn id="43" fill="hold">
                            <p:stCondLst>
                              <p:cond delay="3300"/>
                            </p:stCondLst>
                            <p:childTnLst>
                              <p:par>
                                <p:cTn id="34" presetID="53" presetClass="entr" presetSubtype="0" fill="hold" grpId="0" nodeType="afterEffect">
                                  <p:stCondLst>
                                    <p:cond delay="30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50"/>
                                        <p:tgtEl>
                                          <p:spTgt spid="13"/>
                                        </p:tgtEl>
                                      </p:cBhvr>
                                    </p:animEffect>
                                    <p:anim calcmode="lin" valueType="num">
                                      <p:cBhvr additive="base">
                                        <p:cTn id="37" dur="650" fill="hold" decel="100000"/>
                                        <p:tgtEl>
                                          <p:spTgt spid="13"/>
                                        </p:tgtEl>
                                        <p:attrNameLst>
                                          <p:attrName>ppt_w</p:attrName>
                                        </p:attrNameLst>
                                      </p:cBhvr>
                                      <p:tavLst>
                                        <p:tav tm="0">
                                          <p:val>
                                            <p:strVal val="#ppt_w*0.6"/>
                                          </p:val>
                                        </p:tav>
                                        <p:tav tm="100000">
                                          <p:val>
                                            <p:strVal val="#ppt_w"/>
                                          </p:val>
                                        </p:tav>
                                      </p:tavLst>
                                    </p:anim>
                                    <p:anim calcmode="lin" valueType="num">
                                      <p:cBhvr additive="base">
                                        <p:cTn id="38" dur="650" fill="hold" decel="100000"/>
                                        <p:tgtEl>
                                          <p:spTgt spid="13"/>
                                        </p:tgtEl>
                                        <p:attrNameLst>
                                          <p:attrName>ppt_h</p:attrName>
                                        </p:attrNameLst>
                                      </p:cBhvr>
                                      <p:tavLst>
                                        <p:tav tm="0">
                                          <p:val>
                                            <p:strVal val="#ppt_h*0.6"/>
                                          </p:val>
                                        </p:tav>
                                        <p:tav tm="100000">
                                          <p:val>
                                            <p:strVal val="#ppt_h"/>
                                          </p:val>
                                        </p:tav>
                                      </p:tavLst>
                                    </p:anim>
                                  </p:childTnLst>
                                </p:cTn>
                              </p:par>
                              <p:par>
                                <p:cTn id="39" presetID="47" presetClass="entr" presetSubtype="0" fill="hold" grpId="0" nodeType="withEffect">
                                  <p:stCondLst>
                                    <p:cond delay="15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650"/>
                                        <p:tgtEl>
                                          <p:spTgt spid="14"/>
                                        </p:tgtEl>
                                      </p:cBhvr>
                                    </p:animEffect>
                                    <p:anim calcmode="lin" valueType="num">
                                      <p:cBhvr additive="base">
                                        <p:cTn id="42" dur="650" fill="hold" decel="100000"/>
                                        <p:tgtEl>
                                          <p:spTgt spid="14"/>
                                        </p:tgtEl>
                                        <p:attrNameLst>
                                          <p:attrName>ppt_x</p:attrName>
                                        </p:attrNameLst>
                                      </p:cBhvr>
                                      <p:tavLst>
                                        <p:tav tm="0">
                                          <p:val>
                                            <p:strVal val="#ppt_x-0.04"/>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45" repeatCount="indefinite" fill="hold" display="0">
                  <p:stCondLst>
                    <p:cond delay="indefinite"/>
                  </p:stCondLst>
                </p:cTn>
                <p:tgtEl>
                  <p:spTgt spid="3"/>
                </p:tgtEl>
              </p:cMediaNode>
            </p:video>
          </p:childTnLst>
        </p:cTn>
      </p:par>
    </p:tnLst>
    <p:bldLst>
      <p:bldP spid="7" grpId="0" animBg="1"/>
      <p:bldP spid="8" grpId="0" animBg="1"/>
      <p:bldP spid="9" grpId="0" animBg="1"/>
      <p:bldP spid="10" grpId="0" animBg="1"/>
      <p:bldP spid="11" grpId="0" animBg="1"/>
      <p:bldP spid="12" grpId="0" animBg="1"/>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glow1"/>
          <p:cNvSpPr/>
          <p:nvPr/>
        </p:nvSpPr>
        <p:spPr>
          <a:xfrm>
            <a:off x="8229600" y="-1828800"/>
            <a:ext cx="5943600" cy="5943600"/>
          </a:xfrm>
          <a:prstGeom prst="ellipse">
            <a:avLst/>
          </a:prstGeom>
          <a:solidFill>
            <a:schemeClr val="accent1">
              <a:alpha val="6000"/>
            </a:schemeClr>
          </a:solidFill>
          <a:ln/>
        </p:spPr>
      </p:sp>
      <p:sp>
        <p:nvSpPr>
          <p:cNvPr id="3" name="!!glow2"/>
          <p:cNvSpPr/>
          <p:nvPr/>
        </p:nvSpPr>
        <p:spPr>
          <a:xfrm>
            <a:off x="914400" y="3657600"/>
            <a:ext cx="5486400" cy="54864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VISIBILITÉ</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Trouvé sur Google. </a:t>
            </a:r>
            <a:pPr algn="l" indent="0" marL="0">
              <a:buNone/>
            </a:pPr>
            <a:r>
              <a:rPr lang="en-US" sz="3400" b="1" dirty="0">
                <a:solidFill>
                  <a:schemeClr val="accent1"/>
                </a:solidFill>
                <a:latin typeface="Arial Black" pitchFamily="34" charset="0"/>
                <a:ea typeface="Arial Black" pitchFamily="34" charset="-122"/>
                <a:cs typeface="Arial Black" pitchFamily="34" charset="-120"/>
              </a:rPr>
              <a:t>Appelé dans la foulée</a:t>
            </a:r>
            <a:endParaRPr lang="en-US" sz="3400" dirty="0"/>
          </a:p>
        </p:txBody>
      </p:sp>
      <p:sp>
        <p:nvSpPr>
          <p:cNvPr id="9" name="Index 1"/>
          <p:cNvSpPr txBox="1"/>
          <p:nvPr/>
        </p:nvSpPr>
        <p:spPr>
          <a:xfrm>
            <a:off x="548640" y="2423160"/>
            <a:ext cx="822960" cy="457200"/>
          </a:xfrm>
          <a:prstGeom prst="rect">
            <a:avLst/>
          </a:prstGeom>
          <a:noFill/>
          <a:ln/>
        </p:spPr>
        <p:txBody>
          <a:bodyPr wrap="square" lIns="0" tIns="0" rIns="0" bIns="0" rtlCol="0" anchor="ctr"/>
          <a:lstStyle/>
          <a:p>
            <a:pPr indent="0" marL="0">
              <a:buNone/>
            </a:pPr>
            <a:r>
              <a:rPr lang="en-US" sz="2200" dirty="0">
                <a:solidFill>
                  <a:schemeClr val="accent1"/>
                </a:solidFill>
                <a:latin typeface="Arial Black" pitchFamily="34" charset="0"/>
                <a:ea typeface="Arial Black" pitchFamily="34" charset="-122"/>
                <a:cs typeface="Arial Black" pitchFamily="34" charset="-120"/>
              </a:rPr>
              <a:t>01</a:t>
            </a:r>
            <a:endParaRPr lang="en-US" sz="2200" dirty="0"/>
          </a:p>
        </p:txBody>
      </p:sp>
      <p:sp>
        <p:nvSpPr>
          <p:cNvPr id="10" name="SEO titre 1"/>
          <p:cNvSpPr txBox="1"/>
          <p:nvPr/>
        </p:nvSpPr>
        <p:spPr>
          <a:xfrm>
            <a:off x="1371600" y="2423160"/>
            <a:ext cx="594360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Mots-clés locaux</a:t>
            </a:r>
            <a:endParaRPr lang="en-US" sz="1800" dirty="0"/>
          </a:p>
        </p:txBody>
      </p:sp>
      <p:sp>
        <p:nvSpPr>
          <p:cNvPr id="11" name="SEO texte 1"/>
          <p:cNvSpPr txBox="1"/>
          <p:nvPr/>
        </p:nvSpPr>
        <p:spPr>
          <a:xfrm>
            <a:off x="1371600" y="2807208"/>
            <a:ext cx="5943600" cy="68580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 boulangerie Chambéry », « coiffeur Aix-les-Bains » : ton site parle comme tes clients cherchent.</a:t>
            </a:r>
            <a:endParaRPr lang="en-US" sz="1400" dirty="0"/>
          </a:p>
        </p:txBody>
      </p:sp>
      <p:sp>
        <p:nvSpPr>
          <p:cNvPr id="12" name="Index 2"/>
          <p:cNvSpPr txBox="1"/>
          <p:nvPr/>
        </p:nvSpPr>
        <p:spPr>
          <a:xfrm>
            <a:off x="548640" y="3611880"/>
            <a:ext cx="822960" cy="457200"/>
          </a:xfrm>
          <a:prstGeom prst="rect">
            <a:avLst/>
          </a:prstGeom>
          <a:noFill/>
          <a:ln/>
        </p:spPr>
        <p:txBody>
          <a:bodyPr wrap="square" lIns="0" tIns="0" rIns="0" bIns="0" rtlCol="0" anchor="ctr"/>
          <a:lstStyle/>
          <a:p>
            <a:pPr indent="0" marL="0">
              <a:buNone/>
            </a:pPr>
            <a:r>
              <a:rPr lang="en-US" sz="2200" dirty="0">
                <a:solidFill>
                  <a:schemeClr val="accent1"/>
                </a:solidFill>
                <a:latin typeface="Arial Black" pitchFamily="34" charset="0"/>
                <a:ea typeface="Arial Black" pitchFamily="34" charset="-122"/>
                <a:cs typeface="Arial Black" pitchFamily="34" charset="-120"/>
              </a:rPr>
              <a:t>02</a:t>
            </a:r>
            <a:endParaRPr lang="en-US" sz="2200" dirty="0"/>
          </a:p>
        </p:txBody>
      </p:sp>
      <p:sp>
        <p:nvSpPr>
          <p:cNvPr id="13" name="SEO titre 2"/>
          <p:cNvSpPr txBox="1"/>
          <p:nvPr/>
        </p:nvSpPr>
        <p:spPr>
          <a:xfrm>
            <a:off x="1371600" y="3611880"/>
            <a:ext cx="594360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Fiche Google reliée</a:t>
            </a:r>
            <a:endParaRPr lang="en-US" sz="1800" dirty="0"/>
          </a:p>
        </p:txBody>
      </p:sp>
      <p:sp>
        <p:nvSpPr>
          <p:cNvPr id="14" name="SEO texte 2"/>
          <p:cNvSpPr txBox="1"/>
          <p:nvPr/>
        </p:nvSpPr>
        <p:spPr>
          <a:xfrm>
            <a:off x="1371600" y="3995928"/>
            <a:ext cx="5943600" cy="68580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Horaires, photos, avis et site travaillent ensemble pour te faire remonter.</a:t>
            </a:r>
            <a:endParaRPr lang="en-US" sz="1400" dirty="0"/>
          </a:p>
        </p:txBody>
      </p:sp>
      <p:sp>
        <p:nvSpPr>
          <p:cNvPr id="15" name="Index 3"/>
          <p:cNvSpPr txBox="1"/>
          <p:nvPr/>
        </p:nvSpPr>
        <p:spPr>
          <a:xfrm>
            <a:off x="548640" y="4800600"/>
            <a:ext cx="822960" cy="457200"/>
          </a:xfrm>
          <a:prstGeom prst="rect">
            <a:avLst/>
          </a:prstGeom>
          <a:noFill/>
          <a:ln/>
        </p:spPr>
        <p:txBody>
          <a:bodyPr wrap="square" lIns="0" tIns="0" rIns="0" bIns="0" rtlCol="0" anchor="ctr"/>
          <a:lstStyle/>
          <a:p>
            <a:pPr indent="0" marL="0">
              <a:buNone/>
            </a:pPr>
            <a:r>
              <a:rPr lang="en-US" sz="2200" dirty="0">
                <a:solidFill>
                  <a:schemeClr val="accent1"/>
                </a:solidFill>
                <a:latin typeface="Arial Black" pitchFamily="34" charset="0"/>
                <a:ea typeface="Arial Black" pitchFamily="34" charset="-122"/>
                <a:cs typeface="Arial Black" pitchFamily="34" charset="-120"/>
              </a:rPr>
              <a:t>03</a:t>
            </a:r>
            <a:endParaRPr lang="en-US" sz="2200" dirty="0"/>
          </a:p>
        </p:txBody>
      </p:sp>
      <p:sp>
        <p:nvSpPr>
          <p:cNvPr id="16" name="SEO titre 3"/>
          <p:cNvSpPr txBox="1"/>
          <p:nvPr/>
        </p:nvSpPr>
        <p:spPr>
          <a:xfrm>
            <a:off x="1371600" y="4800600"/>
            <a:ext cx="594360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Un bouton, un appel</a:t>
            </a:r>
            <a:endParaRPr lang="en-US" sz="1800" dirty="0"/>
          </a:p>
        </p:txBody>
      </p:sp>
      <p:sp>
        <p:nvSpPr>
          <p:cNvPr id="17" name="SEO texte 3"/>
          <p:cNvSpPr txBox="1"/>
          <p:nvPr/>
        </p:nvSpPr>
        <p:spPr>
          <a:xfrm>
            <a:off x="1371600" y="5184648"/>
            <a:ext cx="5943600" cy="685800"/>
          </a:xfrm>
          <a:prstGeom prst="rect">
            <a:avLst/>
          </a:prstGeom>
          <a:noFill/>
          <a:ln/>
        </p:spPr>
        <p:txBody>
          <a:bodyPr wrap="square" lIns="0" tIns="0" rIns="0" bIns="0" rtlCol="0" anchor="t"/>
          <a:lstStyle/>
          <a:p>
            <a:pPr indent="0" marL="0">
              <a:buNone/>
            </a:pPr>
            <a:r>
              <a:rPr lang="en-US" sz="1400" dirty="0">
                <a:solidFill>
                  <a:schemeClr val="bg2"/>
                </a:solidFill>
                <a:latin typeface="Arial" pitchFamily="34" charset="0"/>
                <a:ea typeface="Arial" pitchFamily="34" charset="-122"/>
                <a:cs typeface="Arial" pitchFamily="34" charset="-120"/>
              </a:rPr>
              <a:t>Le numéro et l'itinéraire sont à un geste, dès l'ouverture de la page.</a:t>
            </a:r>
            <a:endParaRPr lang="en-US" sz="14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53" fill="hold">
                      <p:stCondLst>
                        <p:cond delay="indefinite"/>
                        <p:cond evt="onBegin" delay="0">
                          <p:tn val="2"/>
                        </p:cond>
                      </p:stCondLst>
                      <p:childTnLst>
                        <p:par>
                          <p:cTn id="8" fill="hold">
                            <p:stCondLst>
                              <p:cond delay="0"/>
                            </p:stCondLst>
                            <p:childTnLst>
                              <p:par>
                                <p:cTn id="3" presetID="1" presetClass="mediacall" presetSubtype="0" fill="hold" nodeType="withEffect">
                                  <p:stCondLst>
                                    <p:cond delay="0"/>
                                  </p:stCondLst>
                                  <p:childTnLst>
                                    <p:cmd type="call" cmd="playFrom(0.0)">
                                      <p:cBhvr>
                                        <p:cTn id="4" dur="4000" fill="hold"/>
                                        <p:tgtEl>
                                          <p:spTgt spid="3"/>
                                        </p:tgtEl>
                                      </p:cBhvr>
                                    </p:cmd>
                                  </p:childTnLst>
                                </p:cTn>
                              </p:par>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childTnLst>
                                </p:cTn>
                              </p:par>
                            </p:childTnLst>
                          </p:cTn>
                        </p:par>
                        <p:par>
                          <p:cTn id="13" fill="hold">
                            <p:stCondLst>
                              <p:cond delay="650"/>
                            </p:stCondLst>
                            <p:childTnLst>
                              <p:par>
                                <p:cTn id="9" presetID="42" presetClass="entr" presetSubtype="0" fill="hold" grpId="0" nodeType="after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50"/>
                                        <p:tgtEl>
                                          <p:spTgt spid="8"/>
                                        </p:tgtEl>
                                      </p:cBhvr>
                                    </p:animEffect>
                                    <p:anim calcmode="lin" valueType="num">
                                      <p:cBhvr additive="base">
                                        <p:cTn id="12" dur="650" fill="hold" decel="100000"/>
                                        <p:tgtEl>
                                          <p:spTgt spid="8"/>
                                        </p:tgtEl>
                                        <p:attrNameLst>
                                          <p:attrName>ppt_y</p:attrName>
                                        </p:attrNameLst>
                                      </p:cBhvr>
                                      <p:tavLst>
                                        <p:tav tm="0">
                                          <p:val>
                                            <p:strVal val="#ppt_y+0.05"/>
                                          </p:val>
                                        </p:tav>
                                        <p:tav tm="100000">
                                          <p:val>
                                            <p:strVal val="#ppt_y"/>
                                          </p:val>
                                        </p:tav>
                                      </p:tavLst>
                                    </p:anim>
                                  </p:childTnLst>
                                </p:cTn>
                              </p:par>
                            </p:childTnLst>
                          </p:cTn>
                        </p:par>
                        <p:par>
                          <p:cTn id="26" fill="hold">
                            <p:stCondLst>
                              <p:cond delay="1400"/>
                            </p:stCondLst>
                            <p:childTnLst>
                              <p:par>
                                <p:cTn id="14" presetID="53" presetClass="entr" presetSubtype="0" fill="hold" grpId="0" nodeType="afterEffect">
                                  <p:stCondLst>
                                    <p:cond delay="3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50"/>
                                        <p:tgtEl>
                                          <p:spTgt spid="9"/>
                                        </p:tgtEl>
                                      </p:cBhvr>
                                    </p:animEffect>
                                    <p:anim calcmode="lin" valueType="num">
                                      <p:cBhvr additive="base">
                                        <p:cTn id="17" dur="650" fill="hold" decel="100000"/>
                                        <p:tgtEl>
                                          <p:spTgt spid="9"/>
                                        </p:tgtEl>
                                        <p:attrNameLst>
                                          <p:attrName>ppt_w</p:attrName>
                                        </p:attrNameLst>
                                      </p:cBhvr>
                                      <p:tavLst>
                                        <p:tav tm="0">
                                          <p:val>
                                            <p:strVal val="#ppt_w*0.6"/>
                                          </p:val>
                                        </p:tav>
                                        <p:tav tm="100000">
                                          <p:val>
                                            <p:strVal val="#ppt_w"/>
                                          </p:val>
                                        </p:tav>
                                      </p:tavLst>
                                    </p:anim>
                                    <p:anim calcmode="lin" valueType="num">
                                      <p:cBhvr additive="base">
                                        <p:cTn id="18" dur="650" fill="hold" decel="100000"/>
                                        <p:tgtEl>
                                          <p:spTgt spid="9"/>
                                        </p:tgtEl>
                                        <p:attrNameLst>
                                          <p:attrName>ppt_h</p:attrName>
                                        </p:attrNameLst>
                                      </p:cBhvr>
                                      <p:tavLst>
                                        <p:tav tm="0">
                                          <p:val>
                                            <p:strVal val="#ppt_h*0.6"/>
                                          </p:val>
                                        </p:tav>
                                        <p:tav tm="100000">
                                          <p:val>
                                            <p:strVal val="#ppt_h"/>
                                          </p:val>
                                        </p:tav>
                                      </p:tavLst>
                                    </p:anim>
                                  </p:childTnLst>
                                </p:cTn>
                              </p:par>
                              <p:par>
                                <p:cTn id="19" presetID="47" presetClass="entr" presetSubtype="0" fill="hold" grpId="0" nodeType="withEffect">
                                  <p:stCondLst>
                                    <p:cond delay="5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50"/>
                                        <p:tgtEl>
                                          <p:spTgt spid="10"/>
                                        </p:tgtEl>
                                      </p:cBhvr>
                                    </p:animEffect>
                                    <p:anim calcmode="lin" valueType="num">
                                      <p:cBhvr additive="base">
                                        <p:cTn id="22" dur="650" fill="hold" decel="100000"/>
                                        <p:tgtEl>
                                          <p:spTgt spid="10"/>
                                        </p:tgtEl>
                                        <p:attrNameLst>
                                          <p:attrName>ppt_x</p:attrName>
                                        </p:attrNameLst>
                                      </p:cBhvr>
                                      <p:tavLst>
                                        <p:tav tm="0">
                                          <p:val>
                                            <p:strVal val="#ppt_x-0.04"/>
                                          </p:val>
                                        </p:tav>
                                        <p:tav tm="100000">
                                          <p:val>
                                            <p:strVal val="#ppt_x"/>
                                          </p:val>
                                        </p:tav>
                                      </p:tavLst>
                                    </p:anim>
                                  </p:childTnLst>
                                </p:cTn>
                              </p:par>
                              <p:par>
                                <p:cTn id="23" presetID="10" presetClass="entr" presetSubtype="0" fill="hold" grpId="0" nodeType="withEffect">
                                  <p:stCondLst>
                                    <p:cond delay="15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650"/>
                                        <p:tgtEl>
                                          <p:spTgt spid="11"/>
                                        </p:tgtEl>
                                      </p:cBhvr>
                                    </p:animEffect>
                                  </p:childTnLst>
                                </p:cTn>
                              </p:par>
                            </p:childTnLst>
                          </p:cTn>
                        </p:par>
                        <p:par>
                          <p:cTn id="39" fill="hold">
                            <p:stCondLst>
                              <p:cond delay="2350"/>
                            </p:stCondLst>
                            <p:childTnLst>
                              <p:par>
                                <p:cTn id="27" presetID="53" presetClass="entr" presetSubtype="0" fill="hold" grpId="0" nodeType="afterEffect">
                                  <p:stCondLst>
                                    <p:cond delay="30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650"/>
                                        <p:tgtEl>
                                          <p:spTgt spid="12"/>
                                        </p:tgtEl>
                                      </p:cBhvr>
                                    </p:animEffect>
                                    <p:anim calcmode="lin" valueType="num">
                                      <p:cBhvr additive="base">
                                        <p:cTn id="30" dur="650" fill="hold" decel="100000"/>
                                        <p:tgtEl>
                                          <p:spTgt spid="12"/>
                                        </p:tgtEl>
                                        <p:attrNameLst>
                                          <p:attrName>ppt_w</p:attrName>
                                        </p:attrNameLst>
                                      </p:cBhvr>
                                      <p:tavLst>
                                        <p:tav tm="0">
                                          <p:val>
                                            <p:strVal val="#ppt_w*0.6"/>
                                          </p:val>
                                        </p:tav>
                                        <p:tav tm="100000">
                                          <p:val>
                                            <p:strVal val="#ppt_w"/>
                                          </p:val>
                                        </p:tav>
                                      </p:tavLst>
                                    </p:anim>
                                    <p:anim calcmode="lin" valueType="num">
                                      <p:cBhvr additive="base">
                                        <p:cTn id="31" dur="650" fill="hold" decel="100000"/>
                                        <p:tgtEl>
                                          <p:spTgt spid="12"/>
                                        </p:tgtEl>
                                        <p:attrNameLst>
                                          <p:attrName>ppt_h</p:attrName>
                                        </p:attrNameLst>
                                      </p:cBhvr>
                                      <p:tavLst>
                                        <p:tav tm="0">
                                          <p:val>
                                            <p:strVal val="#ppt_h*0.6"/>
                                          </p:val>
                                        </p:tav>
                                        <p:tav tm="100000">
                                          <p:val>
                                            <p:strVal val="#ppt_h"/>
                                          </p:val>
                                        </p:tav>
                                      </p:tavLst>
                                    </p:anim>
                                  </p:childTnLst>
                                </p:cTn>
                              </p:par>
                              <p:par>
                                <p:cTn id="32" presetID="47" presetClass="entr" presetSubtype="0" fill="hold" grpId="0" nodeType="withEffect">
                                  <p:stCondLst>
                                    <p:cond delay="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50"/>
                                        <p:tgtEl>
                                          <p:spTgt spid="13"/>
                                        </p:tgtEl>
                                      </p:cBhvr>
                                    </p:animEffect>
                                    <p:anim calcmode="lin" valueType="num">
                                      <p:cBhvr additive="base">
                                        <p:cTn id="35" dur="650" fill="hold" decel="100000"/>
                                        <p:tgtEl>
                                          <p:spTgt spid="13"/>
                                        </p:tgtEl>
                                        <p:attrNameLst>
                                          <p:attrName>ppt_x</p:attrName>
                                        </p:attrNameLst>
                                      </p:cBhvr>
                                      <p:tavLst>
                                        <p:tav tm="0">
                                          <p:val>
                                            <p:strVal val="#ppt_x-0.04"/>
                                          </p:val>
                                        </p:tav>
                                        <p:tav tm="100000">
                                          <p:val>
                                            <p:strVal val="#ppt_x"/>
                                          </p:val>
                                        </p:tav>
                                      </p:tavLst>
                                    </p:anim>
                                  </p:childTnLst>
                                </p:cTn>
                              </p:par>
                              <p:par>
                                <p:cTn id="36" presetID="10" presetClass="entr" presetSubtype="0" fill="hold" grpId="0" nodeType="withEffect">
                                  <p:stCondLst>
                                    <p:cond delay="15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650"/>
                                        <p:tgtEl>
                                          <p:spTgt spid="14"/>
                                        </p:tgtEl>
                                      </p:cBhvr>
                                    </p:animEffect>
                                  </p:childTnLst>
                                </p:cTn>
                              </p:par>
                            </p:childTnLst>
                          </p:cTn>
                        </p:par>
                        <p:par>
                          <p:cTn id="52" fill="hold">
                            <p:stCondLst>
                              <p:cond delay="3300"/>
                            </p:stCondLst>
                            <p:childTnLst>
                              <p:par>
                                <p:cTn id="40" presetID="53" presetClass="entr" presetSubtype="0" fill="hold" grpId="0" nodeType="afterEffect">
                                  <p:stCondLst>
                                    <p:cond delay="3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50"/>
                                        <p:tgtEl>
                                          <p:spTgt spid="15"/>
                                        </p:tgtEl>
                                      </p:cBhvr>
                                    </p:animEffect>
                                    <p:anim calcmode="lin" valueType="num">
                                      <p:cBhvr additive="base">
                                        <p:cTn id="43" dur="650" fill="hold" decel="100000"/>
                                        <p:tgtEl>
                                          <p:spTgt spid="15"/>
                                        </p:tgtEl>
                                        <p:attrNameLst>
                                          <p:attrName>ppt_w</p:attrName>
                                        </p:attrNameLst>
                                      </p:cBhvr>
                                      <p:tavLst>
                                        <p:tav tm="0">
                                          <p:val>
                                            <p:strVal val="#ppt_w*0.6"/>
                                          </p:val>
                                        </p:tav>
                                        <p:tav tm="100000">
                                          <p:val>
                                            <p:strVal val="#ppt_w"/>
                                          </p:val>
                                        </p:tav>
                                      </p:tavLst>
                                    </p:anim>
                                    <p:anim calcmode="lin" valueType="num">
                                      <p:cBhvr additive="base">
                                        <p:cTn id="44" dur="650" fill="hold" decel="100000"/>
                                        <p:tgtEl>
                                          <p:spTgt spid="15"/>
                                        </p:tgtEl>
                                        <p:attrNameLst>
                                          <p:attrName>ppt_h</p:attrName>
                                        </p:attrNameLst>
                                      </p:cBhvr>
                                      <p:tavLst>
                                        <p:tav tm="0">
                                          <p:val>
                                            <p:strVal val="#ppt_h*0.6"/>
                                          </p:val>
                                        </p:tav>
                                        <p:tav tm="100000">
                                          <p:val>
                                            <p:strVal val="#ppt_h"/>
                                          </p:val>
                                        </p:tav>
                                      </p:tavLst>
                                    </p:anim>
                                  </p:childTnLst>
                                </p:cTn>
                              </p:par>
                              <p:par>
                                <p:cTn id="45" presetID="47" presetClass="entr" presetSubtype="0" fill="hold" grpId="0" nodeType="withEffect">
                                  <p:stCondLst>
                                    <p:cond delay="5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50"/>
                                        <p:tgtEl>
                                          <p:spTgt spid="16"/>
                                        </p:tgtEl>
                                      </p:cBhvr>
                                    </p:animEffect>
                                    <p:anim calcmode="lin" valueType="num">
                                      <p:cBhvr additive="base">
                                        <p:cTn id="48" dur="650" fill="hold" decel="100000"/>
                                        <p:tgtEl>
                                          <p:spTgt spid="16"/>
                                        </p:tgtEl>
                                        <p:attrNameLst>
                                          <p:attrName>ppt_x</p:attrName>
                                        </p:attrNameLst>
                                      </p:cBhvr>
                                      <p:tavLst>
                                        <p:tav tm="0">
                                          <p:val>
                                            <p:strVal val="#ppt_x-0.04"/>
                                          </p:val>
                                        </p:tav>
                                        <p:tav tm="100000">
                                          <p:val>
                                            <p:strVal val="#ppt_x"/>
                                          </p:val>
                                        </p:tav>
                                      </p:tavLst>
                                    </p:anim>
                                  </p:childTnLst>
                                </p:cTn>
                              </p:par>
                              <p:par>
                                <p:cTn id="49" presetID="10" presetClass="entr" presetSubtype="0" fill="hold" grpId="0" nodeType="withEffect">
                                  <p:stCondLst>
                                    <p:cond delay="15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6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54" repeatCount="indefinite" fill="hold" display="0">
                  <p:stCondLst>
                    <p:cond delay="indefinite"/>
                  </p:stCondLst>
                </p:cTn>
                <p:tgtEl>
                  <p:spTgt spid="3"/>
                </p:tgtEl>
              </p:cMediaNode>
            </p:video>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glow1"/>
          <p:cNvSpPr/>
          <p:nvPr/>
        </p:nvSpPr>
        <p:spPr>
          <a:xfrm>
            <a:off x="6400800" y="2286000"/>
            <a:ext cx="5943600" cy="5943600"/>
          </a:xfrm>
          <a:prstGeom prst="ellipse">
            <a:avLst/>
          </a:prstGeom>
          <a:solidFill>
            <a:schemeClr val="accent1">
              <a:alpha val="6000"/>
            </a:schemeClr>
          </a:solidFill>
          <a:ln/>
        </p:spPr>
      </p:sp>
      <p:sp>
        <p:nvSpPr>
          <p:cNvPr id="3" name="!!glow2"/>
          <p:cNvSpPr/>
          <p:nvPr/>
        </p:nvSpPr>
        <p:spPr>
          <a:xfrm>
            <a:off x="-1371600" y="-1828800"/>
            <a:ext cx="5029200" cy="50292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217920"/>
            <a:ext cx="292608" cy="292608"/>
          </a:xfrm>
          <a:prstGeom prst="rect">
            <a:avLst/>
          </a:prstGeom>
        </p:spPr>
      </p:pic>
      <p:sp>
        <p:nvSpPr>
          <p:cNvPr id="7"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PACK SUIVI</a:t>
            </a:r>
            <a:endParaRPr lang="en-US" sz="1200" dirty="0"/>
          </a:p>
        </p:txBody>
      </p:sp>
      <p:sp>
        <p:nvSpPr>
          <p:cNvPr id="8"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Tu demandes. </a:t>
            </a:r>
            <a:pPr algn="l" indent="0" marL="0">
              <a:buNone/>
            </a:pPr>
            <a:r>
              <a:rPr lang="en-US" sz="3400" b="1" dirty="0">
                <a:solidFill>
                  <a:schemeClr val="accent1"/>
                </a:solidFill>
                <a:latin typeface="Arial Black" pitchFamily="34" charset="0"/>
                <a:ea typeface="Arial Black" pitchFamily="34" charset="-122"/>
                <a:cs typeface="Arial Black" pitchFamily="34" charset="-120"/>
              </a:rPr>
              <a:t>Je modifie</a:t>
            </a:r>
            <a:endParaRPr lang="en-US" sz="3400" dirty="0"/>
          </a:p>
        </p:txBody>
      </p:sp>
      <p:sp>
        <p:nvSpPr>
          <p:cNvPr id="9" name="Bulle 1"/>
          <p:cNvSpPr/>
          <p:nvPr/>
        </p:nvSpPr>
        <p:spPr>
          <a:xfrm>
            <a:off x="2926080" y="2331720"/>
            <a:ext cx="4480560" cy="822960"/>
          </a:xfrm>
          <a:prstGeom prst="roundRect">
            <a:avLst>
              <a:gd name="adj" fmla="val 27778"/>
            </a:avLst>
          </a:prstGeom>
          <a:solidFill>
            <a:schemeClr val="accent3"/>
          </a:solidFill>
          <a:ln/>
          <a:effectLst>
            <a:outerShdw sx="100000" sy="100000" kx="0" ky="0" algn="bl" rotWithShape="0" blurRad="177800" dist="63500" dir="5400000">
              <a:srgbClr val="000000">
                <a:alpha val="40000"/>
              </a:srgbClr>
            </a:outerShdw>
          </a:effectLst>
        </p:spPr>
      </p:sp>
      <p:sp>
        <p:nvSpPr>
          <p:cNvPr id="10" name="Message 1"/>
          <p:cNvSpPr txBox="1"/>
          <p:nvPr/>
        </p:nvSpPr>
        <p:spPr>
          <a:xfrm>
            <a:off x="3154680" y="2404872"/>
            <a:ext cx="4023360" cy="676656"/>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TOI · 18:42</a:t>
            </a:r>
            <a:endParaRPr lang="en-US" sz="1000" dirty="0"/>
          </a:p>
          <a:p>
            <a:pPr indent="0" marL="0">
              <a:buNone/>
            </a:pPr>
            <a:r>
              <a:rPr lang="en-US" sz="1500" dirty="0">
                <a:solidFill>
                  <a:schemeClr val="bg1"/>
                </a:solidFill>
                <a:latin typeface="Arial" pitchFamily="34" charset="0"/>
                <a:ea typeface="Arial" pitchFamily="34" charset="-122"/>
                <a:cs typeface="Arial" pitchFamily="34" charset="-120"/>
              </a:rPr>
              <a:t>Nouveau menu demain, tu peux le mettre en ligne ?</a:t>
            </a:r>
            <a:endParaRPr lang="en-US" sz="1000" dirty="0"/>
          </a:p>
        </p:txBody>
      </p:sp>
      <p:sp>
        <p:nvSpPr>
          <p:cNvPr id="11" name="Bulle 2"/>
          <p:cNvSpPr/>
          <p:nvPr/>
        </p:nvSpPr>
        <p:spPr>
          <a:xfrm>
            <a:off x="548640" y="3319272"/>
            <a:ext cx="2743200" cy="822960"/>
          </a:xfrm>
          <a:prstGeom prst="roundRect">
            <a:avLst>
              <a:gd name="adj" fmla="val 27778"/>
            </a:avLst>
          </a:prstGeom>
          <a:solidFill>
            <a:schemeClr val="accent1"/>
          </a:solidFill>
          <a:ln/>
          <a:effectLst>
            <a:outerShdw sx="100000" sy="100000" kx="0" ky="0" algn="bl" rotWithShape="0" blurRad="177800" dist="63500" dir="5400000">
              <a:srgbClr val="000000">
                <a:alpha val="40000"/>
              </a:srgbClr>
            </a:outerShdw>
          </a:effectLst>
        </p:spPr>
      </p:sp>
      <p:sp>
        <p:nvSpPr>
          <p:cNvPr id="12" name="Message 2"/>
          <p:cNvSpPr txBox="1"/>
          <p:nvPr/>
        </p:nvSpPr>
        <p:spPr>
          <a:xfrm>
            <a:off x="777240" y="3392424"/>
            <a:ext cx="2286000" cy="676656"/>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NEXORA · 19:05</a:t>
            </a:r>
            <a:endParaRPr lang="en-US" sz="1000" dirty="0"/>
          </a:p>
          <a:p>
            <a:pPr indent="0" marL="0">
              <a:buNone/>
            </a:pPr>
            <a:r>
              <a:rPr lang="en-US" sz="1500" b="1" dirty="0">
                <a:solidFill>
                  <a:schemeClr val="tx1"/>
                </a:solidFill>
                <a:latin typeface="Arial" pitchFamily="34" charset="0"/>
                <a:ea typeface="Arial" pitchFamily="34" charset="-122"/>
                <a:cs typeface="Arial" pitchFamily="34" charset="-120"/>
              </a:rPr>
              <a:t>C'est en ligne ✓</a:t>
            </a:r>
            <a:endParaRPr lang="en-US" sz="1000" dirty="0"/>
          </a:p>
        </p:txBody>
      </p:sp>
      <p:sp>
        <p:nvSpPr>
          <p:cNvPr id="13" name="Bulle 3"/>
          <p:cNvSpPr/>
          <p:nvPr/>
        </p:nvSpPr>
        <p:spPr>
          <a:xfrm>
            <a:off x="2926080" y="4306824"/>
            <a:ext cx="4480560" cy="822960"/>
          </a:xfrm>
          <a:prstGeom prst="roundRect">
            <a:avLst>
              <a:gd name="adj" fmla="val 27778"/>
            </a:avLst>
          </a:prstGeom>
          <a:solidFill>
            <a:schemeClr val="accent3"/>
          </a:solidFill>
          <a:ln/>
          <a:effectLst>
            <a:outerShdw sx="100000" sy="100000" kx="0" ky="0" algn="bl" rotWithShape="0" blurRad="177800" dist="63500" dir="5400000">
              <a:srgbClr val="000000">
                <a:alpha val="40000"/>
              </a:srgbClr>
            </a:outerShdw>
          </a:effectLst>
        </p:spPr>
      </p:sp>
      <p:sp>
        <p:nvSpPr>
          <p:cNvPr id="14" name="Message 3"/>
          <p:cNvSpPr txBox="1"/>
          <p:nvPr/>
        </p:nvSpPr>
        <p:spPr>
          <a:xfrm>
            <a:off x="3154680" y="4379976"/>
            <a:ext cx="4023360" cy="676656"/>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TOI · 19:06</a:t>
            </a:r>
            <a:endParaRPr lang="en-US" sz="1000" dirty="0"/>
          </a:p>
          <a:p>
            <a:pPr indent="0" marL="0">
              <a:buNone/>
            </a:pPr>
            <a:r>
              <a:rPr lang="en-US" sz="1500" dirty="0">
                <a:solidFill>
                  <a:schemeClr val="bg1"/>
                </a:solidFill>
                <a:latin typeface="Arial" pitchFamily="34" charset="0"/>
                <a:ea typeface="Arial" pitchFamily="34" charset="-122"/>
                <a:cs typeface="Arial" pitchFamily="34" charset="-120"/>
              </a:rPr>
              <a:t>Parfait, merci !</a:t>
            </a:r>
            <a:endParaRPr lang="en-US" sz="1000" dirty="0"/>
          </a:p>
        </p:txBody>
      </p:sp>
      <p:sp>
        <p:nvSpPr>
          <p:cNvPr id="15" name="Résumé"/>
          <p:cNvSpPr txBox="1"/>
          <p:nvPr/>
        </p:nvSpPr>
        <p:spPr>
          <a:xfrm>
            <a:off x="548640" y="5440680"/>
            <a:ext cx="6858000" cy="640080"/>
          </a:xfrm>
          <a:prstGeom prst="rect">
            <a:avLst/>
          </a:prstGeom>
          <a:noFill/>
          <a:ln/>
        </p:spPr>
        <p:txBody>
          <a:bodyPr wrap="square" lIns="0" tIns="0" rIns="0" bIns="0" rtlCol="0" anchor="t"/>
          <a:lstStyle/>
          <a:p>
            <a:pPr indent="0" marL="0">
              <a:buNone/>
            </a:pPr>
            <a:r>
              <a:rPr lang="en-US" sz="1500" dirty="0">
                <a:solidFill>
                  <a:schemeClr val="bg1"/>
                </a:solidFill>
                <a:latin typeface="Arial" pitchFamily="34" charset="0"/>
                <a:ea typeface="Arial" pitchFamily="34" charset="-122"/>
                <a:cs typeface="Arial" pitchFamily="34" charset="-120"/>
              </a:rPr>
              <a:t>Textes, photos, horaires, promos : un forfait par mois, et ton site reste à jour sans que tu touches à rien.</a:t>
            </a:r>
            <a:endParaRPr lang="en-US" sz="15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8" fill="hold">
                            <p:stCondLst>
                              <p:cond delay="0"/>
                            </p:stCondLst>
                            <p:childTnLst>
                              <p:par>
                                <p:cTn id="3" presetID="1" presetClass="mediacall" presetSubtype="0" fill="hold" nodeType="withEffect">
                                  <p:stCondLst>
                                    <p:cond delay="0"/>
                                  </p:stCondLst>
                                  <p:childTnLst>
                                    <p:cmd type="call" cmd="playFrom(0.0)">
                                      <p:cBhvr>
                                        <p:cTn id="4" dur="4000" fill="hold"/>
                                        <p:tgtEl>
                                          <p:spTgt spid="3"/>
                                        </p:tgtEl>
                                      </p:cBhvr>
                                    </p:cmd>
                                  </p:childTnLst>
                                </p:cTn>
                              </p:par>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childTnLst>
                                </p:cTn>
                              </p:par>
                            </p:childTnLst>
                          </p:cTn>
                        </p:par>
                        <p:par>
                          <p:cTn id="13" fill="hold">
                            <p:stCondLst>
                              <p:cond delay="650"/>
                            </p:stCondLst>
                            <p:childTnLst>
                              <p:par>
                                <p:cTn id="9" presetID="42" presetClass="entr" presetSubtype="0" fill="hold" grpId="0" nodeType="after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50"/>
                                        <p:tgtEl>
                                          <p:spTgt spid="8"/>
                                        </p:tgtEl>
                                      </p:cBhvr>
                                    </p:animEffect>
                                    <p:anim calcmode="lin" valueType="num">
                                      <p:cBhvr additive="base">
                                        <p:cTn id="12" dur="650" fill="hold" decel="100000"/>
                                        <p:tgtEl>
                                          <p:spTgt spid="8"/>
                                        </p:tgtEl>
                                        <p:attrNameLst>
                                          <p:attrName>ppt_y</p:attrName>
                                        </p:attrNameLst>
                                      </p:cBhvr>
                                      <p:tavLst>
                                        <p:tav tm="0">
                                          <p:val>
                                            <p:strVal val="#ppt_y+0.05"/>
                                          </p:val>
                                        </p:tav>
                                        <p:tav tm="100000">
                                          <p:val>
                                            <p:strVal val="#ppt_y"/>
                                          </p:val>
                                        </p:tav>
                                      </p:tavLst>
                                    </p:anim>
                                  </p:childTnLst>
                                </p:cTn>
                              </p:par>
                            </p:childTnLst>
                          </p:cTn>
                        </p:par>
                        <p:par>
                          <p:cTn id="22" fill="hold">
                            <p:stCondLst>
                              <p:cond delay="1400"/>
                            </p:stCondLst>
                            <p:childTnLst>
                              <p:par>
                                <p:cTn id="14" presetID="53" presetClass="entr" presetSubtype="0" fill="hold" grpId="0" nodeType="afterEffect">
                                  <p:stCondLst>
                                    <p:cond delay="5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50"/>
                                        <p:tgtEl>
                                          <p:spTgt spid="9"/>
                                        </p:tgtEl>
                                      </p:cBhvr>
                                    </p:animEffect>
                                    <p:anim calcmode="lin" valueType="num">
                                      <p:cBhvr additive="base">
                                        <p:cTn id="17" dur="550" fill="hold"/>
                                        <p:tgtEl>
                                          <p:spTgt spid="9"/>
                                        </p:tgtEl>
                                        <p:attrNameLst>
                                          <p:attrName>ppt_w</p:attrName>
                                        </p:attrNameLst>
                                      </p:cBhvr>
                                      <p:tavLst>
                                        <p:tav tm="0">
                                          <p:val>
                                            <p:strVal val="#ppt_w*0.4"/>
                                          </p:val>
                                        </p:tav>
                                        <p:tav tm="70000">
                                          <p:val>
                                            <p:strVal val="#ppt_w*1.08"/>
                                          </p:val>
                                        </p:tav>
                                        <p:tav tm="100000">
                                          <p:val>
                                            <p:strVal val="#ppt_w"/>
                                          </p:val>
                                        </p:tav>
                                      </p:tavLst>
                                    </p:anim>
                                    <p:anim calcmode="lin" valueType="num">
                                      <p:cBhvr additive="base">
                                        <p:cTn id="18" dur="550" fill="hold"/>
                                        <p:tgtEl>
                                          <p:spTgt spid="9"/>
                                        </p:tgtEl>
                                        <p:attrNameLst>
                                          <p:attrName>ppt_h</p:attrName>
                                        </p:attrNameLst>
                                      </p:cBhvr>
                                      <p:tavLst>
                                        <p:tav tm="0">
                                          <p:val>
                                            <p:strVal val="#ppt_h*0.4"/>
                                          </p:val>
                                        </p:tav>
                                        <p:tav tm="70000">
                                          <p:val>
                                            <p:strVal val="#ppt_h*1.08"/>
                                          </p:val>
                                        </p:tav>
                                        <p:tav tm="100000">
                                          <p:val>
                                            <p:strVal val="#ppt_h"/>
                                          </p:val>
                                        </p:tav>
                                      </p:tavLst>
                                    </p:anim>
                                  </p:childTnLst>
                                </p:cTn>
                              </p:par>
                              <p:par>
                                <p:cTn id="19" presetID="10" presetClass="entr" presetSubtype="0" fill="hold" grpId="0" nodeType="withEffect">
                                  <p:stCondLst>
                                    <p:cond delay="1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50"/>
                                        <p:tgtEl>
                                          <p:spTgt spid="10"/>
                                        </p:tgtEl>
                                      </p:cBhvr>
                                    </p:animEffect>
                                  </p:childTnLst>
                                </p:cTn>
                              </p:par>
                            </p:childTnLst>
                          </p:cTn>
                        </p:par>
                        <p:par>
                          <p:cTn id="31" fill="hold">
                            <p:stCondLst>
                              <p:cond delay="2550"/>
                            </p:stCondLst>
                            <p:childTnLst>
                              <p:par>
                                <p:cTn id="23" presetID="53" presetClass="entr" presetSubtype="0" fill="hold" grpId="0" nodeType="afterEffect">
                                  <p:stCondLst>
                                    <p:cond delay="5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650"/>
                                        <p:tgtEl>
                                          <p:spTgt spid="11"/>
                                        </p:tgtEl>
                                      </p:cBhvr>
                                    </p:animEffect>
                                    <p:anim calcmode="lin" valueType="num">
                                      <p:cBhvr additive="base">
                                        <p:cTn id="26" dur="550" fill="hold"/>
                                        <p:tgtEl>
                                          <p:spTgt spid="11"/>
                                        </p:tgtEl>
                                        <p:attrNameLst>
                                          <p:attrName>ppt_w</p:attrName>
                                        </p:attrNameLst>
                                      </p:cBhvr>
                                      <p:tavLst>
                                        <p:tav tm="0">
                                          <p:val>
                                            <p:strVal val="#ppt_w*0.4"/>
                                          </p:val>
                                        </p:tav>
                                        <p:tav tm="70000">
                                          <p:val>
                                            <p:strVal val="#ppt_w*1.08"/>
                                          </p:val>
                                        </p:tav>
                                        <p:tav tm="100000">
                                          <p:val>
                                            <p:strVal val="#ppt_w"/>
                                          </p:val>
                                        </p:tav>
                                      </p:tavLst>
                                    </p:anim>
                                    <p:anim calcmode="lin" valueType="num">
                                      <p:cBhvr additive="base">
                                        <p:cTn id="27" dur="550" fill="hold"/>
                                        <p:tgtEl>
                                          <p:spTgt spid="11"/>
                                        </p:tgtEl>
                                        <p:attrNameLst>
                                          <p:attrName>ppt_h</p:attrName>
                                        </p:attrNameLst>
                                      </p:cBhvr>
                                      <p:tavLst>
                                        <p:tav tm="0">
                                          <p:val>
                                            <p:strVal val="#ppt_h*0.4"/>
                                          </p:val>
                                        </p:tav>
                                        <p:tav tm="70000">
                                          <p:val>
                                            <p:strVal val="#ppt_h*1.08"/>
                                          </p:val>
                                        </p:tav>
                                        <p:tav tm="100000">
                                          <p:val>
                                            <p:strVal val="#ppt_h"/>
                                          </p:val>
                                        </p:tav>
                                      </p:tavLst>
                                    </p:anim>
                                  </p:childTnLst>
                                </p:cTn>
                              </p:par>
                              <p:par>
                                <p:cTn id="28" presetID="10" presetClass="entr" presetSubtype="0" fill="hold" grpId="0" nodeType="withEffect">
                                  <p:stCondLst>
                                    <p:cond delay="1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50"/>
                                        <p:tgtEl>
                                          <p:spTgt spid="12"/>
                                        </p:tgtEl>
                                      </p:cBhvr>
                                    </p:animEffect>
                                  </p:childTnLst>
                                </p:cTn>
                              </p:par>
                            </p:childTnLst>
                          </p:cTn>
                        </p:par>
                        <p:par>
                          <p:cTn id="40" fill="hold">
                            <p:stCondLst>
                              <p:cond delay="3700"/>
                            </p:stCondLst>
                            <p:childTnLst>
                              <p:par>
                                <p:cTn id="32" presetID="53" presetClass="entr" presetSubtype="0" fill="hold" grpId="0" nodeType="afterEffect">
                                  <p:stCondLst>
                                    <p:cond delay="5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50"/>
                                        <p:tgtEl>
                                          <p:spTgt spid="13"/>
                                        </p:tgtEl>
                                      </p:cBhvr>
                                    </p:animEffect>
                                    <p:anim calcmode="lin" valueType="num">
                                      <p:cBhvr additive="base">
                                        <p:cTn id="35" dur="550" fill="hold"/>
                                        <p:tgtEl>
                                          <p:spTgt spid="13"/>
                                        </p:tgtEl>
                                        <p:attrNameLst>
                                          <p:attrName>ppt_w</p:attrName>
                                        </p:attrNameLst>
                                      </p:cBhvr>
                                      <p:tavLst>
                                        <p:tav tm="0">
                                          <p:val>
                                            <p:strVal val="#ppt_w*0.4"/>
                                          </p:val>
                                        </p:tav>
                                        <p:tav tm="70000">
                                          <p:val>
                                            <p:strVal val="#ppt_w*1.08"/>
                                          </p:val>
                                        </p:tav>
                                        <p:tav tm="100000">
                                          <p:val>
                                            <p:strVal val="#ppt_w"/>
                                          </p:val>
                                        </p:tav>
                                      </p:tavLst>
                                    </p:anim>
                                    <p:anim calcmode="lin" valueType="num">
                                      <p:cBhvr additive="base">
                                        <p:cTn id="36" dur="550" fill="hold"/>
                                        <p:tgtEl>
                                          <p:spTgt spid="13"/>
                                        </p:tgtEl>
                                        <p:attrNameLst>
                                          <p:attrName>ppt_h</p:attrName>
                                        </p:attrNameLst>
                                      </p:cBhvr>
                                      <p:tavLst>
                                        <p:tav tm="0">
                                          <p:val>
                                            <p:strVal val="#ppt_h*0.4"/>
                                          </p:val>
                                        </p:tav>
                                        <p:tav tm="70000">
                                          <p:val>
                                            <p:strVal val="#ppt_h*1.08"/>
                                          </p:val>
                                        </p:tav>
                                        <p:tav tm="100000">
                                          <p:val>
                                            <p:strVal val="#ppt_h"/>
                                          </p:val>
                                        </p:tav>
                                      </p:tavLst>
                                    </p:anim>
                                  </p:childTnLst>
                                </p:cTn>
                              </p:par>
                              <p:par>
                                <p:cTn id="37" presetID="10" presetClass="entr" presetSubtype="0" fill="hold" grpId="0" nodeType="withEffect">
                                  <p:stCondLst>
                                    <p:cond delay="1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50"/>
                                        <p:tgtEl>
                                          <p:spTgt spid="14"/>
                                        </p:tgtEl>
                                      </p:cBhvr>
                                    </p:animEffect>
                                  </p:childTnLst>
                                </p:cTn>
                              </p:par>
                            </p:childTnLst>
                          </p:cTn>
                        </p:par>
                        <p:par>
                          <p:cTn id="45" fill="hold">
                            <p:stCondLst>
                              <p:cond delay="4850"/>
                            </p:stCondLst>
                            <p:childTnLst>
                              <p:par>
                                <p:cTn id="41" presetID="42" presetClass="entr" presetSubtype="0" fill="hold" grpId="0" nodeType="afterEffect">
                                  <p:stCondLst>
                                    <p:cond delay="3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50"/>
                                        <p:tgtEl>
                                          <p:spTgt spid="15"/>
                                        </p:tgtEl>
                                      </p:cBhvr>
                                    </p:animEffect>
                                    <p:anim calcmode="lin" valueType="num">
                                      <p:cBhvr additive="base">
                                        <p:cTn id="44" dur="650" fill="hold" decel="100000"/>
                                        <p:tgtEl>
                                          <p:spTgt spid="1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47" repeatCount="indefinite" fill="hold" display="0">
                  <p:stCondLst>
                    <p:cond delay="indefinite"/>
                  </p:stCondLst>
                </p:cTn>
                <p:tgtEl>
                  <p:spTgt spid="3"/>
                </p:tgtEl>
              </p:cMediaNode>
            </p:video>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glow1"/>
          <p:cNvSpPr/>
          <p:nvPr/>
        </p:nvSpPr>
        <p:spPr>
          <a:xfrm>
            <a:off x="2743200" y="3200400"/>
            <a:ext cx="6400800" cy="6400800"/>
          </a:xfrm>
          <a:prstGeom prst="ellipse">
            <a:avLst/>
          </a:prstGeom>
          <a:solidFill>
            <a:schemeClr val="accent1">
              <a:alpha val="6000"/>
            </a:schemeClr>
          </a:solidFill>
          <a:ln/>
        </p:spPr>
      </p:sp>
      <p:sp>
        <p:nvSpPr>
          <p:cNvPr id="3" name="!!glow2"/>
          <p:cNvSpPr/>
          <p:nvPr/>
        </p:nvSpPr>
        <p:spPr>
          <a:xfrm>
            <a:off x="8229600" y="-2286000"/>
            <a:ext cx="5029200" cy="5029200"/>
          </a:xfrm>
          <a:prstGeom prst="ellipse">
            <a:avLst/>
          </a:prstGeom>
          <a:solidFill>
            <a:schemeClr val="accent2">
              <a:alpha val="4000"/>
            </a:schemeClr>
          </a:solidFill>
          <a:ln/>
        </p:spPr>
      </p:sp>
      <p:sp>
        <p:nvSpPr>
          <p:cNvPr id="4" name="!!frame"/>
          <p:cNvSpPr/>
          <p:nvPr/>
        </p:nvSpPr>
        <p:spPr>
          <a:xfrm>
            <a:off x="411480" y="2148840"/>
            <a:ext cx="11365992" cy="3931920"/>
          </a:xfrm>
          <a:prstGeom prst="roundRect">
            <a:avLst>
              <a:gd name="adj" fmla="val 1860"/>
            </a:avLst>
          </a:prstGeom>
          <a:solidFill>
            <a:schemeClr val="tx2"/>
          </a:solidFill>
          <a:ln w="15875">
            <a:solidFill>
              <a:schemeClr val="accent1">
                <a:alpha val="60000"/>
              </a:schemeClr>
            </a:solidFill>
            <a:prstDash val="solid"/>
          </a:ln>
        </p:spPr>
      </p:sp>
      <p:pic>
        <p:nvPicPr>
          <p:cNvPr id="5" name="!!nmark" descr="Logo Nexora">    </p:cNvPr>
          <p:cNvPicPr>
            <a:picLocks noChangeAspect="1"/>
          </p:cNvPicPr>
          <p:nvPr/>
        </p:nvPicPr>
        <p:blipFill>
          <a:blip r:embed="rId1"/>
          <a:stretch>
            <a:fillRect/>
          </a:stretch>
        </p:blipFill>
        <p:spPr>
          <a:xfrm>
            <a:off x="548640" y="6217920"/>
            <a:ext cx="292608" cy="292608"/>
          </a:xfrm>
          <a:prstGeom prst="rect">
            <a:avLst/>
          </a:prstGeom>
        </p:spPr>
      </p:pic>
      <p:sp>
        <p:nvSpPr>
          <p:cNvPr id="6" name="Kicker"/>
          <p:cNvSpPr txBox="1"/>
          <p:nvPr/>
        </p:nvSpPr>
        <p:spPr>
          <a:xfrm>
            <a:off x="548640" y="41148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DÉMOS</a:t>
            </a:r>
            <a:endParaRPr lang="en-US" sz="1200" dirty="0"/>
          </a:p>
        </p:txBody>
      </p:sp>
      <p:sp>
        <p:nvSpPr>
          <p:cNvPr id="7" name="Text 2"/>
          <p:cNvSpPr/>
          <p:nvPr>
            <p:ph idx="102" type="title" hasCustomPrompt="1"/>
          </p:nvPr>
        </p:nvSpPr>
        <p:spPr>
          <a:xfrm>
            <a:off x="548640" y="685800"/>
            <a:ext cx="6949440" cy="1463040"/>
          </a:xfrm>
          <a:prstGeom prst="rect">
            <a:avLst/>
          </a:prstGeom>
          <a:noFill/>
          <a:ln/>
        </p:spPr>
        <p:txBody>
          <a:bodyPr wrap="square" lIns="0" tIns="0" rIns="0" bIns="0" rtlCol="0" anchor="t"/>
          <a:lstStyle/>
          <a:p>
            <a:pPr algn="l" indent="0" marL="0">
              <a:buNone/>
            </a:pPr>
            <a:r>
              <a:rPr lang="en-US" sz="3400" b="1" dirty="0">
                <a:solidFill>
                  <a:schemeClr val="bg1"/>
                </a:solidFill>
                <a:latin typeface="Arial Black" pitchFamily="34" charset="0"/>
                <a:ea typeface="Arial Black" pitchFamily="34" charset="-122"/>
                <a:cs typeface="Arial Black" pitchFamily="34" charset="-120"/>
              </a:rPr>
              <a:t>Ce que ça donne, </a:t>
            </a:r>
            <a:pPr algn="l" indent="0" marL="0">
              <a:buNone/>
            </a:pPr>
            <a:r>
              <a:rPr lang="en-US" sz="3400" b="1" dirty="0">
                <a:solidFill>
                  <a:schemeClr val="accent1"/>
                </a:solidFill>
                <a:latin typeface="Arial Black" pitchFamily="34" charset="0"/>
                <a:ea typeface="Arial Black" pitchFamily="34" charset="-122"/>
                <a:cs typeface="Arial Black" pitchFamily="34" charset="-120"/>
              </a:rPr>
              <a:t>en vrai</a:t>
            </a:r>
            <a:endParaRPr lang="en-US" sz="3400" dirty="0"/>
          </a:p>
        </p:txBody>
      </p:sp>
      <p:pic>
        <p:nvPicPr>
          <p:cNvPr id="8" name="Démo 1" descr="Démo Boulangerie : Le Fournil d'Alix">    </p:cNvPr>
          <p:cNvPicPr>
            <a:picLocks noChangeAspect="1"/>
          </p:cNvPicPr>
          <p:nvPr/>
        </p:nvPicPr>
        <p:blipFill>
          <a:blip r:embed="rId2"/>
          <a:stretch>
            <a:fillRect/>
          </a:stretch>
        </p:blipFill>
        <p:spPr>
          <a:xfrm>
            <a:off x="685800" y="2377440"/>
            <a:ext cx="1691640" cy="3008376"/>
          </a:xfrm>
          <a:prstGeom prst="rect">
            <a:avLst/>
          </a:prstGeom>
        </p:spPr>
      </p:pic>
      <p:sp>
        <p:nvSpPr>
          <p:cNvPr id="9" name="Démo type 1"/>
          <p:cNvSpPr txBox="1"/>
          <p:nvPr/>
        </p:nvSpPr>
        <p:spPr>
          <a:xfrm>
            <a:off x="2514600" y="2514600"/>
            <a:ext cx="1737360" cy="27432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BOULANGERIE</a:t>
            </a:r>
            <a:endParaRPr lang="en-US" sz="1100" dirty="0"/>
          </a:p>
        </p:txBody>
      </p:sp>
      <p:sp>
        <p:nvSpPr>
          <p:cNvPr id="10" name="Démo nom 1"/>
          <p:cNvSpPr txBox="1"/>
          <p:nvPr/>
        </p:nvSpPr>
        <p:spPr>
          <a:xfrm>
            <a:off x="2514600" y="2834640"/>
            <a:ext cx="1737360" cy="822960"/>
          </a:xfrm>
          <a:prstGeom prst="rect">
            <a:avLst/>
          </a:prstGeom>
          <a:noFill/>
          <a:ln/>
        </p:spPr>
        <p:txBody>
          <a:bodyPr wrap="square" lIns="0" tIns="0" rIns="0" bIns="0" rtlCol="0" anchor="t"/>
          <a:lstStyle/>
          <a:p>
            <a:pPr indent="0" marL="0">
              <a:buNone/>
            </a:pPr>
            <a:r>
              <a:rPr lang="en-US" sz="1700" b="1" dirty="0">
                <a:solidFill>
                  <a:schemeClr val="bg1"/>
                </a:solidFill>
                <a:latin typeface="Arial" pitchFamily="34" charset="0"/>
                <a:ea typeface="Arial" pitchFamily="34" charset="-122"/>
                <a:cs typeface="Arial" pitchFamily="34" charset="-120"/>
              </a:rPr>
              <a:t>Le Fournil d'Alix</a:t>
            </a:r>
            <a:endParaRPr lang="en-US" sz="1700" dirty="0"/>
          </a:p>
        </p:txBody>
      </p:sp>
      <p:pic>
        <p:nvPicPr>
          <p:cNvPr id="11" name="Démo 2" descr="Démo Restaurant : La Table du Lac">    </p:cNvPr>
          <p:cNvPicPr>
            <a:picLocks noChangeAspect="1"/>
          </p:cNvPicPr>
          <p:nvPr/>
        </p:nvPicPr>
        <p:blipFill>
          <a:blip r:embed="rId3"/>
          <a:stretch>
            <a:fillRect/>
          </a:stretch>
        </p:blipFill>
        <p:spPr>
          <a:xfrm>
            <a:off x="4434840" y="2377440"/>
            <a:ext cx="1691640" cy="3008376"/>
          </a:xfrm>
          <a:prstGeom prst="rect">
            <a:avLst/>
          </a:prstGeom>
        </p:spPr>
      </p:pic>
      <p:sp>
        <p:nvSpPr>
          <p:cNvPr id="12" name="Démo type 2"/>
          <p:cNvSpPr txBox="1"/>
          <p:nvPr/>
        </p:nvSpPr>
        <p:spPr>
          <a:xfrm>
            <a:off x="6263640" y="2514600"/>
            <a:ext cx="1737360" cy="27432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RESTAURANT</a:t>
            </a:r>
            <a:endParaRPr lang="en-US" sz="1100" dirty="0"/>
          </a:p>
        </p:txBody>
      </p:sp>
      <p:sp>
        <p:nvSpPr>
          <p:cNvPr id="13" name="Démo nom 2"/>
          <p:cNvSpPr txBox="1"/>
          <p:nvPr/>
        </p:nvSpPr>
        <p:spPr>
          <a:xfrm>
            <a:off x="6263640" y="2834640"/>
            <a:ext cx="1737360" cy="822960"/>
          </a:xfrm>
          <a:prstGeom prst="rect">
            <a:avLst/>
          </a:prstGeom>
          <a:noFill/>
          <a:ln/>
        </p:spPr>
        <p:txBody>
          <a:bodyPr wrap="square" lIns="0" tIns="0" rIns="0" bIns="0" rtlCol="0" anchor="t"/>
          <a:lstStyle/>
          <a:p>
            <a:pPr indent="0" marL="0">
              <a:buNone/>
            </a:pPr>
            <a:r>
              <a:rPr lang="en-US" sz="1700" b="1" dirty="0">
                <a:solidFill>
                  <a:schemeClr val="bg1"/>
                </a:solidFill>
                <a:latin typeface="Arial" pitchFamily="34" charset="0"/>
                <a:ea typeface="Arial" pitchFamily="34" charset="-122"/>
                <a:cs typeface="Arial" pitchFamily="34" charset="-120"/>
              </a:rPr>
              <a:t>La Table du Lac</a:t>
            </a:r>
            <a:endParaRPr lang="en-US" sz="1700" dirty="0"/>
          </a:p>
        </p:txBody>
      </p:sp>
      <p:pic>
        <p:nvPicPr>
          <p:cNvPr id="14" name="Démo 3" descr="Démo Salon de coiffure : Maison Céleste">    </p:cNvPr>
          <p:cNvPicPr>
            <a:picLocks noChangeAspect="1"/>
          </p:cNvPicPr>
          <p:nvPr/>
        </p:nvPicPr>
        <p:blipFill>
          <a:blip r:embed="rId4"/>
          <a:stretch>
            <a:fillRect/>
          </a:stretch>
        </p:blipFill>
        <p:spPr>
          <a:xfrm>
            <a:off x="8183880" y="2377440"/>
            <a:ext cx="1691640" cy="3008376"/>
          </a:xfrm>
          <a:prstGeom prst="rect">
            <a:avLst/>
          </a:prstGeom>
        </p:spPr>
      </p:pic>
      <p:sp>
        <p:nvSpPr>
          <p:cNvPr id="15" name="Démo type 3"/>
          <p:cNvSpPr txBox="1"/>
          <p:nvPr/>
        </p:nvSpPr>
        <p:spPr>
          <a:xfrm>
            <a:off x="10012680" y="2514600"/>
            <a:ext cx="1737360" cy="27432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SALON DE COIFFURE</a:t>
            </a:r>
            <a:endParaRPr lang="en-US" sz="1100" dirty="0"/>
          </a:p>
        </p:txBody>
      </p:sp>
      <p:sp>
        <p:nvSpPr>
          <p:cNvPr id="16" name="Démo nom 3"/>
          <p:cNvSpPr txBox="1"/>
          <p:nvPr/>
        </p:nvSpPr>
        <p:spPr>
          <a:xfrm>
            <a:off x="10012680" y="2834640"/>
            <a:ext cx="1737360" cy="822960"/>
          </a:xfrm>
          <a:prstGeom prst="rect">
            <a:avLst/>
          </a:prstGeom>
          <a:noFill/>
          <a:ln/>
        </p:spPr>
        <p:txBody>
          <a:bodyPr wrap="square" lIns="0" tIns="0" rIns="0" bIns="0" rtlCol="0" anchor="t"/>
          <a:lstStyle/>
          <a:p>
            <a:pPr indent="0" marL="0">
              <a:buNone/>
            </a:pPr>
            <a:r>
              <a:rPr lang="en-US" sz="1700" b="1" dirty="0">
                <a:solidFill>
                  <a:schemeClr val="bg1"/>
                </a:solidFill>
                <a:latin typeface="Arial" pitchFamily="34" charset="0"/>
                <a:ea typeface="Arial" pitchFamily="34" charset="-122"/>
                <a:cs typeface="Arial" pitchFamily="34" charset="-120"/>
              </a:rPr>
              <a:t>Maison Céleste</a:t>
            </a:r>
            <a:endParaRPr lang="en-US" sz="1700" dirty="0"/>
          </a:p>
        </p:txBody>
      </p:sp>
      <p:sp>
        <p:nvSpPr>
          <p:cNvPr id="17" name="Mention"/>
          <p:cNvSpPr txBox="1"/>
          <p:nvPr/>
        </p:nvSpPr>
        <p:spPr>
          <a:xfrm>
            <a:off x="685800" y="5532120"/>
            <a:ext cx="7315200" cy="32004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Projets de démonstration, commerces fictifs.</a:t>
            </a:r>
            <a:endParaRPr lang="en-US" sz="1100" dirty="0"/>
          </a:p>
        </p:txBody>
      </p:sp>
      <p:sp>
        <p:nvSpPr>
          <p:cNvPr id="25" name="Slide Number Placeholder 0"/>
          <p:cNvSpPr>
            <a:spLocks noGrp="1"/>
          </p:cNvSpPr>
          <p:nvPr>
            <p:ph type="sldNum" sz="quarter" idx="4294967295"/>
          </p:nvPr>
        </p:nvSpPr>
        <p:spPr>
          <a:xfrm>
            <a:off x="6766560" y="626364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52" fill="hold">
                      <p:stCondLst>
                        <p:cond delay="indefinite"/>
                        <p:cond evt="onBegin" delay="0">
                          <p:tn val="2"/>
                        </p:cond>
                      </p:stCondLst>
                      <p:childTnLst>
                        <p:par>
                          <p:cTn id="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650"/>
                                        <p:tgtEl>
                                          <p:spTgt spid="6"/>
                                        </p:tgtEl>
                                      </p:cBhvr>
                                    </p:animEffect>
                                  </p:childTnLst>
                                </p:cTn>
                              </p:par>
                            </p:childTnLst>
                          </p:cTn>
                        </p:par>
                        <p:par>
                          <p:cTn id="11" fill="hold">
                            <p:stCondLst>
                              <p:cond delay="650"/>
                            </p:stCondLst>
                            <p:childTnLst>
                              <p:par>
                                <p:cTn id="7" presetID="42" presetClass="entr" presetSubtype="0" fill="hold" grpId="0" nodeType="afterEffect">
                                  <p:stCondLst>
                                    <p:cond delay="10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650"/>
                                        <p:tgtEl>
                                          <p:spTgt spid="7"/>
                                        </p:tgtEl>
                                      </p:cBhvr>
                                    </p:animEffect>
                                    <p:anim calcmode="lin" valueType="num">
                                      <p:cBhvr additive="base">
                                        <p:cTn id="10" dur="650" fill="hold" decel="100000"/>
                                        <p:tgtEl>
                                          <p:spTgt spid="7"/>
                                        </p:tgtEl>
                                        <p:attrNameLst>
                                          <p:attrName>ppt_y</p:attrName>
                                        </p:attrNameLst>
                                      </p:cBhvr>
                                      <p:tavLst>
                                        <p:tav tm="0">
                                          <p:val>
                                            <p:strVal val="#ppt_y+0.05"/>
                                          </p:val>
                                        </p:tav>
                                        <p:tav tm="100000">
                                          <p:val>
                                            <p:strVal val="#ppt_y"/>
                                          </p:val>
                                        </p:tav>
                                      </p:tavLst>
                                    </p:anim>
                                  </p:childTnLst>
                                </p:cTn>
                              </p:par>
                            </p:childTnLst>
                          </p:cTn>
                        </p:par>
                        <p:par>
                          <p:cTn id="23" fill="hold">
                            <p:stCondLst>
                              <p:cond delay="1400"/>
                            </p:stCondLst>
                            <p:childTnLst>
                              <p:par>
                                <p:cTn id="12" presetID="42" presetClass="entr" presetSubtype="0" fill="hold" grpId="0" nodeType="afterEffect">
                                  <p:stCondLst>
                                    <p:cond delay="30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50"/>
                                        <p:tgtEl>
                                          <p:spTgt spid="8"/>
                                        </p:tgtEl>
                                      </p:cBhvr>
                                    </p:animEffect>
                                    <p:anim calcmode="lin" valueType="num">
                                      <p:cBhvr additive="base">
                                        <p:cTn id="15" dur="900" fill="hold" decel="100000"/>
                                        <p:tgtEl>
                                          <p:spTgt spid="8"/>
                                        </p:tgtEl>
                                        <p:attrNameLst>
                                          <p:attrName>ppt_y</p:attrName>
                                        </p:attrNameLst>
                                      </p:cBhvr>
                                      <p:tavLst>
                                        <p:tav tm="0">
                                          <p:val>
                                            <p:strVal val="#ppt_y+0.18"/>
                                          </p:val>
                                        </p:tav>
                                        <p:tav tm="100000">
                                          <p:val>
                                            <p:strVal val="#ppt_y"/>
                                          </p:val>
                                        </p:tav>
                                      </p:tavLst>
                                    </p:anim>
                                  </p:childTnLst>
                                </p:cTn>
                              </p:par>
                              <p:par>
                                <p:cTn id="16" presetID="10" presetClass="entr" presetSubtype="0" fill="hold" grpId="0" nodeType="withEffect">
                                  <p:stCondLst>
                                    <p:cond delay="15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50"/>
                                        <p:tgtEl>
                                          <p:spTgt spid="9"/>
                                        </p:tgtEl>
                                      </p:cBhvr>
                                    </p:animEffect>
                                  </p:childTnLst>
                                </p:cTn>
                              </p:par>
                              <p:par>
                                <p:cTn id="19" presetID="42" presetClass="entr" presetSubtype="0" fill="hold" grpId="0" nodeType="withEffect">
                                  <p:stCondLst>
                                    <p:cond delay="2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50"/>
                                        <p:tgtEl>
                                          <p:spTgt spid="10"/>
                                        </p:tgtEl>
                                      </p:cBhvr>
                                    </p:animEffect>
                                    <p:anim calcmode="lin" valueType="num">
                                      <p:cBhvr additive="base">
                                        <p:cTn id="22" dur="650" fill="hold" decel="100000"/>
                                        <p:tgtEl>
                                          <p:spTgt spid="10"/>
                                        </p:tgtEl>
                                        <p:attrNameLst>
                                          <p:attrName>ppt_y</p:attrName>
                                        </p:attrNameLst>
                                      </p:cBhvr>
                                      <p:tavLst>
                                        <p:tav tm="0">
                                          <p:val>
                                            <p:strVal val="#ppt_y+0.05"/>
                                          </p:val>
                                        </p:tav>
                                        <p:tav tm="100000">
                                          <p:val>
                                            <p:strVal val="#ppt_y"/>
                                          </p:val>
                                        </p:tav>
                                      </p:tavLst>
                                    </p:anim>
                                  </p:childTnLst>
                                </p:cTn>
                              </p:par>
                            </p:childTnLst>
                          </p:cTn>
                        </p:par>
                        <p:par>
                          <p:cTn id="35" fill="hold">
                            <p:stCondLst>
                              <p:cond delay="2600"/>
                            </p:stCondLst>
                            <p:childTnLst>
                              <p:par>
                                <p:cTn id="24" presetID="42" presetClass="entr" presetSubtype="0" fill="hold" grpId="0" nodeType="afterEffect">
                                  <p:stCondLst>
                                    <p:cond delay="30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50"/>
                                        <p:tgtEl>
                                          <p:spTgt spid="11"/>
                                        </p:tgtEl>
                                      </p:cBhvr>
                                    </p:animEffect>
                                    <p:anim calcmode="lin" valueType="num">
                                      <p:cBhvr additive="base">
                                        <p:cTn id="27" dur="900" fill="hold" decel="100000"/>
                                        <p:tgtEl>
                                          <p:spTgt spid="11"/>
                                        </p:tgtEl>
                                        <p:attrNameLst>
                                          <p:attrName>ppt_y</p:attrName>
                                        </p:attrNameLst>
                                      </p:cBhvr>
                                      <p:tavLst>
                                        <p:tav tm="0">
                                          <p:val>
                                            <p:strVal val="#ppt_y+0.18"/>
                                          </p:val>
                                        </p:tav>
                                        <p:tav tm="100000">
                                          <p:val>
                                            <p:strVal val="#ppt_y"/>
                                          </p:val>
                                        </p:tav>
                                      </p:tavLst>
                                    </p:anim>
                                  </p:childTnLst>
                                </p:cTn>
                              </p:par>
                              <p:par>
                                <p:cTn id="28" presetID="10" presetClass="entr" presetSubtype="0" fill="hold" grpId="0" nodeType="withEffect">
                                  <p:stCondLst>
                                    <p:cond delay="1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50"/>
                                        <p:tgtEl>
                                          <p:spTgt spid="12"/>
                                        </p:tgtEl>
                                      </p:cBhvr>
                                    </p:animEffect>
                                  </p:childTnLst>
                                </p:cTn>
                              </p:par>
                              <p:par>
                                <p:cTn id="31" presetID="42" presetClass="entr" presetSubtype="0" fill="hold" grpId="0" nodeType="withEffect">
                                  <p:stCondLst>
                                    <p:cond delay="20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650"/>
                                        <p:tgtEl>
                                          <p:spTgt spid="13"/>
                                        </p:tgtEl>
                                      </p:cBhvr>
                                    </p:animEffect>
                                    <p:anim calcmode="lin" valueType="num">
                                      <p:cBhvr additive="base">
                                        <p:cTn id="34" dur="650" fill="hold" decel="100000"/>
                                        <p:tgtEl>
                                          <p:spTgt spid="13"/>
                                        </p:tgtEl>
                                        <p:attrNameLst>
                                          <p:attrName>ppt_y</p:attrName>
                                        </p:attrNameLst>
                                      </p:cBhvr>
                                      <p:tavLst>
                                        <p:tav tm="0">
                                          <p:val>
                                            <p:strVal val="#ppt_y+0.05"/>
                                          </p:val>
                                        </p:tav>
                                        <p:tav tm="100000">
                                          <p:val>
                                            <p:strVal val="#ppt_y"/>
                                          </p:val>
                                        </p:tav>
                                      </p:tavLst>
                                    </p:anim>
                                  </p:childTnLst>
                                </p:cTn>
                              </p:par>
                            </p:childTnLst>
                          </p:cTn>
                        </p:par>
                        <p:par>
                          <p:cTn id="47" fill="hold">
                            <p:stCondLst>
                              <p:cond delay="3800"/>
                            </p:stCondLst>
                            <p:childTnLst>
                              <p:par>
                                <p:cTn id="36" presetID="42" presetClass="entr" presetSubtype="0" fill="hold" grpId="0" nodeType="afterEffect">
                                  <p:stCondLst>
                                    <p:cond delay="3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650"/>
                                        <p:tgtEl>
                                          <p:spTgt spid="14"/>
                                        </p:tgtEl>
                                      </p:cBhvr>
                                    </p:animEffect>
                                    <p:anim calcmode="lin" valueType="num">
                                      <p:cBhvr additive="base">
                                        <p:cTn id="39" dur="900" fill="hold" decel="100000"/>
                                        <p:tgtEl>
                                          <p:spTgt spid="14"/>
                                        </p:tgtEl>
                                        <p:attrNameLst>
                                          <p:attrName>ppt_y</p:attrName>
                                        </p:attrNameLst>
                                      </p:cBhvr>
                                      <p:tavLst>
                                        <p:tav tm="0">
                                          <p:val>
                                            <p:strVal val="#ppt_y+0.18"/>
                                          </p:val>
                                        </p:tav>
                                        <p:tav tm="100000">
                                          <p:val>
                                            <p:strVal val="#ppt_y"/>
                                          </p:val>
                                        </p:tav>
                                      </p:tavLst>
                                    </p:anim>
                                  </p:childTnLst>
                                </p:cTn>
                              </p:par>
                              <p:par>
                                <p:cTn id="40" presetID="10" presetClass="entr" presetSubtype="0" fill="hold" grpId="0" nodeType="withEffect">
                                  <p:stCondLst>
                                    <p:cond delay="1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50"/>
                                        <p:tgtEl>
                                          <p:spTgt spid="15"/>
                                        </p:tgtEl>
                                      </p:cBhvr>
                                    </p:animEffect>
                                  </p:childTnLst>
                                </p:cTn>
                              </p:par>
                              <p:par>
                                <p:cTn id="43" presetID="42" presetClass="entr" presetSubtype="0" fill="hold" grpId="0" nodeType="withEffect">
                                  <p:stCondLst>
                                    <p:cond delay="20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50"/>
                                        <p:tgtEl>
                                          <p:spTgt spid="16"/>
                                        </p:tgtEl>
                                      </p:cBhvr>
                                    </p:animEffect>
                                    <p:anim calcmode="lin" valueType="num">
                                      <p:cBhvr additive="base">
                                        <p:cTn id="46" dur="650" fill="hold" decel="100000"/>
                                        <p:tgtEl>
                                          <p:spTgt spid="16"/>
                                        </p:tgtEl>
                                        <p:attrNameLst>
                                          <p:attrName>ppt_y</p:attrName>
                                        </p:attrNameLst>
                                      </p:cBhvr>
                                      <p:tavLst>
                                        <p:tav tm="0">
                                          <p:val>
                                            <p:strVal val="#ppt_y+0.05"/>
                                          </p:val>
                                        </p:tav>
                                        <p:tav tm="100000">
                                          <p:val>
                                            <p:strVal val="#ppt_y"/>
                                          </p:val>
                                        </p:tav>
                                      </p:tavLst>
                                    </p:anim>
                                  </p:childTnLst>
                                </p:cTn>
                              </p:par>
                            </p:childTnLst>
                          </p:cTn>
                        </p:par>
                        <p:par>
                          <p:cTn id="51" fill="hold">
                            <p:stCondLst>
                              <p:cond delay="5000"/>
                            </p:stCondLst>
                            <p:childTnLst>
                              <p:par>
                                <p:cTn id="48" presetID="10" presetClass="entr" presetSubtype="0" fill="hold" grpId="0" nodeType="afterEffect">
                                  <p:stCondLst>
                                    <p:cond delay="20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5" grpId="0" animBg="1"/>
      <p:bldP spid="16" grpId="0" animBg="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glow1"/>
          <p:cNvSpPr/>
          <p:nvPr/>
        </p:nvSpPr>
        <p:spPr>
          <a:xfrm>
            <a:off x="6583680" y="-1097280"/>
            <a:ext cx="6400800" cy="6400800"/>
          </a:xfrm>
          <a:prstGeom prst="ellipse">
            <a:avLst/>
          </a:prstGeom>
          <a:solidFill>
            <a:schemeClr val="accent1">
              <a:alpha val="6000"/>
            </a:schemeClr>
          </a:solidFill>
          <a:ln/>
        </p:spPr>
      </p:sp>
      <p:sp>
        <p:nvSpPr>
          <p:cNvPr id="3" name="!!glow2"/>
          <p:cNvSpPr/>
          <p:nvPr/>
        </p:nvSpPr>
        <p:spPr>
          <a:xfrm>
            <a:off x="-1828800" y="4114800"/>
            <a:ext cx="5486400" cy="5486400"/>
          </a:xfrm>
          <a:prstGeom prst="ellipse">
            <a:avLst/>
          </a:prstGeom>
          <a:solidFill>
            <a:schemeClr val="accent2">
              <a:alpha val="4000"/>
            </a:schemeClr>
          </a:solidFill>
          <a:ln/>
        </p:spPr>
      </p:sp>
      <p:sp>
        <p:nvSpPr>
          <p:cNvPr id="4" name="!!frame"/>
          <p:cNvSpPr/>
          <p:nvPr/>
        </p:nvSpPr>
        <p:spPr>
          <a:xfrm>
            <a:off x="7818120" y="411480"/>
            <a:ext cx="3602736" cy="6400800"/>
          </a:xfrm>
          <a:prstGeom prst="roundRect">
            <a:avLst>
              <a:gd name="adj" fmla="val 6345"/>
            </a:avLst>
          </a:prstGeom>
          <a:solidFill>
            <a:schemeClr val="tx2"/>
          </a:solidFill>
          <a:ln w="15875">
            <a:solidFill>
              <a:schemeClr val="accent1">
                <a:alpha val="60000"/>
              </a:schemeClr>
            </a:solidFill>
            <a:prstDash val="solid"/>
          </a:ln>
        </p:spPr>
      </p:sp>
      <p:pic>
        <p:nvPicPr>
          <p:cNvPr id="3" name="Clip 3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891272" y="484632"/>
            <a:ext cx="3456432" cy="6254496"/>
          </a:xfrm>
          <a:prstGeom prst="rect">
            <a:avLst/>
          </a:prstGeom>
        </p:spPr>
      </p:pic>
      <p:pic>
        <p:nvPicPr>
          <p:cNvPr id="6" name="!!nmark" descr="Logo Nexora">    </p:cNvPr>
          <p:cNvPicPr>
            <a:picLocks noChangeAspect="1"/>
          </p:cNvPicPr>
          <p:nvPr/>
        </p:nvPicPr>
        <p:blipFill>
          <a:blip r:embed="rId4"/>
          <a:stretch>
            <a:fillRect/>
          </a:stretch>
        </p:blipFill>
        <p:spPr>
          <a:xfrm>
            <a:off x="548640" y="640080"/>
            <a:ext cx="822960" cy="822960"/>
          </a:xfrm>
          <a:prstGeom prst="rect">
            <a:avLst/>
          </a:prstGeom>
        </p:spPr>
      </p:pic>
      <p:sp>
        <p:nvSpPr>
          <p:cNvPr id="7" name="Kicker"/>
          <p:cNvSpPr txBox="1"/>
          <p:nvPr/>
        </p:nvSpPr>
        <p:spPr>
          <a:xfrm>
            <a:off x="548640" y="1874520"/>
            <a:ext cx="694944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ourier New" pitchFamily="34" charset="0"/>
                <a:ea typeface="Courier New" pitchFamily="34" charset="-122"/>
                <a:cs typeface="Courier New" pitchFamily="34" charset="-120"/>
              </a:rPr>
              <a:t>PROCHAINE ÉTAPE</a:t>
            </a:r>
            <a:endParaRPr lang="en-US" sz="1200" dirty="0"/>
          </a:p>
        </p:txBody>
      </p:sp>
      <p:sp>
        <p:nvSpPr>
          <p:cNvPr id="8" name="Titre"/>
          <p:cNvSpPr txBox="1"/>
          <p:nvPr/>
        </p:nvSpPr>
        <p:spPr>
          <a:xfrm>
            <a:off x="548640" y="2240280"/>
            <a:ext cx="7132320" cy="1188720"/>
          </a:xfrm>
          <a:prstGeom prst="rect">
            <a:avLst/>
          </a:prstGeom>
          <a:noFill/>
          <a:ln/>
        </p:spPr>
        <p:txBody>
          <a:bodyPr wrap="square" lIns="0" tIns="0" rIns="0" bIns="0" rtlCol="0" anchor="ctr"/>
          <a:lstStyle/>
          <a:p>
            <a:pPr indent="0" marL="0">
              <a:buNone/>
            </a:pPr>
            <a:r>
              <a:rPr lang="en-US" sz="5000" dirty="0">
                <a:solidFill>
                  <a:schemeClr val="bg1"/>
                </a:solidFill>
                <a:latin typeface="Arial Black" pitchFamily="34" charset="0"/>
                <a:ea typeface="Arial Black" pitchFamily="34" charset="-122"/>
                <a:cs typeface="Arial Black" pitchFamily="34" charset="-120"/>
              </a:rPr>
              <a:t>Parlons de ton site</a:t>
            </a:r>
            <a:endParaRPr lang="en-US" sz="5000" dirty="0"/>
          </a:p>
        </p:txBody>
      </p:sp>
      <p:sp>
        <p:nvSpPr>
          <p:cNvPr id="9" name="Bouton"/>
          <p:cNvSpPr/>
          <p:nvPr/>
        </p:nvSpPr>
        <p:spPr>
          <a:xfrm>
            <a:off x="548640" y="3611880"/>
            <a:ext cx="3931920" cy="685800"/>
          </a:xfrm>
          <a:prstGeom prst="roundRect">
            <a:avLst>
              <a:gd name="adj" fmla="val 49333"/>
            </a:avLst>
          </a:prstGeom>
          <a:solidFill>
            <a:schemeClr val="accent1"/>
          </a:solidFill>
          <a:ln/>
        </p:spPr>
      </p:sp>
      <p:sp>
        <p:nvSpPr>
          <p:cNvPr id="10" name="Bouton texte"/>
          <p:cNvSpPr txBox="1"/>
          <p:nvPr/>
        </p:nvSpPr>
        <p:spPr>
          <a:xfrm>
            <a:off x="548640" y="3611880"/>
            <a:ext cx="3931920" cy="685800"/>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DEVIS GRATUIT EN MESSAGE</a:t>
            </a:r>
            <a:endParaRPr lang="en-US" sz="1500" dirty="0"/>
          </a:p>
        </p:txBody>
      </p:sp>
      <p:sp>
        <p:nvSpPr>
          <p:cNvPr id="11" name="Contact clé 1"/>
          <p:cNvSpPr txBox="1"/>
          <p:nvPr/>
        </p:nvSpPr>
        <p:spPr>
          <a:xfrm>
            <a:off x="548640" y="4617720"/>
            <a:ext cx="1463040" cy="320040"/>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SITE</a:t>
            </a:r>
            <a:endParaRPr lang="en-US" sz="1200" dirty="0"/>
          </a:p>
        </p:txBody>
      </p:sp>
      <p:sp>
        <p:nvSpPr>
          <p:cNvPr id="12" name="Contact 1"/>
          <p:cNvSpPr txBox="1"/>
          <p:nvPr/>
        </p:nvSpPr>
        <p:spPr>
          <a:xfrm>
            <a:off x="2011680" y="4617720"/>
            <a:ext cx="5303520" cy="32004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nexora-web.fr</a:t>
            </a:r>
            <a:endParaRPr lang="en-US" sz="1600" dirty="0"/>
          </a:p>
        </p:txBody>
      </p:sp>
      <p:sp>
        <p:nvSpPr>
          <p:cNvPr id="13" name="Contact clé 2"/>
          <p:cNvSpPr txBox="1"/>
          <p:nvPr/>
        </p:nvSpPr>
        <p:spPr>
          <a:xfrm>
            <a:off x="548640" y="5074920"/>
            <a:ext cx="1463040" cy="320040"/>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INSTAGRAM</a:t>
            </a:r>
            <a:endParaRPr lang="en-US" sz="1200" dirty="0"/>
          </a:p>
        </p:txBody>
      </p:sp>
      <p:sp>
        <p:nvSpPr>
          <p:cNvPr id="14" name="Contact 2"/>
          <p:cNvSpPr txBox="1"/>
          <p:nvPr/>
        </p:nvSpPr>
        <p:spPr>
          <a:xfrm>
            <a:off x="2011680" y="5074920"/>
            <a:ext cx="5303520" cy="32004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@nexora_web_design</a:t>
            </a:r>
            <a:endParaRPr lang="en-US" sz="1600" dirty="0"/>
          </a:p>
        </p:txBody>
      </p:sp>
      <p:sp>
        <p:nvSpPr>
          <p:cNvPr id="15" name="Contact clé 3"/>
          <p:cNvSpPr txBox="1"/>
          <p:nvPr/>
        </p:nvSpPr>
        <p:spPr>
          <a:xfrm>
            <a:off x="548640" y="5532120"/>
            <a:ext cx="1463040" cy="320040"/>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ZONE</a:t>
            </a:r>
            <a:endParaRPr lang="en-US" sz="1200" dirty="0"/>
          </a:p>
        </p:txBody>
      </p:sp>
      <p:sp>
        <p:nvSpPr>
          <p:cNvPr id="16" name="Contact 3"/>
          <p:cNvSpPr txBox="1"/>
          <p:nvPr/>
        </p:nvSpPr>
        <p:spPr>
          <a:xfrm>
            <a:off x="2011680" y="5532120"/>
            <a:ext cx="5303520" cy="32004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Chambéry, Aix-les-Bains, Savoie (73)</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51" fill="hold">
                      <p:stCondLst>
                        <p:cond delay="indefinite"/>
                        <p:cond evt="onBegin" delay="0">
                          <p:tn val="2"/>
                        </p:cond>
                      </p:stCondLst>
                      <p:childTnLst>
                        <p:par>
                          <p:cTn id="8" fill="hold">
                            <p:stCondLst>
                              <p:cond delay="0"/>
                            </p:stCondLst>
                            <p:childTnLst>
                              <p:par>
                                <p:cTn id="3" presetID="1" presetClass="mediacall" presetSubtype="0" fill="hold" nodeType="withEffect">
                                  <p:stCondLst>
                                    <p:cond delay="0"/>
                                  </p:stCondLst>
                                  <p:childTnLst>
                                    <p:cmd type="call" cmd="playFrom(0.0)">
                                      <p:cBhvr>
                                        <p:cTn id="4" dur="4000" fill="hold"/>
                                        <p:tgtEl>
                                          <p:spTgt spid="3"/>
                                        </p:tgtEl>
                                      </p:cBhvr>
                                    </p:cmd>
                                  </p:childTnLst>
                                </p:cTn>
                              </p:par>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childTnLst>
                                </p:cTn>
                              </p:par>
                            </p:childTnLst>
                          </p:cTn>
                        </p:par>
                        <p:par>
                          <p:cTn id="14" fill="hold">
                            <p:stCondLst>
                              <p:cond delay="650"/>
                            </p:stCondLst>
                            <p:childTnLst>
                              <p:par>
                                <p:cTn id="9" presetID="53" presetClass="entr" presetSubtype="0" fill="hold" grpId="0" nodeType="after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50"/>
                                        <p:tgtEl>
                                          <p:spTgt spid="8"/>
                                        </p:tgtEl>
                                      </p:cBhvr>
                                    </p:animEffect>
                                    <p:anim calcmode="lin" valueType="num">
                                      <p:cBhvr additive="base">
                                        <p:cTn id="12" dur="650" fill="hold" decel="100000"/>
                                        <p:tgtEl>
                                          <p:spTgt spid="8"/>
                                        </p:tgtEl>
                                        <p:attrNameLst>
                                          <p:attrName>ppt_w</p:attrName>
                                        </p:attrNameLst>
                                      </p:cBhvr>
                                      <p:tavLst>
                                        <p:tav tm="0">
                                          <p:val>
                                            <p:strVal val="#ppt_w*0.6"/>
                                          </p:val>
                                        </p:tav>
                                        <p:tav tm="100000">
                                          <p:val>
                                            <p:strVal val="#ppt_w"/>
                                          </p:val>
                                        </p:tav>
                                      </p:tavLst>
                                    </p:anim>
                                    <p:anim calcmode="lin" valueType="num">
                                      <p:cBhvr additive="base">
                                        <p:cTn id="13" dur="650" fill="hold" decel="100000"/>
                                        <p:tgtEl>
                                          <p:spTgt spid="8"/>
                                        </p:tgtEl>
                                        <p:attrNameLst>
                                          <p:attrName>ppt_h</p:attrName>
                                        </p:attrNameLst>
                                      </p:cBhvr>
                                      <p:tavLst>
                                        <p:tav tm="0">
                                          <p:val>
                                            <p:strVal val="#ppt_h*0.6"/>
                                          </p:val>
                                        </p:tav>
                                        <p:tav tm="100000">
                                          <p:val>
                                            <p:strVal val="#ppt_h"/>
                                          </p:val>
                                        </p:tav>
                                      </p:tavLst>
                                    </p:anim>
                                  </p:childTnLst>
                                </p:cTn>
                              </p:par>
                            </p:childTnLst>
                          </p:cTn>
                        </p:par>
                        <p:par>
                          <p:cTn id="23" fill="hold">
                            <p:stCondLst>
                              <p:cond delay="1400"/>
                            </p:stCondLst>
                            <p:childTnLst>
                              <p:par>
                                <p:cTn id="15" presetID="53" presetClass="entr" presetSubtype="0" fill="hold" grpId="0" nodeType="afterEffect">
                                  <p:stCondLst>
                                    <p:cond delay="3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650"/>
                                        <p:tgtEl>
                                          <p:spTgt spid="9"/>
                                        </p:tgtEl>
                                      </p:cBhvr>
                                    </p:animEffect>
                                    <p:anim calcmode="lin" valueType="num">
                                      <p:cBhvr additive="base">
                                        <p:cTn id="18" dur="550" fill="hold"/>
                                        <p:tgtEl>
                                          <p:spTgt spid="9"/>
                                        </p:tgtEl>
                                        <p:attrNameLst>
                                          <p:attrName>ppt_w</p:attrName>
                                        </p:attrNameLst>
                                      </p:cBhvr>
                                      <p:tavLst>
                                        <p:tav tm="0">
                                          <p:val>
                                            <p:strVal val="#ppt_w*0.4"/>
                                          </p:val>
                                        </p:tav>
                                        <p:tav tm="70000">
                                          <p:val>
                                            <p:strVal val="#ppt_w*1.08"/>
                                          </p:val>
                                        </p:tav>
                                        <p:tav tm="100000">
                                          <p:val>
                                            <p:strVal val="#ppt_w"/>
                                          </p:val>
                                        </p:tav>
                                      </p:tavLst>
                                    </p:anim>
                                    <p:anim calcmode="lin" valueType="num">
                                      <p:cBhvr additive="base">
                                        <p:cTn id="19" dur="550" fill="hold"/>
                                        <p:tgtEl>
                                          <p:spTgt spid="9"/>
                                        </p:tgtEl>
                                        <p:attrNameLst>
                                          <p:attrName>ppt_h</p:attrName>
                                        </p:attrNameLst>
                                      </p:cBhvr>
                                      <p:tavLst>
                                        <p:tav tm="0">
                                          <p:val>
                                            <p:strVal val="#ppt_h*0.4"/>
                                          </p:val>
                                        </p:tav>
                                        <p:tav tm="70000">
                                          <p:val>
                                            <p:strVal val="#ppt_h*1.08"/>
                                          </p:val>
                                        </p:tav>
                                        <p:tav tm="100000">
                                          <p:val>
                                            <p:strVal val="#ppt_h"/>
                                          </p:val>
                                        </p:tav>
                                      </p:tavLst>
                                    </p:anim>
                                  </p:childTnLst>
                                </p:cTn>
                              </p:par>
                              <p:par>
                                <p:cTn id="20" presetID="10" presetClass="entr" presetSubtype="0" fill="hold" grpId="0" nodeType="withEffect">
                                  <p:stCondLst>
                                    <p:cond delay="1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50"/>
                                        <p:tgtEl>
                                          <p:spTgt spid="10"/>
                                        </p:tgtEl>
                                      </p:cBhvr>
                                    </p:animEffect>
                                  </p:childTnLst>
                                </p:cTn>
                              </p:par>
                            </p:childTnLst>
                          </p:cTn>
                        </p:par>
                        <p:par>
                          <p:cTn id="32" fill="hold">
                            <p:stCondLst>
                              <p:cond delay="2350"/>
                            </p:stCondLst>
                            <p:childTnLst>
                              <p:par>
                                <p:cTn id="24" presetID="47" presetClass="entr" presetSubtype="0" fill="hold" grpId="0" nodeType="afterEffect">
                                  <p:stCondLst>
                                    <p:cond delay="1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50"/>
                                        <p:tgtEl>
                                          <p:spTgt spid="11"/>
                                        </p:tgtEl>
                                      </p:cBhvr>
                                    </p:animEffect>
                                    <p:anim calcmode="lin" valueType="num">
                                      <p:cBhvr additive="base">
                                        <p:cTn id="27" dur="650" fill="hold" decel="100000"/>
                                        <p:tgtEl>
                                          <p:spTgt spid="11"/>
                                        </p:tgtEl>
                                        <p:attrNameLst>
                                          <p:attrName>ppt_x</p:attrName>
                                        </p:attrNameLst>
                                      </p:cBhvr>
                                      <p:tavLst>
                                        <p:tav tm="0">
                                          <p:val>
                                            <p:strVal val="#ppt_x-0.04"/>
                                          </p:val>
                                        </p:tav>
                                        <p:tav tm="100000">
                                          <p:val>
                                            <p:strVal val="#ppt_x"/>
                                          </p:val>
                                        </p:tav>
                                      </p:tavLst>
                                    </p:anim>
                                  </p:childTnLst>
                                </p:cTn>
                              </p:par>
                              <p:par>
                                <p:cTn id="28" presetID="47" presetClass="entr" presetSubtype="0" fill="hold" grpId="0" nodeType="withEffect">
                                  <p:stCondLst>
                                    <p:cond delay="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50"/>
                                        <p:tgtEl>
                                          <p:spTgt spid="12"/>
                                        </p:tgtEl>
                                      </p:cBhvr>
                                    </p:animEffect>
                                    <p:anim calcmode="lin" valueType="num">
                                      <p:cBhvr additive="base">
                                        <p:cTn id="31" dur="650" fill="hold" decel="100000"/>
                                        <p:tgtEl>
                                          <p:spTgt spid="12"/>
                                        </p:tgtEl>
                                        <p:attrNameLst>
                                          <p:attrName>ppt_x</p:attrName>
                                        </p:attrNameLst>
                                      </p:cBhvr>
                                      <p:tavLst>
                                        <p:tav tm="0">
                                          <p:val>
                                            <p:strVal val="#ppt_x-0.04"/>
                                          </p:val>
                                        </p:tav>
                                        <p:tav tm="100000">
                                          <p:val>
                                            <p:strVal val="#ppt_x"/>
                                          </p:val>
                                        </p:tav>
                                      </p:tavLst>
                                    </p:anim>
                                  </p:childTnLst>
                                </p:cTn>
                              </p:par>
                            </p:childTnLst>
                          </p:cTn>
                        </p:par>
                        <p:par>
                          <p:cTn id="41" fill="hold">
                            <p:stCondLst>
                              <p:cond delay="3150"/>
                            </p:stCondLst>
                            <p:childTnLst>
                              <p:par>
                                <p:cTn id="33" presetID="47" presetClass="entr" presetSubtype="0" fill="hold" grpId="0" nodeType="afterEffect">
                                  <p:stCondLst>
                                    <p:cond delay="1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650"/>
                                        <p:tgtEl>
                                          <p:spTgt spid="13"/>
                                        </p:tgtEl>
                                      </p:cBhvr>
                                    </p:animEffect>
                                    <p:anim calcmode="lin" valueType="num">
                                      <p:cBhvr additive="base">
                                        <p:cTn id="36" dur="650" fill="hold" decel="100000"/>
                                        <p:tgtEl>
                                          <p:spTgt spid="13"/>
                                        </p:tgtEl>
                                        <p:attrNameLst>
                                          <p:attrName>ppt_x</p:attrName>
                                        </p:attrNameLst>
                                      </p:cBhvr>
                                      <p:tavLst>
                                        <p:tav tm="0">
                                          <p:val>
                                            <p:strVal val="#ppt_x-0.04"/>
                                          </p:val>
                                        </p:tav>
                                        <p:tav tm="100000">
                                          <p:val>
                                            <p:strVal val="#ppt_x"/>
                                          </p:val>
                                        </p:tav>
                                      </p:tavLst>
                                    </p:anim>
                                  </p:childTnLst>
                                </p:cTn>
                              </p:par>
                              <p:par>
                                <p:cTn id="37" presetID="47" presetClass="entr" presetSubtype="0" fill="hold" grpId="0" nodeType="withEffect">
                                  <p:stCondLst>
                                    <p:cond delay="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50"/>
                                        <p:tgtEl>
                                          <p:spTgt spid="14"/>
                                        </p:tgtEl>
                                      </p:cBhvr>
                                    </p:animEffect>
                                    <p:anim calcmode="lin" valueType="num">
                                      <p:cBhvr additive="base">
                                        <p:cTn id="40" dur="650" fill="hold" decel="100000"/>
                                        <p:tgtEl>
                                          <p:spTgt spid="14"/>
                                        </p:tgtEl>
                                        <p:attrNameLst>
                                          <p:attrName>ppt_x</p:attrName>
                                        </p:attrNameLst>
                                      </p:cBhvr>
                                      <p:tavLst>
                                        <p:tav tm="0">
                                          <p:val>
                                            <p:strVal val="#ppt_x-0.04"/>
                                          </p:val>
                                        </p:tav>
                                        <p:tav tm="100000">
                                          <p:val>
                                            <p:strVal val="#ppt_x"/>
                                          </p:val>
                                        </p:tav>
                                      </p:tavLst>
                                    </p:anim>
                                  </p:childTnLst>
                                </p:cTn>
                              </p:par>
                            </p:childTnLst>
                          </p:cTn>
                        </p:par>
                        <p:par>
                          <p:cTn id="50" fill="hold">
                            <p:stCondLst>
                              <p:cond delay="3950"/>
                            </p:stCondLst>
                            <p:childTnLst>
                              <p:par>
                                <p:cTn id="42" presetID="47" presetClass="entr" presetSubtype="0" fill="hold" grpId="0" nodeType="afterEffect">
                                  <p:stCondLst>
                                    <p:cond delay="15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650"/>
                                        <p:tgtEl>
                                          <p:spTgt spid="15"/>
                                        </p:tgtEl>
                                      </p:cBhvr>
                                    </p:animEffect>
                                    <p:anim calcmode="lin" valueType="num">
                                      <p:cBhvr additive="base">
                                        <p:cTn id="45" dur="650" fill="hold" decel="100000"/>
                                        <p:tgtEl>
                                          <p:spTgt spid="15"/>
                                        </p:tgtEl>
                                        <p:attrNameLst>
                                          <p:attrName>ppt_x</p:attrName>
                                        </p:attrNameLst>
                                      </p:cBhvr>
                                      <p:tavLst>
                                        <p:tav tm="0">
                                          <p:val>
                                            <p:strVal val="#ppt_x-0.04"/>
                                          </p:val>
                                        </p:tav>
                                        <p:tav tm="100000">
                                          <p:val>
                                            <p:strVal val="#ppt_x"/>
                                          </p:val>
                                        </p:tav>
                                      </p:tavLst>
                                    </p:anim>
                                  </p:childTnLst>
                                </p:cTn>
                              </p:par>
                              <p:par>
                                <p:cTn id="46" presetID="47" presetClass="entr" presetSubtype="0" fill="hold" grpId="0" nodeType="withEffect">
                                  <p:stCondLst>
                                    <p:cond delay="5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650"/>
                                        <p:tgtEl>
                                          <p:spTgt spid="16"/>
                                        </p:tgtEl>
                                      </p:cBhvr>
                                    </p:animEffect>
                                    <p:anim calcmode="lin" valueType="num">
                                      <p:cBhvr additive="base">
                                        <p:cTn id="49" dur="650" fill="hold" decel="100000"/>
                                        <p:tgtEl>
                                          <p:spTgt spid="16"/>
                                        </p:tgtEl>
                                        <p:attrNameLst>
                                          <p:attrName>ppt_x</p:attrName>
                                        </p:attrNameLst>
                                      </p:cBhvr>
                                      <p:tavLst>
                                        <p:tav tm="0">
                                          <p:val>
                                            <p:strVal val="#ppt_x-0.04"/>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52" repeatCount="indefinite" fill="hold" display="0">
                  <p:stCondLst>
                    <p:cond delay="indefinite"/>
                  </p:stCondLst>
                </p:cTn>
                <p:tgtEl>
                  <p:spTgt spid="3"/>
                </p:tgtEl>
              </p:cMediaNode>
            </p:video>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theme/theme1.xml><?xml version="1.0" encoding="utf-8"?>
<a:theme xmlns:a="http://schemas.openxmlformats.org/drawingml/2006/main" name="Nexora">
  <a:themeElements>
    <a:clrScheme name="Nexora">
      <a:dk1>
        <a:srgbClr val="0D1015"/>
      </a:dk1>
      <a:lt1>
        <a:srgbClr val="EDF0F3"/>
      </a:lt1>
      <a:dk2>
        <a:srgbClr val="151A21"/>
      </a:dk2>
      <a:lt2>
        <a:srgbClr val="8E97A3"/>
      </a:lt2>
      <a:accent1>
        <a:srgbClr val="F4B23E"/>
      </a:accent1>
      <a:accent2>
        <a:srgbClr val="A9D6E5"/>
      </a:accent2>
      <a:accent3>
        <a:srgbClr val="1D232C"/>
      </a:accent3>
      <a:accent4>
        <a:srgbClr val="2A313B"/>
      </a:accent4>
      <a:accent5>
        <a:srgbClr val="E5574B"/>
      </a:accent5>
      <a:accent6>
        <a:srgbClr val="C98A10"/>
      </a:accent6>
      <a:hlink>
        <a:srgbClr val="F4B23E"/>
      </a:hlink>
      <a:folHlink>
        <a:srgbClr val="A9D6E5"/>
      </a:folHlink>
    </a:clrScheme>
    <a:fontScheme name="Nexora">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Nexora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Nexora Web</dc:title>
  <dc:subject>PptxGenJS Presentation</dc:subject>
  <dc:creator>Nexora</dc:creator>
  <cp:lastModifiedBy>Nexora</cp:lastModifiedBy>
  <cp:revision>1</cp:revision>
  <dcterms:created xsi:type="dcterms:W3CDTF">2026-10-14T22:09:07Z</dcterms:created>
  <dcterms:modified xsi:type="dcterms:W3CDTF">2026-10-14T22:09:07Z</dcterms:modified>
</cp:coreProperties>
</file>